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3a48f78-97c9-6f73-faf6-5627464f887b}">
          <p14:sldIdLst>
            <p14:sldId id="256"/>
            <p14:sldId id="257"/>
            <p14:sldId id="258"/>
            <p14:sldId id="259"/>
          </p14:sldIdLst>
        </p14:section>
        <p14:section name="Model" id="{46c9c7fc-40ff-c08f-74a9-bbb5e6ab5fc3}">
          <p14:sldIdLst>
            <p14:sldId id="260"/>
            <p14:sldId id="261"/>
            <p14:sldId id="262"/>
            <p14:sldId id="263"/>
          </p14:sldIdLst>
        </p14:section>
        <p14:section name="Results" id="{1d3dac37-955d-f611-d1f5-aa9497c44bba}">
          <p14:sldIdLst>
            <p14:sldId id="264"/>
            <p14:sldId id="265"/>
            <p14:sldId id="266"/>
            <p14:sldId id="267"/>
            <p14:sldId id="268"/>
            <p14:sldId id="269"/>
            <p14:sldId id="270"/>
          </p14:sldIdLst>
        </p14:section>
        <p14:section name="Next steps" id="{56d3b02a-f80f-d046-706a-d461cd78d7e6}">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A"/>
                </a:solidFill>
                <a:latin typeface="+mn-lt"/>
              </a:defRPr>
            </a:pPr>
            <a:r>
              <a:rPr sz="1400" b="0" i="0" u="none" strike="noStrike">
                <a:solidFill>
                  <a:srgbClr val="0B1F3A"/>
                </a:solidFill>
                <a:latin typeface="+mn-lt"/>
              </a:rPr>
              <a:t>Blue payoff against its worst Red opponent (higher is better)</a:t>
            </a:r>
          </a:p>
        </c:rich>
      </c:tx>
      <c:layout/>
      <c:overlay val="0"/>
    </c:title>
    <c:autoTitleDeleted val="0"/>
    <c:plotArea>
      <c:layout/>
      <c:barChart>
        <c:barDir val="bar"/>
        <c:grouping val="clustered"/>
        <c:varyColors val="0"/>
        <c:ser>
          <c:idx val="0"/>
          <c:order val="0"/>
          <c:tx>
            <c:strRef>
              <c:f>Sheet1!$B$1</c:f>
              <c:strCache>
                <c:ptCount val="1"/>
                <c:pt idx="0">
                  <c:v>Blue payoff vs. its worst Red opponent</c:v>
                </c:pt>
              </c:strCache>
            </c:strRef>
          </c:tx>
          <c:spPr>
            <a:solidFill>
              <a:srgbClr val="5E6B7D"/>
            </a:solidFill>
            <a:effectLst/>
          </c:spPr>
          <c:invertIfNegative val="0"/>
          <c:dLbls>
            <c:numFmt formatCode="#,##0" sourceLinked="0"/>
            <c:txPr>
              <a:bodyPr/>
              <a:lstStyle/>
              <a:p>
                <a:pPr>
                  <a:defRPr b="0" i="0" strike="noStrike" sz="1200" u="none">
                    <a:solidFill>
                      <a:srgbClr val="1A2233"/>
                    </a:solidFill>
                    <a:latin typeface="+mn-lt"/>
                  </a:defRPr>
                </a:pPr>
              </a:p>
            </c:txPr>
            <c:showLegendKey val="0"/>
            <c:showVal val="1"/>
            <c:showCatName val="0"/>
            <c:showSerName val="0"/>
            <c:showPercent val="0"/>
            <c:showBubbleSize val="0"/>
            <c:showLeaderLines val="0"/>
          </c:dLbls>
          <c:dPt>
            <c:idx val="0"/>
            <c:invertIfNegative val="0"/>
            <c:bubble3D val="0"/>
            <c:spPr>
              <a:solidFill>
                <a:srgbClr val="5E6B7D"/>
              </a:solidFill>
              <a:effectLst/>
            </c:spPr>
          </c:dPt>
          <c:dPt>
            <c:idx val="1"/>
            <c:invertIfNegative val="0"/>
            <c:bubble3D val="0"/>
            <c:spPr>
              <a:solidFill>
                <a:srgbClr val="5E6B7D"/>
              </a:solidFill>
              <a:effectLst/>
            </c:spPr>
          </c:dPt>
          <c:dPt>
            <c:idx val="2"/>
            <c:invertIfNegative val="0"/>
            <c:bubble3D val="0"/>
            <c:spPr>
              <a:solidFill>
                <a:srgbClr val="5E6B7D"/>
              </a:solidFill>
              <a:effectLst/>
            </c:spPr>
          </c:dPt>
          <c:dPt>
            <c:idx val="3"/>
            <c:invertIfNegative val="0"/>
            <c:bubble3D val="0"/>
            <c:spPr>
              <a:solidFill>
                <a:srgbClr val="1D3E72"/>
              </a:solidFill>
              <a:effectLst/>
            </c:spPr>
          </c:dPt>
          <c:dPt>
            <c:idx val="4"/>
            <c:invertIfNegative val="0"/>
            <c:bubble3D val="0"/>
            <c:spPr>
              <a:solidFill>
                <a:srgbClr val="1D3E72"/>
              </a:solidFill>
              <a:effectLst/>
            </c:spPr>
          </c:dPt>
          <c:dPt>
            <c:idx val="5"/>
            <c:invertIfNegative val="0"/>
            <c:bubble3D val="0"/>
            <c:spPr>
              <a:solidFill>
                <a:srgbClr val="B8901E"/>
              </a:solidFill>
              <a:effectLst/>
            </c:spPr>
          </c:dPt>
          <c:cat>
            <c:multiLvlStrRef>
              <c:f>Sheet1!$A$2:$A$7</c:f>
              <c:multiLvlStrCache>
                <c:ptCount val="6"/>
                <c:lvl>
                  <c:pt idx="0">
                    <c:v>Random moves</c:v>
                  </c:pt>
                  <c:pt idx="1">
                    <c:v>Rule of thumb (rule-based)</c:v>
                  </c:pt>
                  <c:pt idx="2">
                    <c:v>Safety-first plan (maximin)</c:v>
                  </c:pt>
                  <c:pt idx="3">
                    <c:v>Best response (MIP)</c:v>
                  </c:pt>
                  <c:pt idx="4">
                    <c:v>Quick best response (greedy)</c:v>
                  </c:pt>
                  <c:pt idx="5">
                    <c:v>Nash equilibrium plan (equilibrium)</c:v>
                  </c:pt>
                </c:lvl>
              </c:multiLvlStrCache>
            </c:multiLvlStrRef>
          </c:cat>
          <c:val>
            <c:numRef>
              <c:f>Sheet1!$B$2:$B$7</c:f>
              <c:numCache>
                <c:formatCode>General</c:formatCode>
                <c:ptCount val="6"/>
                <c:pt idx="0">
                  <c:v>-319</c:v>
                </c:pt>
                <c:pt idx="1">
                  <c:v>-184</c:v>
                </c:pt>
                <c:pt idx="2">
                  <c:v>-221</c:v>
                </c:pt>
                <c:pt idx="3">
                  <c:v>-144</c:v>
                </c:pt>
                <c:pt idx="4">
                  <c:v>-137</c:v>
                </c:pt>
                <c:pt idx="5">
                  <c:v>-116</c:v>
                </c:pt>
              </c:numCache>
            </c:numRef>
          </c:val>
        </c:ser>
        <c:dLbls>
          <c:numFmt formatCode="#,##0" sourceLinked="0"/>
          <c:txPr>
            <a:bodyPr/>
            <a:lstStyle/>
            <a:p>
              <a:pPr>
                <a:defRPr b="0" i="0" strike="noStrike" sz="1200" u="none">
                  <a:solidFill>
                    <a:srgbClr val="1A22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A2233"/>
                </a:solidFill>
                <a:latin typeface="+mn-lt"/>
              </a:defRPr>
            </a:pPr>
            <a:endParaRPr lang="en-US"/>
          </a:p>
        </c:txPr>
        <c:crossAx val="2094734552"/>
        <c:crosses val="autoZero"/>
        <c:auto val="1"/>
        <c:lblAlgn val="ctr"/>
        <c:noMultiLvlLbl val="1"/>
      </c:catAx>
      <c:valAx>
        <c:axId val="2094734552"/>
        <c:scaling>
          <c:orientation val="minMax"/>
          <c:max val="0"/>
          <c:min val="-350"/>
        </c:scaling>
        <c:delete val="0"/>
        <c:axPos val="b"/>
        <c:majorGridlines>
          <c:spPr>
            <a:ln w="6350" cap="flat">
              <a:solidFill>
                <a:srgbClr val="DDE3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6B7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A"/>
                </a:solidFill>
                <a:latin typeface="+mn-lt"/>
              </a:defRPr>
            </a:pPr>
            <a:r>
              <a:rPr sz="1400" b="0" i="0" u="none" strike="noStrike">
                <a:solidFill>
                  <a:srgbClr val="0B1F3A"/>
                </a:solidFill>
                <a:latin typeface="+mn-lt"/>
              </a:rPr>
              <a:t>Blue payoff by design over weather scenarios</a:t>
            </a:r>
          </a:p>
        </c:rich>
      </c:tx>
      <c:layout/>
      <c:overlay val="0"/>
    </c:title>
    <c:autoTitleDeleted val="0"/>
    <c:plotArea>
      <c:layout/>
      <c:barChart>
        <c:barDir val="col"/>
        <c:grouping val="clustered"/>
        <c:varyColors val="0"/>
        <c:ser>
          <c:idx val="0"/>
          <c:order val="0"/>
          <c:tx>
            <c:strRef>
              <c:f>Sheet1!$B$1</c:f>
              <c:strCache>
                <c:ptCount val="1"/>
                <c:pt idx="0">
                  <c:v>Expected</c:v>
                </c:pt>
              </c:strCache>
            </c:strRef>
          </c:tx>
          <c:spPr>
            <a:solidFill>
              <a:srgbClr val="1D3E72"/>
            </a:solidFill>
            <a:effectLst/>
          </c:spPr>
          <c:invertIfNegative val="0"/>
          <c:dLbls>
            <c:numFmt formatCode="#,##0" sourceLinked="0"/>
            <c:txPr>
              <a:bodyPr/>
              <a:lstStyle/>
              <a:p>
                <a:pPr>
                  <a:defRPr b="0" i="0" strike="noStrike" sz="1100" u="none">
                    <a:solidFill>
                      <a:srgbClr val="1A2233"/>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Sheet1!$B$2:$B$5</c:f>
              <c:numCache>
                <c:formatCode>General</c:formatCode>
                <c:ptCount val="4"/>
                <c:pt idx="0">
                  <c:v>-144</c:v>
                </c:pt>
                <c:pt idx="1">
                  <c:v>-137</c:v>
                </c:pt>
                <c:pt idx="2">
                  <c:v>-162</c:v>
                </c:pt>
                <c:pt idx="3">
                  <c:v>-120</c:v>
                </c:pt>
              </c:numCache>
            </c:numRef>
          </c:val>
        </c:ser>
        <c:ser>
          <c:idx val="1"/>
          <c:order val="1"/>
          <c:tx>
            <c:strRef>
              <c:f>Sheet1!$C$1</c:f>
              <c:strCache>
                <c:ptCount val="1"/>
                <c:pt idx="0">
                  <c:v>Worst case</c:v>
                </c:pt>
              </c:strCache>
            </c:strRef>
          </c:tx>
          <c:spPr>
            <a:solidFill>
              <a:srgbClr val="A97C14"/>
            </a:solidFill>
            <a:effectLst/>
          </c:spPr>
          <c:invertIfNegative val="0"/>
          <c:dLbls>
            <c:numFmt formatCode="#,##0" sourceLinked="0"/>
            <c:txPr>
              <a:bodyPr/>
              <a:lstStyle/>
              <a:p>
                <a:pPr>
                  <a:defRPr b="0" i="0" strike="noStrike" sz="1100" u="none">
                    <a:solidFill>
                      <a:srgbClr val="1A2233"/>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Sheet1!$C$2:$C$5</c:f>
              <c:numCache>
                <c:formatCode>General</c:formatCode>
                <c:ptCount val="4"/>
                <c:pt idx="0">
                  <c:v>-164</c:v>
                </c:pt>
                <c:pt idx="1">
                  <c:v>-153</c:v>
                </c:pt>
                <c:pt idx="2">
                  <c:v>-181</c:v>
                </c:pt>
                <c:pt idx="3">
                  <c:v>-140</c:v>
                </c:pt>
              </c:numCache>
            </c:numRef>
          </c:val>
        </c:ser>
        <c:dLbls>
          <c:numFmt formatCode="#,##0" sourceLinked="0"/>
          <c:txPr>
            <a:bodyPr/>
            <a:lstStyle/>
            <a:p>
              <a:pPr>
                <a:defRPr b="0" i="0" strike="noStrike" sz="1100" u="none">
                  <a:solidFill>
                    <a:srgbClr val="1A22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A2233"/>
                </a:solidFill>
                <a:latin typeface="+mn-lt"/>
              </a:defRPr>
            </a:pPr>
            <a:endParaRPr lang="en-US"/>
          </a:p>
        </c:txPr>
        <c:crossAx val="2094734552"/>
        <c:crosses val="autoZero"/>
        <c:auto val="1"/>
        <c:lblAlgn val="ctr"/>
        <c:noMultiLvlLbl val="1"/>
      </c:catAx>
      <c:valAx>
        <c:axId val="2094734552"/>
        <c:scaling>
          <c:orientation val="minMax"/>
          <c:max val="0"/>
          <c:min val="-20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7D"/>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We study day-to-day U.S.-China competition for control of the waters inside the First Island Chain, below the threshold of war. We built it as a game on a network. Today we cover the model, the prototype, and first results on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Why we built this. China presses its maritime claims below the threshold of war, with coast guard and militia hulls backed by navy ships, and the U.S. answers with presence and freedom-of-navigation patrols. Incidents, not shots, drive escalation (Helmus 2024; Green 2017). That contest is hard to study directly. Each side's best move depends on the other's, the risk of war is shared, and real encounters cannot be rerun. Existing models each capture a piece. Wasser and colleagues built a structured gray-zone game, Shieh and colleagues a randomized patrol model, Washburn network interdiction, and Schelling the idea of escalation as shared risk. We combine allocation, evolving control and shared escalation risk in one general-sum game with computational rules, so we can compare strategies and designs across thousands of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China claims most of the South China Sea and contests the Senkakus, pressing those claims with coast guard and militia hulls backed by navy ships. The U.S. keeps the seas open with destroyers on presence and freedom-of-navigation patrols (Helmus 2024; Green 2017). Squares are home ports, circles are the eight contested zones, grouped North, Center, South. Dashed lines are the extra Philippine port, one of our redesigns. Three things make this a game rather than a single optimization. Control is relative, so my best move depends on yours. Escalation risk is shared, because incidents need both sides present and war costs both. And neither side sees the other's full fleet, only the ships where it also has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Three questions. RQ1 asks this. Each side caps the incident risk it accepts per period. How much control does more risk buy, how much likelier does war become, and what cap does each side pick when the other is picking too? RQ2 asks whether a side that plans with game theory does better than one that follows simple rules, and whether both sides can keep patrolling over many periods because asserting once would end the truce and push both into riskier play from then on. RQ3 comes from Prof. Sapsis's comment. Does the best plan or Blue redesign in normal weather stay best across calm, typhoon and extreme weather scenarios, on average and in the worst scenario? The table maps each piece of Deliverable 1 feedback to what we changed. The main change is that the model is now fully formal, and the proposal's strategy types are a single risk-budget number inside a MIP.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Walk the timeline top to bottom. This is one two-day turn. The weather is drawn first, then both sides move at the same time without seeing each other's full fleet. The box holds all the dynamics. Control moves 30% of the way toward the local force ratio each turn. Incidents need both sides present, and are likelier when someone asserts and when tensions are already high. Payoff is value of zones held minus fuel, tension, and for Blue the running cost of its redesign, zeta-D. War costs both sides 200, so the game is not zero-sum. If asked, every number is our assumption, listed in Table 1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This is the full formulation behind the timeline. The state is ships by type and node, each ship's endurance, the control index of each zone, the escalation level and the sea state of each region. Ships move along edges of the network, with no ships created or lost, and each side gets a fixed number of moves per period. Local strength weights hulls by type and multiplies by 1.5 when a side asserts. Each incident raises the escalation level by one, and a quiet period lowers it by one with probability mu. If it reaches 5, that is war and the game ends. Each side's payoff is its discounted stage payoffs minus 200 at war, paid by both sides, so the game is general-sum.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Two ways to decide. On the left, each turn a player solves a mixed-integer program (MIP) to pick moves, with a cap on expected incidents, epsilon. This answers the feedback that Q1 is a feasible region. In the middle, for equilibrium analysis we shrink each side to 14 templates and solve the 14-by-14 game exactly. On the right are the six policies we compare. All of them see the same random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This is the decision rule behind most of our results, solved with Gurobi every period. The binary y sends each free ship to a node. Because control and incident risk are nonlinear in ship counts, we list every option for each zone, a hull count and a posture, and compute its value and risk in advance. That keeps the program linear. The objective is control value minus incident cost minus fuel. The key constraint is the last one. Expected incidents this period must stay under the risk budget epsilon, which shrinks to zero as the escalation level nears war. Conservative, moderate and aggressive commanders are budgets of 0.05, 0.15 and 0.40. The slack xi only covers risk from ships forced home through occupied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A small example from our own game. Fix where ships go, so each side only chooses patrol or assert. In the table, asserting against a patroller pays a little, but if both assert, both lose more than 11. So the best reply is to do the opposite of the other side. There are two fixes. First, a correlated equilibrium, which a mediator or hotline can implement, never recommends both asserting. Second, in the repeated game, a standing threat (if either side pushes, the truce is off for good and both fall back to the mixed equilibrium) makes mutual patrolling a subgame perfect equilibrium whenever the discount factor is above 0.18. Ours is 0.98.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or a 60 s live demo) This is the prototype. Pick a plan for each side, a design and the weather, then Step or Play. Zone color is who controls it. Letters count ships. Thick outlines mean asserting, an orange ring is an incident, shading is bad weather. Bottom left is the escalation ladder. Level 5 is war. 'Run many games' gives averages. The screenshot is turn 12 of a typhoon-weather game, Nash equilibrium plan against the MIP best response, with rough seas over the Center. The same file runs batch experiments, and a second script reproduces every number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of the prototype. Switch to the GUI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On the left, Blue loosens its risk budget while Red stays moderate. Control rises fast up to about 0.15, then flattens, while war risk keeps rising. On the right, both sides choose a budget. Aggressive is the best reply to anything, for both, so the only equilibrium is aggressive-aggressive, with the highest war rate, 34%. Both would do better at moderate-moderate. Blue gets −144 instead of −151, Red gets 101 instead of 39, and war falls to 20%. That is a prisoner's dilemma. Restraint has to come from repetition or coordination, as in the previous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Each Blue policy plays three Red policies, 200 games each. The bar is Blue's payoff against its worst opponent. The Nash equilibrium plan has the best worst case, and half the war rate of the MIP best response. Best responses do well against weak opponents but escalate. The safety-first plan is cautious but gives up control. Differences under about 20 points are 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Robustness here means two numbers, expected payoff over the four weather scenarios, and worst case. On the left, the policy ranking does not change across weather. The top two plans stay on top. Bad weather slightly helps Blue here, because rough seas weaken Red's coast-guard hulls. On the right, of the three redesigns, de-escalation measures are best on average and in the worst case, and cut war about four times. We gave them no cost yet, and they also help Red, so it is a joint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Be direct about limits. Left is what the runs support. Right is what they do not show. Values are assumptions, policies look one turn ahead, the war rate depends heavily on a few parameters, and the de-escalation result is partly built in. Sensitivity analysis on V, h, W and mu is the first item for Workshop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Workshop 2 plan. First the model. Bayesian beliefs, multi-period best response, sensitivity analysis on V, h, W and mu, calendar-based weather from real data, and a movement budget reformulated with considerations for oilers. Then learning. Does a Red agent that learns from repeated play converge, drift toward restraint, or exploit rule-based Blue? Then attacks and defenses. A coast guard blockade at Scarborough and Second Thomas Shoal, jamming, and false contacts are already coded, and we will add a Red attacker that reacts to Blue's posture and test randomized patrols, D1 and D2 as defenses. Last, the designs and their combinations under attack and a long typhoon, with a cost for D3.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001000" y="1097280"/>
            <a:ext cx="3886200" cy="283464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8001000" y="4343400"/>
            <a:ext cx="3886200" cy="1463040"/>
          </a:xfrm>
          <a:prstGeom prst="rect">
            <a:avLst/>
          </a:prstGeom>
          <a:noFill/>
          <a:ln/>
        </p:spPr>
        <p:txBody>
          <a:bodyPr wrap="square" rtlCol="0"/>
          <a:lstStyle>
            <a:lvl1pPr algn="l" indent="0" marL="0">
              <a:buNone/>
              <a:defRPr lang="en-US" sz="1600" dirty="0">
                <a:solidFill>
                  <a:schemeClr val="accent3"/>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0B1F3A"/>
          </a:solidFill>
          <a:ln/>
        </p:spPr>
      </p:sp>
      <p:sp>
        <p:nvSpPr>
          <p:cNvPr id="3" name="Shape 1"/>
          <p:cNvSpPr/>
          <p:nvPr/>
        </p:nvSpPr>
        <p:spPr>
          <a:xfrm>
            <a:off x="0" y="128016"/>
            <a:ext cx="12191695" cy="36576"/>
          </a:xfrm>
          <a:prstGeom prst="rect">
            <a:avLst/>
          </a:prstGeom>
          <a:solidFill>
            <a:srgbClr val="D4AF37"/>
          </a:solidFill>
          <a:ln/>
        </p:spPr>
      </p:sp>
      <p:sp>
        <p:nvSpPr>
          <p:cNvPr id="4" name="Shape 2"/>
          <p:cNvSpPr/>
          <p:nvPr/>
        </p:nvSpPr>
        <p:spPr>
          <a:xfrm>
            <a:off x="5593385" y="1069848"/>
            <a:ext cx="1005840" cy="45720"/>
          </a:xfrm>
          <a:prstGeom prst="rect">
            <a:avLst/>
          </a:prstGeom>
          <a:solidFill>
            <a:srgbClr val="D4AF37"/>
          </a:solidFill>
          <a:ln/>
        </p:spPr>
      </p:sp>
      <p:sp>
        <p:nvSpPr>
          <p:cNvPr id="5" name="Text 3"/>
          <p:cNvSpPr/>
          <p:nvPr>
            <p:ph idx="103" type="title" hasCustomPrompt="1"/>
          </p:nvPr>
        </p:nvSpPr>
        <p:spPr>
          <a:xfrm>
            <a:off x="548640" y="320040"/>
            <a:ext cx="11064240" cy="73152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4-1.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g1" descr="/Users/seanbowman/Documents/MIT/Fall26/6.s974/repo/slides/assets/title_chafee.jpg">    </p:cNvPr>
          <p:cNvPicPr>
            <a:picLocks noChangeAspect="1"/>
          </p:cNvPicPr>
          <p:nvPr/>
        </p:nvPicPr>
        <p:blipFill>
          <a:blip r:embed="rId1"/>
          <a:stretch>
            <a:fillRect/>
          </a:stretch>
        </p:blipFill>
        <p:spPr>
          <a:xfrm>
            <a:off x="0" y="0"/>
            <a:ext cx="12191695" cy="6858000"/>
          </a:xfrm>
          <a:prstGeom prst="rect">
            <a:avLst/>
          </a:prstGeom>
        </p:spPr>
      </p:pic>
      <p:sp>
        <p:nvSpPr>
          <p:cNvPr id="3" name="gold2"/>
          <p:cNvSpPr/>
          <p:nvPr/>
        </p:nvSpPr>
        <p:spPr>
          <a:xfrm>
            <a:off x="8001000" y="4069080"/>
            <a:ext cx="1463040" cy="64008"/>
          </a:xfrm>
          <a:prstGeom prst="rect">
            <a:avLst/>
          </a:prstGeom>
          <a:solidFill>
            <a:schemeClr val="accent3"/>
          </a:solidFill>
          <a:ln w="12700">
            <a:solidFill>
              <a:schemeClr val="accent3"/>
            </a:solidFill>
            <a:prstDash val="solid"/>
          </a:ln>
        </p:spPr>
      </p:sp>
      <p:sp>
        <p:nvSpPr>
          <p:cNvPr id="4" name="t3"/>
          <p:cNvSpPr txBox="1"/>
          <p:nvPr/>
        </p:nvSpPr>
        <p:spPr>
          <a:xfrm>
            <a:off x="8778240" y="6510528"/>
            <a:ext cx="3200400" cy="228600"/>
          </a:xfrm>
          <a:prstGeom prst="rect">
            <a:avLst/>
          </a:prstGeom>
          <a:noFill/>
          <a:ln/>
        </p:spPr>
        <p:txBody>
          <a:bodyPr wrap="square" lIns="0" tIns="0" rIns="0" bIns="0" rtlCol="0" anchor="ctr"/>
          <a:lstStyle/>
          <a:p>
            <a:pPr algn="r" indent="0" marL="0">
              <a:buNone/>
            </a:pPr>
            <a:r>
              <a:rPr lang="en-US" sz="900" dirty="0">
                <a:solidFill>
                  <a:schemeClr val="bg1"/>
                </a:solidFill>
              </a:rPr>
              <a:t>USS Chafee (DDG 90). U.S. Navy photo</a:t>
            </a:r>
            <a:endParaRPr lang="en-US" sz="900" dirty="0"/>
          </a:p>
        </p:txBody>
      </p:sp>
      <p:sp>
        <p:nvSpPr>
          <p:cNvPr id="5" name="Text 0"/>
          <p:cNvSpPr/>
          <p:nvPr>
            <p:ph idx="100" type="title" hasCustomPrompt="1"/>
          </p:nvPr>
        </p:nvSpPr>
        <p:spPr>
          <a:xfrm>
            <a:off x="8001000" y="1097280"/>
            <a:ext cx="3886200" cy="2834640"/>
          </a:xfrm>
          <a:prstGeom prst="rect">
            <a:avLst/>
          </a:prstGeom>
          <a:noFill/>
          <a:ln/>
        </p:spPr>
        <p:txBody>
          <a:bodyPr wrap="square" rtlCol="0" anchor="b"/>
          <a:lstStyle/>
          <a:p>
            <a:pPr algn="l" indent="0" marL="0">
              <a:buNone/>
            </a:pPr>
            <a:r>
              <a:rPr lang="en-US" sz="3200" b="1" dirty="0">
                <a:solidFill>
                  <a:schemeClr val="bg1"/>
                </a:solidFill>
              </a:rPr>
              <a:t>Gray-Zone Maritime Control in the First Island Chain</a:t>
            </a:r>
            <a:endParaRPr lang="en-US" sz="3200" dirty="0"/>
          </a:p>
        </p:txBody>
      </p:sp>
      <p:sp>
        <p:nvSpPr>
          <p:cNvPr id="6" name="Text 0"/>
          <p:cNvSpPr/>
          <p:nvPr>
            <p:ph idx="101" type="body" hasCustomPrompt="1"/>
          </p:nvPr>
        </p:nvSpPr>
        <p:spPr>
          <a:xfrm>
            <a:off x="8001000" y="4343400"/>
            <a:ext cx="3886200" cy="1463040"/>
          </a:xfrm>
          <a:prstGeom prst="rect">
            <a:avLst/>
          </a:prstGeom>
          <a:noFill/>
          <a:ln/>
        </p:spPr>
        <p:txBody>
          <a:bodyPr wrap="square" rtlCol="0" anchor="t"/>
          <a:lstStyle/>
          <a:p>
            <a:pPr algn="l" indent="0" marL="0">
              <a:buNone/>
            </a:pPr>
            <a:r>
              <a:rPr lang="en-US" sz="1600" dirty="0">
                <a:solidFill>
                  <a:schemeClr val="accent3"/>
                </a:solidFill>
              </a:rPr>
              <a:t>A networked escalation game</a:t>
            </a:r>
            <a:endParaRPr lang="en-US" sz="1600" dirty="0"/>
          </a:p>
          <a:p>
            <a:pPr algn="l" indent="0" marL="0">
              <a:buNone/>
            </a:pPr>
            <a:r>
              <a:rPr lang="en-US" sz="1600" dirty="0">
                <a:solidFill>
                  <a:schemeClr val="accent3"/>
                </a:solidFill>
              </a:rPr>
              <a:t>Workshop 1</a:t>
            </a:r>
            <a:endParaRPr lang="en-US" sz="1600" dirty="0"/>
          </a:p>
          <a:p>
            <a:pPr algn="l" indent="0" marL="0">
              <a:buNone/>
            </a:pPr>
            <a:r>
              <a:rPr lang="en-US" sz="1600" dirty="0">
                <a:solidFill>
                  <a:schemeClr val="accent3"/>
                </a:solidFill>
              </a:rPr>
              <a:t>Sean Bowman, Tate Murphy,</a:t>
            </a:r>
            <a:endParaRPr lang="en-US" sz="1600" dirty="0"/>
          </a:p>
          <a:p>
            <a:pPr algn="l" indent="0" marL="0">
              <a:buNone/>
            </a:pPr>
            <a:r>
              <a:rPr lang="en-US" sz="1600" dirty="0">
                <a:solidFill>
                  <a:schemeClr val="accent3"/>
                </a:solidFill>
              </a:rPr>
              <a:t>Matthew Newell</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Background: why we built this wargame</a:t>
            </a:r>
            <a:endParaRPr lang="en-US" sz="2800" dirty="0"/>
          </a:p>
        </p:txBody>
      </p:sp>
      <p:sp>
        <p:nvSpPr>
          <p:cNvPr id="3" name="wb4"/>
          <p:cNvSpPr/>
          <p:nvPr/>
        </p:nvSpPr>
        <p:spPr>
          <a:xfrm>
            <a:off x="548640" y="1325880"/>
            <a:ext cx="2560320" cy="73152"/>
          </a:xfrm>
          <a:prstGeom prst="rect">
            <a:avLst/>
          </a:prstGeom>
          <a:solidFill>
            <a:schemeClr val="accent1"/>
          </a:solidFill>
          <a:ln w="12700">
            <a:solidFill>
              <a:schemeClr val="accent1"/>
            </a:solidFill>
            <a:prstDash val="solid"/>
          </a:ln>
        </p:spPr>
      </p:sp>
      <p:sp>
        <p:nvSpPr>
          <p:cNvPr id="4" name="t5"/>
          <p:cNvSpPr txBox="1"/>
          <p:nvPr/>
        </p:nvSpPr>
        <p:spPr>
          <a:xfrm>
            <a:off x="548640" y="150876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The competition</a:t>
            </a:r>
            <a:endParaRPr lang="en-US" sz="1800" dirty="0"/>
          </a:p>
        </p:txBody>
      </p:sp>
      <p:sp>
        <p:nvSpPr>
          <p:cNvPr id="5" name="t6"/>
          <p:cNvSpPr txBox="1"/>
          <p:nvPr/>
        </p:nvSpPr>
        <p:spPr>
          <a:xfrm>
            <a:off x="548640" y="2011680"/>
            <a:ext cx="2560320" cy="3383280"/>
          </a:xfrm>
          <a:prstGeom prst="rect">
            <a:avLst/>
          </a:prstGeom>
          <a:noFill/>
          <a:ln/>
        </p:spPr>
        <p:txBody>
          <a:bodyPr wrap="square" lIns="0" tIns="0" rIns="0" bIns="0" rtlCol="0" anchor="t"/>
          <a:lstStyle/>
          <a:p>
            <a:pPr indent="0" marL="0">
              <a:buNone/>
            </a:pPr>
            <a:r>
              <a:rPr lang="en-US" sz="1500" dirty="0">
                <a:solidFill>
                  <a:schemeClr val="tx1"/>
                </a:solidFill>
              </a:rPr>
              <a:t>China presses its claims with persistent coast guard and militia presence backed by navy ships, while avoiding a conventional military response. The U.S. answers with routine presence and freedom-of-navigation patrols. Incidents, not shots, drive escalation.</a:t>
            </a:r>
            <a:endParaRPr lang="en-US" sz="1500" dirty="0"/>
          </a:p>
        </p:txBody>
      </p:sp>
      <p:sp>
        <p:nvSpPr>
          <p:cNvPr id="6" name="wb7"/>
          <p:cNvSpPr/>
          <p:nvPr/>
        </p:nvSpPr>
        <p:spPr>
          <a:xfrm>
            <a:off x="3337560" y="1325880"/>
            <a:ext cx="2560320" cy="73152"/>
          </a:xfrm>
          <a:prstGeom prst="rect">
            <a:avLst/>
          </a:prstGeom>
          <a:solidFill>
            <a:schemeClr val="accent1"/>
          </a:solidFill>
          <a:ln w="12700">
            <a:solidFill>
              <a:schemeClr val="accent1"/>
            </a:solidFill>
            <a:prstDash val="solid"/>
          </a:ln>
        </p:spPr>
      </p:sp>
      <p:sp>
        <p:nvSpPr>
          <p:cNvPr id="7" name="t8"/>
          <p:cNvSpPr txBox="1"/>
          <p:nvPr/>
        </p:nvSpPr>
        <p:spPr>
          <a:xfrm>
            <a:off x="3337560" y="150876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Why it is hard to study</a:t>
            </a:r>
            <a:endParaRPr lang="en-US" sz="1800" dirty="0"/>
          </a:p>
        </p:txBody>
      </p:sp>
      <p:sp>
        <p:nvSpPr>
          <p:cNvPr id="8" name="t9"/>
          <p:cNvSpPr txBox="1"/>
          <p:nvPr/>
        </p:nvSpPr>
        <p:spPr>
          <a:xfrm>
            <a:off x="3337560" y="2011680"/>
            <a:ext cx="2560320" cy="3383280"/>
          </a:xfrm>
          <a:prstGeom prst="rect">
            <a:avLst/>
          </a:prstGeom>
          <a:noFill/>
          <a:ln/>
        </p:spPr>
        <p:txBody>
          <a:bodyPr wrap="square" lIns="0" tIns="0" rIns="0" bIns="0" rtlCol="0" anchor="t"/>
          <a:lstStyle/>
          <a:p>
            <a:pPr indent="0" marL="0">
              <a:buNone/>
            </a:pPr>
            <a:r>
              <a:rPr lang="en-US" sz="1500" dirty="0">
                <a:solidFill>
                  <a:schemeClr val="tx1"/>
                </a:solidFill>
              </a:rPr>
              <a:t>Each side's best move depends on the other's, and the risk of war is shared. Real encounters cannot be rerun or varied on purpose. A wargame lets us test strategies and force designs without real risk.</a:t>
            </a:r>
            <a:endParaRPr lang="en-US" sz="1500" dirty="0"/>
          </a:p>
        </p:txBody>
      </p:sp>
      <p:sp>
        <p:nvSpPr>
          <p:cNvPr id="9" name="wb10"/>
          <p:cNvSpPr/>
          <p:nvPr/>
        </p:nvSpPr>
        <p:spPr>
          <a:xfrm>
            <a:off x="6126480" y="1325880"/>
            <a:ext cx="2560320" cy="73152"/>
          </a:xfrm>
          <a:prstGeom prst="rect">
            <a:avLst/>
          </a:prstGeom>
          <a:solidFill>
            <a:schemeClr val="accent1"/>
          </a:solidFill>
          <a:ln w="12700">
            <a:solidFill>
              <a:schemeClr val="accent1"/>
            </a:solidFill>
            <a:prstDash val="solid"/>
          </a:ln>
        </p:spPr>
      </p:sp>
      <p:sp>
        <p:nvSpPr>
          <p:cNvPr id="10" name="t11"/>
          <p:cNvSpPr txBox="1"/>
          <p:nvPr/>
        </p:nvSpPr>
        <p:spPr>
          <a:xfrm>
            <a:off x="6126480" y="150876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What models exist</a:t>
            </a:r>
            <a:endParaRPr lang="en-US" sz="1800" dirty="0"/>
          </a:p>
        </p:txBody>
      </p:sp>
      <p:sp>
        <p:nvSpPr>
          <p:cNvPr id="11" name="t12"/>
          <p:cNvSpPr txBox="1"/>
          <p:nvPr/>
        </p:nvSpPr>
        <p:spPr>
          <a:xfrm>
            <a:off x="6126480" y="2011680"/>
            <a:ext cx="2560320" cy="3383280"/>
          </a:xfrm>
          <a:prstGeom prst="rect">
            <a:avLst/>
          </a:prstGeom>
          <a:noFill/>
          <a:ln/>
        </p:spPr>
        <p:txBody>
          <a:bodyPr wrap="square" lIns="0" tIns="0" rIns="0" bIns="0" rtlCol="0" anchor="t"/>
          <a:lstStyle/>
          <a:p>
            <a:pPr indent="0" marL="0">
              <a:buNone/>
            </a:pPr>
            <a:r>
              <a:rPr lang="en-US" sz="1500" dirty="0">
                <a:solidFill>
                  <a:schemeClr val="tx1"/>
                </a:solidFill>
              </a:rPr>
              <a:t>A structured gray-zone game with probabilistic adjudication (Wasser 2019). Randomized Coast Guard patrols (Shieh 2012). Zero-sum network interdiction (Washburn 1995). Escalation as a shared risk (Schelling 1966).</a:t>
            </a:r>
            <a:endParaRPr lang="en-US" sz="1500" dirty="0"/>
          </a:p>
        </p:txBody>
      </p:sp>
      <p:sp>
        <p:nvSpPr>
          <p:cNvPr id="12" name="wb13"/>
          <p:cNvSpPr/>
          <p:nvPr/>
        </p:nvSpPr>
        <p:spPr>
          <a:xfrm>
            <a:off x="8915400" y="1325880"/>
            <a:ext cx="2560320" cy="73152"/>
          </a:xfrm>
          <a:prstGeom prst="rect">
            <a:avLst/>
          </a:prstGeom>
          <a:solidFill>
            <a:schemeClr val="accent2"/>
          </a:solidFill>
          <a:ln w="12700">
            <a:solidFill>
              <a:schemeClr val="accent2"/>
            </a:solidFill>
            <a:prstDash val="solid"/>
          </a:ln>
        </p:spPr>
      </p:sp>
      <p:sp>
        <p:nvSpPr>
          <p:cNvPr id="13" name="t14"/>
          <p:cNvSpPr txBox="1"/>
          <p:nvPr/>
        </p:nvSpPr>
        <p:spPr>
          <a:xfrm>
            <a:off x="8915400" y="150876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What we add</a:t>
            </a:r>
            <a:endParaRPr lang="en-US" sz="1800" dirty="0"/>
          </a:p>
        </p:txBody>
      </p:sp>
      <p:sp>
        <p:nvSpPr>
          <p:cNvPr id="14" name="t15"/>
          <p:cNvSpPr txBox="1"/>
          <p:nvPr/>
        </p:nvSpPr>
        <p:spPr>
          <a:xfrm>
            <a:off x="8915400" y="2011680"/>
            <a:ext cx="2560320" cy="3383280"/>
          </a:xfrm>
          <a:prstGeom prst="rect">
            <a:avLst/>
          </a:prstGeom>
          <a:noFill/>
          <a:ln/>
        </p:spPr>
        <p:txBody>
          <a:bodyPr wrap="square" lIns="0" tIns="0" rIns="0" bIns="0" rtlCol="0" anchor="t"/>
          <a:lstStyle/>
          <a:p>
            <a:pPr indent="0" marL="0">
              <a:buNone/>
            </a:pPr>
            <a:r>
              <a:rPr lang="en-US" sz="1500" dirty="0">
                <a:solidFill>
                  <a:schemeClr val="tx1"/>
                </a:solidFill>
              </a:rPr>
              <a:t>Maritime allocation, evolving control and shared escalation risk in one general-sum game. The rules are computational, so we can compare strategies and designs across thousands of games.</a:t>
            </a:r>
            <a:endParaRPr lang="en-US" sz="1500" dirty="0"/>
          </a:p>
        </p:txBody>
      </p:sp>
      <p:sp>
        <p:nvSpPr>
          <p:cNvPr id="15" name="tk16"/>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6" name="t17"/>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Each existing model captures part of this contest. Our game combines them and runs thousands of times.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problem: control without war</a:t>
            </a:r>
            <a:endParaRPr lang="en-US" sz="2800" dirty="0"/>
          </a:p>
        </p:txBody>
      </p:sp>
      <p:pic>
        <p:nvPicPr>
          <p:cNvPr id="3" name="img18" descr="/Users/seanbowman/Documents/MIT/Fall26/6.s974/repo/slides/../prototype/results/figures/network.png">    </p:cNvPr>
          <p:cNvPicPr>
            <a:picLocks noChangeAspect="1"/>
          </p:cNvPicPr>
          <p:nvPr/>
        </p:nvPicPr>
        <p:blipFill>
          <a:blip r:embed="rId1"/>
          <a:stretch>
            <a:fillRect/>
          </a:stretch>
        </p:blipFill>
        <p:spPr>
          <a:xfrm>
            <a:off x="548640" y="1234440"/>
            <a:ext cx="4480560" cy="3959352"/>
          </a:xfrm>
          <a:prstGeom prst="rect">
            <a:avLst/>
          </a:prstGeom>
        </p:spPr>
      </p:pic>
      <p:sp>
        <p:nvSpPr>
          <p:cNvPr id="4" name="t19"/>
          <p:cNvSpPr txBox="1"/>
          <p:nvPr/>
        </p:nvSpPr>
        <p:spPr>
          <a:xfrm>
            <a:off x="548640" y="5257800"/>
            <a:ext cx="4480560" cy="274320"/>
          </a:xfrm>
          <a:prstGeom prst="rect">
            <a:avLst/>
          </a:prstGeom>
          <a:noFill/>
          <a:ln/>
        </p:spPr>
        <p:txBody>
          <a:bodyPr wrap="square" lIns="0" tIns="0" rIns="0" bIns="0" rtlCol="0" anchor="ctr"/>
          <a:lstStyle/>
          <a:p>
            <a:pPr indent="0" marL="0">
              <a:buNone/>
            </a:pPr>
            <a:r>
              <a:rPr lang="en-US" sz="1200" i="1" dirty="0">
                <a:solidFill>
                  <a:schemeClr val="accent5"/>
                </a:solidFill>
              </a:rPr>
              <a:t>Network of 8 contested zones and 4 home ports</a:t>
            </a:r>
            <a:endParaRPr lang="en-US" sz="1200" dirty="0"/>
          </a:p>
        </p:txBody>
      </p:sp>
      <p:sp>
        <p:nvSpPr>
          <p:cNvPr id="5" name="t20"/>
          <p:cNvSpPr txBox="1"/>
          <p:nvPr/>
        </p:nvSpPr>
        <p:spPr>
          <a:xfrm>
            <a:off x="5486400" y="1325880"/>
            <a:ext cx="6126480" cy="4206240"/>
          </a:xfrm>
          <a:prstGeom prst="rect">
            <a:avLst/>
          </a:prstGeom>
          <a:noFill/>
          <a:ln/>
        </p:spPr>
        <p:txBody>
          <a:bodyPr wrap="square" lIns="0" tIns="0" rIns="0" bIns="0" rtlCol="0" anchor="t"/>
          <a:lstStyle/>
          <a:p>
            <a:pPr marL="342900" indent="-342900">
              <a:spcAft>
                <a:spcPts val="600"/>
              </a:spcAft>
              <a:buSzPct val="100000"/>
              <a:buChar char="•"/>
            </a:pPr>
            <a:r>
              <a:rPr lang="en-US" sz="1800" b="1" dirty="0">
                <a:solidFill>
                  <a:schemeClr val="accent1"/>
                </a:solidFill>
              </a:rPr>
              <a:t>Players. </a:t>
            </a:r>
            <a:pPr indent="0" marL="0">
              <a:buNone/>
            </a:pPr>
            <a:r>
              <a:rPr lang="en-US" sz="1800" dirty="0">
                <a:solidFill>
                  <a:schemeClr val="tx1"/>
                </a:solidFill>
              </a:rPr>
              <a:t>Blue: 10 U.S. destroyers (DDG). Red: 8 navy ships (PLAN) + 6 coast guard / militia hulls (CCG).</a:t>
            </a:r>
            <a:endParaRPr lang="en-US" sz="1800" dirty="0"/>
          </a:p>
          <a:p>
            <a:pPr marL="342900" indent="-342900">
              <a:spcAft>
                <a:spcPts val="600"/>
              </a:spcAft>
              <a:buSzPct val="100000"/>
              <a:buChar char="•"/>
            </a:pPr>
            <a:r>
              <a:rPr lang="en-US" sz="1800" b="1" dirty="0">
                <a:solidFill>
                  <a:schemeClr val="tx1"/>
                </a:solidFill>
              </a:rPr>
              <a:t>Each period (2 days). </a:t>
            </a:r>
            <a:pPr indent="0" marL="0">
              <a:buNone/>
            </a:pPr>
            <a:r>
              <a:rPr lang="en-US" sz="1800" dirty="0">
                <a:solidFill>
                  <a:schemeClr val="tx1"/>
                </a:solidFill>
              </a:rPr>
              <a:t>Each side chooses where its ships go and whether to patrol (P) or assert (A). Asserting means shadowing, close maneuvering, or querying and warning. For the U.S. it also covers freedom-of-navigation operations.</a:t>
            </a:r>
            <a:endParaRPr lang="en-US" sz="1800" dirty="0"/>
          </a:p>
          <a:p>
            <a:pPr marL="342900" indent="-342900">
              <a:spcAft>
                <a:spcPts val="600"/>
              </a:spcAft>
              <a:buSzPct val="100000"/>
              <a:buChar char="•"/>
            </a:pPr>
            <a:r>
              <a:rPr lang="en-US" sz="1800" b="1" dirty="0">
                <a:solidFill>
                  <a:schemeClr val="tx1"/>
                </a:solidFill>
              </a:rPr>
              <a:t>Control </a:t>
            </a:r>
            <a:pPr indent="0" marL="0">
              <a:buNone/>
            </a:pPr>
            <a:r>
              <a:rPr lang="en-US" sz="1800" dirty="0">
                <a:solidFill>
                  <a:schemeClr val="tx1"/>
                </a:solidFill>
              </a:rPr>
              <a:t>of a zone follows the local force ratio, so each side's best move depends on the other's.</a:t>
            </a:r>
            <a:endParaRPr lang="en-US" sz="1800" dirty="0"/>
          </a:p>
          <a:p>
            <a:pPr marL="342900" indent="-342900">
              <a:spcAft>
                <a:spcPts val="600"/>
              </a:spcAft>
              <a:buSzPct val="100000"/>
              <a:buChar char="•"/>
            </a:pPr>
            <a:r>
              <a:rPr lang="en-US" sz="1800" b="1" dirty="0">
                <a:solidFill>
                  <a:schemeClr val="accent2"/>
                </a:solidFill>
              </a:rPr>
              <a:t>Incidents </a:t>
            </a:r>
            <a:pPr indent="0" marL="0">
              <a:buNone/>
            </a:pPr>
            <a:r>
              <a:rPr lang="en-US" sz="1800" dirty="0">
                <a:solidFill>
                  <a:schemeClr val="tx1"/>
                </a:solidFill>
              </a:rPr>
              <a:t>can happen when both sides are present, and are likelier if someone asserts. Incidents raise an escalation level. At the top is war, which costs both sides.</a:t>
            </a:r>
            <a:endParaRPr lang="en-US" sz="1800" dirty="0"/>
          </a:p>
          <a:p>
            <a:pPr marL="342900" indent="-342900">
              <a:spcAft>
                <a:spcPts val="600"/>
              </a:spcAft>
              <a:buSzPct val="100000"/>
              <a:buChar char="•"/>
            </a:pPr>
            <a:r>
              <a:rPr lang="en-US" sz="1800" b="1" dirty="0">
                <a:solidFill>
                  <a:schemeClr val="tx1"/>
                </a:solidFill>
              </a:rPr>
              <a:t>Fog. </a:t>
            </a:r>
            <a:pPr indent="0" marL="0">
              <a:buNone/>
            </a:pPr>
            <a:r>
              <a:rPr lang="en-US" sz="1800" dirty="0">
                <a:solidFill>
                  <a:schemeClr val="tx1"/>
                </a:solidFill>
              </a:rPr>
              <a:t>Neither side sees the other's entire fleet disposition, only forces present where they also maintain forces. Storms can close zones.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Research questions and what changed since the proposal</a:t>
            </a:r>
            <a:endParaRPr lang="en-US" sz="2800" dirty="0"/>
          </a:p>
        </p:txBody>
      </p:sp>
      <p:sp>
        <p:nvSpPr>
          <p:cNvPr id="3" name="c21"/>
          <p:cNvSpPr/>
          <p:nvPr/>
        </p:nvSpPr>
        <p:spPr>
          <a:xfrm>
            <a:off x="548640" y="1325880"/>
            <a:ext cx="731520" cy="731520"/>
          </a:xfrm>
          <a:prstGeom prst="ellipse">
            <a:avLst/>
          </a:prstGeom>
          <a:solidFill>
            <a:schemeClr val="accent1"/>
          </a:solidFill>
          <a:ln/>
        </p:spPr>
      </p:sp>
      <p:sp>
        <p:nvSpPr>
          <p:cNvPr id="4" name="t22"/>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RQ1</a:t>
            </a:r>
            <a:endParaRPr lang="en-US" sz="1600" dirty="0"/>
          </a:p>
        </p:txBody>
      </p:sp>
      <p:sp>
        <p:nvSpPr>
          <p:cNvPr id="5" name="t23"/>
          <p:cNvSpPr txBox="1"/>
          <p:nvPr/>
        </p:nvSpPr>
        <p:spPr>
          <a:xfrm>
            <a:off x="1463040" y="123444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Control vs. war risk</a:t>
            </a:r>
            <a:endParaRPr lang="en-US" sz="1600" dirty="0"/>
          </a:p>
          <a:p>
            <a:pPr indent="0" marL="0">
              <a:buNone/>
            </a:pPr>
            <a:r>
              <a:rPr lang="en-US" sz="1300" dirty="0">
                <a:solidFill>
                  <a:schemeClr val="tx1"/>
                </a:solidFill>
              </a:rPr>
              <a:t>Each side caps how much incident risk it will accept each period (its risk budget ε). How much more control does a side gain by accepting more risk, how much more likely does war become, and what risk level does each side pick when it knows the other side is picking too?</a:t>
            </a:r>
            <a:endParaRPr lang="en-US" sz="1600" dirty="0"/>
          </a:p>
        </p:txBody>
      </p:sp>
      <p:sp>
        <p:nvSpPr>
          <p:cNvPr id="6" name="c24"/>
          <p:cNvSpPr/>
          <p:nvPr/>
        </p:nvSpPr>
        <p:spPr>
          <a:xfrm>
            <a:off x="548640" y="2788920"/>
            <a:ext cx="731520" cy="731520"/>
          </a:xfrm>
          <a:prstGeom prst="ellipse">
            <a:avLst/>
          </a:prstGeom>
          <a:solidFill>
            <a:schemeClr val="accent1"/>
          </a:solidFill>
          <a:ln/>
        </p:spPr>
      </p:sp>
      <p:sp>
        <p:nvSpPr>
          <p:cNvPr id="7" name="t25"/>
          <p:cNvSpPr txBox="1"/>
          <p:nvPr/>
        </p:nvSpPr>
        <p:spPr>
          <a:xfrm>
            <a:off x="548640" y="27889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RQ2</a:t>
            </a:r>
            <a:endParaRPr lang="en-US" sz="1600" dirty="0"/>
          </a:p>
        </p:txBody>
      </p:sp>
      <p:sp>
        <p:nvSpPr>
          <p:cNvPr id="8" name="t26"/>
          <p:cNvSpPr txBox="1"/>
          <p:nvPr/>
        </p:nvSpPr>
        <p:spPr>
          <a:xfrm>
            <a:off x="1463040" y="269748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Game theory vs. rules of thumb</a:t>
            </a:r>
            <a:endParaRPr lang="en-US" sz="1600" dirty="0"/>
          </a:p>
          <a:p>
            <a:pPr indent="0" marL="0">
              <a:buNone/>
            </a:pPr>
            <a:r>
              <a:rPr lang="en-US" sz="1300" dirty="0">
                <a:solidFill>
                  <a:schemeClr val="tx1"/>
                </a:solidFill>
              </a:rPr>
              <a:t>Does a side that plans with game theory (best responses, equilibrium or maximin plans) do better than one that follows simple rules or moves at random? Can both sides keep patrolling over many periods because asserting once would end the truce and push both into riskier play from then on?</a:t>
            </a:r>
            <a:endParaRPr lang="en-US" sz="1600" dirty="0"/>
          </a:p>
        </p:txBody>
      </p:sp>
      <p:sp>
        <p:nvSpPr>
          <p:cNvPr id="9" name="c27"/>
          <p:cNvSpPr/>
          <p:nvPr/>
        </p:nvSpPr>
        <p:spPr>
          <a:xfrm>
            <a:off x="548640" y="4251960"/>
            <a:ext cx="731520" cy="731520"/>
          </a:xfrm>
          <a:prstGeom prst="ellipse">
            <a:avLst/>
          </a:prstGeom>
          <a:solidFill>
            <a:schemeClr val="accent1"/>
          </a:solidFill>
          <a:ln/>
        </p:spPr>
      </p:sp>
      <p:sp>
        <p:nvSpPr>
          <p:cNvPr id="10" name="t28"/>
          <p:cNvSpPr txBox="1"/>
          <p:nvPr/>
        </p:nvSpPr>
        <p:spPr>
          <a:xfrm>
            <a:off x="548640" y="425196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RQ3</a:t>
            </a:r>
            <a:endParaRPr lang="en-US" sz="1600" dirty="0"/>
          </a:p>
        </p:txBody>
      </p:sp>
      <p:sp>
        <p:nvSpPr>
          <p:cNvPr id="11" name="t29"/>
          <p:cNvSpPr txBox="1"/>
          <p:nvPr/>
        </p:nvSpPr>
        <p:spPr>
          <a:xfrm>
            <a:off x="1463040" y="416052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Weather and redesign</a:t>
            </a:r>
            <a:endParaRPr lang="en-US" sz="1600" dirty="0"/>
          </a:p>
          <a:p>
            <a:pPr indent="0" marL="0">
              <a:buNone/>
            </a:pPr>
            <a:r>
              <a:rPr lang="en-US" sz="1300" dirty="0">
                <a:solidFill>
                  <a:schemeClr val="tx1"/>
                </a:solidFill>
              </a:rPr>
              <a:t>Does the plan or Blue redesign that works best in normal weather still work best across calm, typhoon and extreme weather scenarios, both on average and in the worst scenario?</a:t>
            </a:r>
            <a:endParaRPr lang="en-US" sz="1600" dirty="0"/>
          </a:p>
        </p:txBody>
      </p:sp>
      <p:graphicFrame>
        <p:nvGraphicFramePr>
          <p:cNvPr id="5" name="fbtable"/>
          <p:cNvGraphicFramePr>
            <a:graphicFrameLocks noGrp="1"/>
          </p:cNvGraphicFramePr>
          <p:nvPr>
            <p:extLst>
              <p:ext uri="{D42A27DB-BD31-4B8C-83A1-F6EECF244321}">
                <p14:modId xmlns:p14="http://schemas.microsoft.com/office/powerpoint/2010/main" val="1579011935"/>
              </p:ext>
            </p:extLst>
          </p:nvPr>
        </p:nvGraphicFramePr>
        <p:xfrm>
          <a:off x="6400800" y="1325880"/>
          <a:ext cx="5212080" cy="914400"/>
        </p:xfrm>
        <a:graphic>
          <a:graphicData uri="http://schemas.openxmlformats.org/drawingml/2006/table">
            <a:tbl>
              <a:tblPr/>
              <a:tblGrid>
                <a:gridCol w="1828800"/>
                <a:gridCol w="3383280"/>
              </a:tblGrid>
              <a:tr h="512064">
                <a:tc>
                  <a:txBody>
                    <a:bodyPr/>
                    <a:lstStyle/>
                    <a:p>
                      <a:pPr indent="0" marL="0">
                        <a:buNone/>
                      </a:pPr>
                      <a:r>
                        <a:rPr lang="en-US" sz="1200" b="1" dirty="0">
                          <a:solidFill>
                            <a:schemeClr val="bg1"/>
                          </a:solidFill>
                        </a:rPr>
                        <a:t>Feedback</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we did</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r>
              <a:tr h="512064">
                <a:tc>
                  <a:txBody>
                    <a:bodyPr/>
                    <a:lstStyle/>
                    <a:p>
                      <a:pPr indent="0" marL="0">
                        <a:buNone/>
                      </a:pPr>
                      <a:r>
                        <a:rPr lang="en-US" sz="1200" dirty="0">
                          <a:solidFill>
                            <a:schemeClr val="tx1"/>
                          </a:solidFill>
                        </a:rPr>
                        <a:t>Model too high level</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Formal game on a graph</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Q1 is a feasible region, use a MIP</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Best response is an exact MIP. Commander types become risk budgets ε</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More ambitious questions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Budget-game equilibrium (RQ1), equilibrium play (RQ2), robustness and redesign (RQ3)</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Define the resilient redesign</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Three Blue designs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Propose values for missing data</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Assumed values, listed in the report</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Show preliminary results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Analytical results, plus 77 setups × 200 simulated games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Add weather (Prof. Sapsis)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Weather scenarios, scored by expected and worst-case payoff</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game, one period at a time</a:t>
            </a:r>
            <a:endParaRPr lang="en-US" sz="2800" dirty="0"/>
          </a:p>
        </p:txBody>
      </p:sp>
      <p:sp>
        <p:nvSpPr>
          <p:cNvPr id="3" name="st31"/>
          <p:cNvSpPr/>
          <p:nvPr/>
        </p:nvSpPr>
        <p:spPr>
          <a:xfrm>
            <a:off x="548640" y="1280160"/>
            <a:ext cx="457200" cy="457200"/>
          </a:xfrm>
          <a:prstGeom prst="ellipse">
            <a:avLst/>
          </a:prstGeom>
          <a:solidFill>
            <a:schemeClr val="accent4"/>
          </a:solidFill>
          <a:ln/>
        </p:spPr>
      </p:sp>
      <p:sp>
        <p:nvSpPr>
          <p:cNvPr id="4" name="t32"/>
          <p:cNvSpPr txBox="1"/>
          <p:nvPr/>
        </p:nvSpPr>
        <p:spPr>
          <a:xfrm>
            <a:off x="548640" y="12801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33"/>
          <p:cNvSpPr txBox="1"/>
          <p:nvPr/>
        </p:nvSpPr>
        <p:spPr>
          <a:xfrm>
            <a:off x="1143000" y="1280160"/>
            <a:ext cx="4754880" cy="457200"/>
          </a:xfrm>
          <a:prstGeom prst="rect">
            <a:avLst/>
          </a:prstGeom>
          <a:noFill/>
          <a:ln/>
        </p:spPr>
        <p:txBody>
          <a:bodyPr wrap="square" lIns="0" tIns="0" rIns="0" bIns="0" rtlCol="0" anchor="ctr"/>
          <a:lstStyle/>
          <a:p>
            <a:pPr indent="0" marL="0">
              <a:buNone/>
            </a:pPr>
            <a:r>
              <a:rPr lang="en-US" sz="1600" dirty="0">
                <a:solidFill>
                  <a:schemeClr val="tx1"/>
                </a:solidFill>
              </a:rPr>
              <a:t>The weather (sea state) of each region is drawn</a:t>
            </a:r>
            <a:endParaRPr lang="en-US" sz="1600" dirty="0"/>
          </a:p>
        </p:txBody>
      </p:sp>
      <p:sp>
        <p:nvSpPr>
          <p:cNvPr id="6" name="st34"/>
          <p:cNvSpPr/>
          <p:nvPr/>
        </p:nvSpPr>
        <p:spPr>
          <a:xfrm>
            <a:off x="548640" y="1883664"/>
            <a:ext cx="457200" cy="457200"/>
          </a:xfrm>
          <a:prstGeom prst="ellipse">
            <a:avLst/>
          </a:prstGeom>
          <a:solidFill>
            <a:schemeClr val="accent1"/>
          </a:solidFill>
          <a:ln/>
        </p:spPr>
      </p:sp>
      <p:sp>
        <p:nvSpPr>
          <p:cNvPr id="7" name="t35"/>
          <p:cNvSpPr txBox="1"/>
          <p:nvPr/>
        </p:nvSpPr>
        <p:spPr>
          <a:xfrm>
            <a:off x="548640" y="18836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36"/>
          <p:cNvSpPr txBox="1"/>
          <p:nvPr/>
        </p:nvSpPr>
        <p:spPr>
          <a:xfrm>
            <a:off x="1143000" y="1883664"/>
            <a:ext cx="4754880" cy="457200"/>
          </a:xfrm>
          <a:prstGeom prst="rect">
            <a:avLst/>
          </a:prstGeom>
          <a:noFill/>
          <a:ln/>
        </p:spPr>
        <p:txBody>
          <a:bodyPr wrap="square" lIns="0" tIns="0" rIns="0" bIns="0" rtlCol="0" anchor="ctr"/>
          <a:lstStyle/>
          <a:p>
            <a:pPr indent="0" marL="0">
              <a:buNone/>
            </a:pPr>
            <a:r>
              <a:rPr lang="en-US" sz="1600" dirty="0">
                <a:solidFill>
                  <a:schemeClr val="tx1"/>
                </a:solidFill>
              </a:rPr>
              <a:t>Each side sees its own ships and detects some enemy ships</a:t>
            </a:r>
            <a:endParaRPr lang="en-US" sz="1600" dirty="0"/>
          </a:p>
        </p:txBody>
      </p:sp>
      <p:sp>
        <p:nvSpPr>
          <p:cNvPr id="9" name="st37"/>
          <p:cNvSpPr/>
          <p:nvPr/>
        </p:nvSpPr>
        <p:spPr>
          <a:xfrm>
            <a:off x="548640" y="2487168"/>
            <a:ext cx="457200" cy="457200"/>
          </a:xfrm>
          <a:prstGeom prst="ellipse">
            <a:avLst/>
          </a:prstGeom>
          <a:solidFill>
            <a:schemeClr val="accent1"/>
          </a:solidFill>
          <a:ln/>
        </p:spPr>
      </p:sp>
      <p:sp>
        <p:nvSpPr>
          <p:cNvPr id="10" name="t38"/>
          <p:cNvSpPr txBox="1"/>
          <p:nvPr/>
        </p:nvSpPr>
        <p:spPr>
          <a:xfrm>
            <a:off x="548640" y="248716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39"/>
          <p:cNvSpPr txBox="1"/>
          <p:nvPr/>
        </p:nvSpPr>
        <p:spPr>
          <a:xfrm>
            <a:off x="1143000" y="2487168"/>
            <a:ext cx="4754880" cy="457200"/>
          </a:xfrm>
          <a:prstGeom prst="rect">
            <a:avLst/>
          </a:prstGeom>
          <a:noFill/>
          <a:ln/>
        </p:spPr>
        <p:txBody>
          <a:bodyPr wrap="square" lIns="0" tIns="0" rIns="0" bIns="0" rtlCol="0" anchor="ctr"/>
          <a:lstStyle/>
          <a:p>
            <a:pPr indent="0" marL="0">
              <a:buNone/>
            </a:pPr>
            <a:r>
              <a:rPr lang="en-US" sz="1600" dirty="0">
                <a:solidFill>
                  <a:schemeClr val="tx1"/>
                </a:solidFill>
              </a:rPr>
              <a:t>Ships low on endurance head home</a:t>
            </a:r>
            <a:endParaRPr lang="en-US" sz="1600" dirty="0"/>
          </a:p>
        </p:txBody>
      </p:sp>
      <p:sp>
        <p:nvSpPr>
          <p:cNvPr id="12" name="st40"/>
          <p:cNvSpPr/>
          <p:nvPr/>
        </p:nvSpPr>
        <p:spPr>
          <a:xfrm>
            <a:off x="548640" y="3090672"/>
            <a:ext cx="457200" cy="457200"/>
          </a:xfrm>
          <a:prstGeom prst="ellipse">
            <a:avLst/>
          </a:prstGeom>
          <a:solidFill>
            <a:schemeClr val="accent1"/>
          </a:solidFill>
          <a:ln/>
        </p:spPr>
      </p:sp>
      <p:sp>
        <p:nvSpPr>
          <p:cNvPr id="13" name="t41"/>
          <p:cNvSpPr txBox="1"/>
          <p:nvPr/>
        </p:nvSpPr>
        <p:spPr>
          <a:xfrm>
            <a:off x="548640" y="309067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42"/>
          <p:cNvSpPr txBox="1"/>
          <p:nvPr/>
        </p:nvSpPr>
        <p:spPr>
          <a:xfrm>
            <a:off x="1143000" y="3090672"/>
            <a:ext cx="4754880" cy="457200"/>
          </a:xfrm>
          <a:prstGeom prst="rect">
            <a:avLst/>
          </a:prstGeom>
          <a:noFill/>
          <a:ln/>
        </p:spPr>
        <p:txBody>
          <a:bodyPr wrap="square" lIns="0" tIns="0" rIns="0" bIns="0" rtlCol="0" anchor="ctr"/>
          <a:lstStyle/>
          <a:p>
            <a:pPr indent="0" marL="0">
              <a:buNone/>
            </a:pPr>
            <a:r>
              <a:rPr lang="en-US" sz="1600" dirty="0">
                <a:solidFill>
                  <a:schemeClr val="tx1"/>
                </a:solidFill>
              </a:rPr>
              <a:t>Both sides choose moves and postures at the same time</a:t>
            </a:r>
            <a:endParaRPr lang="en-US" sz="1600" dirty="0"/>
          </a:p>
        </p:txBody>
      </p:sp>
      <p:sp>
        <p:nvSpPr>
          <p:cNvPr id="15" name="st43"/>
          <p:cNvSpPr/>
          <p:nvPr/>
        </p:nvSpPr>
        <p:spPr>
          <a:xfrm>
            <a:off x="548640" y="3694176"/>
            <a:ext cx="457200" cy="457200"/>
          </a:xfrm>
          <a:prstGeom prst="ellipse">
            <a:avLst/>
          </a:prstGeom>
          <a:solidFill>
            <a:schemeClr val="accent1"/>
          </a:solidFill>
          <a:ln/>
        </p:spPr>
      </p:sp>
      <p:sp>
        <p:nvSpPr>
          <p:cNvPr id="16" name="t44"/>
          <p:cNvSpPr txBox="1"/>
          <p:nvPr/>
        </p:nvSpPr>
        <p:spPr>
          <a:xfrm>
            <a:off x="548640" y="369417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45"/>
          <p:cNvSpPr txBox="1"/>
          <p:nvPr/>
        </p:nvSpPr>
        <p:spPr>
          <a:xfrm>
            <a:off x="1143000" y="3694176"/>
            <a:ext cx="4754880" cy="457200"/>
          </a:xfrm>
          <a:prstGeom prst="rect">
            <a:avLst/>
          </a:prstGeom>
          <a:noFill/>
          <a:ln/>
        </p:spPr>
        <p:txBody>
          <a:bodyPr wrap="square" lIns="0" tIns="0" rIns="0" bIns="0" rtlCol="0" anchor="ctr"/>
          <a:lstStyle/>
          <a:p>
            <a:pPr indent="0" marL="0">
              <a:buNone/>
            </a:pPr>
            <a:r>
              <a:rPr lang="en-US" sz="1600" dirty="0">
                <a:solidFill>
                  <a:schemeClr val="tx1"/>
                </a:solidFill>
              </a:rPr>
              <a:t>Moves happen within movement budgets</a:t>
            </a:r>
            <a:endParaRPr lang="en-US" sz="1600" dirty="0"/>
          </a:p>
        </p:txBody>
      </p:sp>
      <p:sp>
        <p:nvSpPr>
          <p:cNvPr id="18" name="st46"/>
          <p:cNvSpPr/>
          <p:nvPr/>
        </p:nvSpPr>
        <p:spPr>
          <a:xfrm>
            <a:off x="548640" y="4297680"/>
            <a:ext cx="457200" cy="457200"/>
          </a:xfrm>
          <a:prstGeom prst="ellipse">
            <a:avLst/>
          </a:prstGeom>
          <a:solidFill>
            <a:schemeClr val="accent2"/>
          </a:solidFill>
          <a:ln/>
        </p:spPr>
      </p:sp>
      <p:sp>
        <p:nvSpPr>
          <p:cNvPr id="19" name="t47"/>
          <p:cNvSpPr txBox="1"/>
          <p:nvPr/>
        </p:nvSpPr>
        <p:spPr>
          <a:xfrm>
            <a:off x="548640" y="42976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t48"/>
          <p:cNvSpPr txBox="1"/>
          <p:nvPr/>
        </p:nvSpPr>
        <p:spPr>
          <a:xfrm>
            <a:off x="1143000" y="4297680"/>
            <a:ext cx="4754880" cy="457200"/>
          </a:xfrm>
          <a:prstGeom prst="rect">
            <a:avLst/>
          </a:prstGeom>
          <a:noFill/>
          <a:ln/>
        </p:spPr>
        <p:txBody>
          <a:bodyPr wrap="square" lIns="0" tIns="0" rIns="0" bIns="0" rtlCol="0" anchor="ctr"/>
          <a:lstStyle/>
          <a:p>
            <a:pPr indent="0" marL="0">
              <a:buNone/>
            </a:pPr>
            <a:r>
              <a:rPr lang="en-US" sz="1600" dirty="0">
                <a:solidFill>
                  <a:schemeClr val="tx1"/>
                </a:solidFill>
              </a:rPr>
              <a:t>Control updates. Incidents are drawn. The escalation level moves</a:t>
            </a:r>
            <a:endParaRPr lang="en-US" sz="1600" dirty="0"/>
          </a:p>
        </p:txBody>
      </p:sp>
      <p:sp>
        <p:nvSpPr>
          <p:cNvPr id="21" name="st49"/>
          <p:cNvSpPr/>
          <p:nvPr/>
        </p:nvSpPr>
        <p:spPr>
          <a:xfrm>
            <a:off x="548640" y="4901184"/>
            <a:ext cx="457200" cy="457200"/>
          </a:xfrm>
          <a:prstGeom prst="ellipse">
            <a:avLst/>
          </a:prstGeom>
          <a:solidFill>
            <a:schemeClr val="accent1"/>
          </a:solidFill>
          <a:ln/>
        </p:spPr>
      </p:sp>
      <p:sp>
        <p:nvSpPr>
          <p:cNvPr id="22" name="t50"/>
          <p:cNvSpPr txBox="1"/>
          <p:nvPr/>
        </p:nvSpPr>
        <p:spPr>
          <a:xfrm>
            <a:off x="548640" y="490118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3" name="t51"/>
          <p:cNvSpPr txBox="1"/>
          <p:nvPr/>
        </p:nvSpPr>
        <p:spPr>
          <a:xfrm>
            <a:off x="1143000" y="4901184"/>
            <a:ext cx="4754880" cy="457200"/>
          </a:xfrm>
          <a:prstGeom prst="rect">
            <a:avLst/>
          </a:prstGeom>
          <a:noFill/>
          <a:ln/>
        </p:spPr>
        <p:txBody>
          <a:bodyPr wrap="square" lIns="0" tIns="0" rIns="0" bIns="0" rtlCol="0" anchor="ctr"/>
          <a:lstStyle/>
          <a:p>
            <a:pPr indent="0" marL="0">
              <a:buNone/>
            </a:pPr>
            <a:r>
              <a:rPr lang="en-US" sz="1600" dirty="0">
                <a:solidFill>
                  <a:schemeClr val="tx1"/>
                </a:solidFill>
              </a:rPr>
              <a:t>Payoffs are paid. The game stops at war or after 60 periods</a:t>
            </a:r>
            <a:endParaRPr lang="en-US" sz="1600" dirty="0"/>
          </a:p>
        </p:txBody>
      </p:sp>
      <p:sp>
        <p:nvSpPr>
          <p:cNvPr id="24" name="eqbox"/>
          <p:cNvSpPr/>
          <p:nvPr/>
        </p:nvSpPr>
        <p:spPr>
          <a:xfrm>
            <a:off x="6309360" y="1280160"/>
            <a:ext cx="5303520" cy="4160520"/>
          </a:xfrm>
          <a:prstGeom prst="roundRect">
            <a:avLst>
              <a:gd name="adj" fmla="val 1758"/>
            </a:avLst>
          </a:prstGeom>
          <a:solidFill>
            <a:schemeClr val="bg2"/>
          </a:solidFill>
          <a:ln w="12700">
            <a:solidFill>
              <a:schemeClr val="accent6"/>
            </a:solidFill>
            <a:prstDash val="solid"/>
          </a:ln>
        </p:spPr>
      </p:sp>
      <p:sp>
        <p:nvSpPr>
          <p:cNvPr id="25" name="t53"/>
          <p:cNvSpPr txBox="1"/>
          <p:nvPr/>
        </p:nvSpPr>
        <p:spPr>
          <a:xfrm>
            <a:off x="6537960" y="1417320"/>
            <a:ext cx="4846320" cy="274320"/>
          </a:xfrm>
          <a:prstGeom prst="rect">
            <a:avLst/>
          </a:prstGeom>
          <a:noFill/>
          <a:ln/>
        </p:spPr>
        <p:txBody>
          <a:bodyPr wrap="square" lIns="0" tIns="0" rIns="0" bIns="0" rtlCol="0" anchor="ctr"/>
          <a:lstStyle/>
          <a:p>
            <a:pPr indent="0" marL="0">
              <a:buNone/>
            </a:pPr>
            <a:r>
              <a:rPr lang="en-US" sz="1500" b="1" dirty="0">
                <a:solidFill>
                  <a:schemeClr val="accent1"/>
                </a:solidFill>
              </a:rPr>
              <a:t>Control of zone v</a:t>
            </a:r>
            <a:endParaRPr lang="en-US" sz="1500" dirty="0"/>
          </a:p>
        </p:txBody>
      </p:sp>
      <p:pic>
        <p:nvPicPr>
          <p:cNvPr id="26" name="eq54" descr="/Users/seanbowman/Documents/MIT/Fall26/6.s974/repo/slides/eqs/control.png">    </p:cNvPr>
          <p:cNvPicPr>
            <a:picLocks noChangeAspect="1"/>
          </p:cNvPicPr>
          <p:nvPr/>
        </p:nvPicPr>
        <p:blipFill>
          <a:blip r:embed="rId1"/>
          <a:stretch>
            <a:fillRect/>
          </a:stretch>
        </p:blipFill>
        <p:spPr>
          <a:xfrm>
            <a:off x="6583680" y="1746504"/>
            <a:ext cx="4125087" cy="477317"/>
          </a:xfrm>
          <a:prstGeom prst="rect">
            <a:avLst/>
          </a:prstGeom>
        </p:spPr>
      </p:pic>
      <p:sp>
        <p:nvSpPr>
          <p:cNvPr id="27" name="t55"/>
          <p:cNvSpPr txBox="1"/>
          <p:nvPr/>
        </p:nvSpPr>
        <p:spPr>
          <a:xfrm>
            <a:off x="6537960" y="2296973"/>
            <a:ext cx="4846320" cy="274320"/>
          </a:xfrm>
          <a:prstGeom prst="rect">
            <a:avLst/>
          </a:prstGeom>
          <a:noFill/>
          <a:ln/>
        </p:spPr>
        <p:txBody>
          <a:bodyPr wrap="square" lIns="0" tIns="0" rIns="0" bIns="0" rtlCol="0" anchor="ctr"/>
          <a:lstStyle/>
          <a:p>
            <a:pPr indent="0" marL="0">
              <a:buNone/>
            </a:pPr>
            <a:r>
              <a:rPr lang="en-US" sz="1200" dirty="0">
                <a:solidFill>
                  <a:schemeClr val="accent5"/>
                </a:solidFill>
              </a:rPr>
              <a:t>Presence builds control slowly. Leaving lets it decay.</a:t>
            </a:r>
            <a:endParaRPr lang="en-US" sz="1200" dirty="0"/>
          </a:p>
        </p:txBody>
      </p:sp>
      <p:sp>
        <p:nvSpPr>
          <p:cNvPr id="28" name="t56"/>
          <p:cNvSpPr txBox="1"/>
          <p:nvPr/>
        </p:nvSpPr>
        <p:spPr>
          <a:xfrm>
            <a:off x="6537960" y="2735885"/>
            <a:ext cx="4846320" cy="274320"/>
          </a:xfrm>
          <a:prstGeom prst="rect">
            <a:avLst/>
          </a:prstGeom>
          <a:noFill/>
          <a:ln/>
        </p:spPr>
        <p:txBody>
          <a:bodyPr wrap="square" lIns="0" tIns="0" rIns="0" bIns="0" rtlCol="0" anchor="ctr"/>
          <a:lstStyle/>
          <a:p>
            <a:pPr indent="0" marL="0">
              <a:buNone/>
            </a:pPr>
            <a:r>
              <a:rPr lang="en-US" sz="1500" b="1" dirty="0">
                <a:solidFill>
                  <a:schemeClr val="accent2"/>
                </a:solidFill>
              </a:rPr>
              <a:t>Incident chance</a:t>
            </a:r>
            <a:endParaRPr lang="en-US" sz="1500" dirty="0"/>
          </a:p>
        </p:txBody>
      </p:sp>
      <p:pic>
        <p:nvPicPr>
          <p:cNvPr id="29" name="eq57" descr="/Users/seanbowman/Documents/MIT/Fall26/6.s974/repo/slides/eqs/hazard.png">    </p:cNvPr>
          <p:cNvPicPr>
            <a:picLocks noChangeAspect="1"/>
          </p:cNvPicPr>
          <p:nvPr/>
        </p:nvPicPr>
        <p:blipFill>
          <a:blip r:embed="rId2"/>
          <a:stretch>
            <a:fillRect/>
          </a:stretch>
        </p:blipFill>
        <p:spPr>
          <a:xfrm>
            <a:off x="6583680" y="3065069"/>
            <a:ext cx="4330827" cy="588416"/>
          </a:xfrm>
          <a:prstGeom prst="rect">
            <a:avLst/>
          </a:prstGeom>
        </p:spPr>
      </p:pic>
      <p:sp>
        <p:nvSpPr>
          <p:cNvPr id="30" name="t58"/>
          <p:cNvSpPr txBox="1"/>
          <p:nvPr/>
        </p:nvSpPr>
        <p:spPr>
          <a:xfrm>
            <a:off x="6537960" y="3726637"/>
            <a:ext cx="4846320" cy="274320"/>
          </a:xfrm>
          <a:prstGeom prst="rect">
            <a:avLst/>
          </a:prstGeom>
          <a:noFill/>
          <a:ln/>
        </p:spPr>
        <p:txBody>
          <a:bodyPr wrap="square" lIns="0" tIns="0" rIns="0" bIns="0" rtlCol="0" anchor="ctr"/>
          <a:lstStyle/>
          <a:p>
            <a:pPr indent="0" marL="0">
              <a:buNone/>
            </a:pPr>
            <a:r>
              <a:rPr lang="en-US" sz="1200" dirty="0">
                <a:solidFill>
                  <a:schemeClr val="accent5"/>
                </a:solidFill>
              </a:rPr>
              <a:t>Needs both sides present. Grows with assertion and with the escalation level ℓ.</a:t>
            </a:r>
            <a:endParaRPr lang="en-US" sz="1200" dirty="0"/>
          </a:p>
        </p:txBody>
      </p:sp>
      <p:sp>
        <p:nvSpPr>
          <p:cNvPr id="31" name="t59"/>
          <p:cNvSpPr txBox="1"/>
          <p:nvPr/>
        </p:nvSpPr>
        <p:spPr>
          <a:xfrm>
            <a:off x="6537960" y="4165549"/>
            <a:ext cx="4846320" cy="274320"/>
          </a:xfrm>
          <a:prstGeom prst="rect">
            <a:avLst/>
          </a:prstGeom>
          <a:noFill/>
          <a:ln/>
        </p:spPr>
        <p:txBody>
          <a:bodyPr wrap="square" lIns="0" tIns="0" rIns="0" bIns="0" rtlCol="0" anchor="ctr"/>
          <a:lstStyle/>
          <a:p>
            <a:pPr indent="0" marL="0">
              <a:buNone/>
            </a:pPr>
            <a:r>
              <a:rPr lang="en-US" sz="1500" b="1" dirty="0">
                <a:solidFill>
                  <a:schemeClr val="tx2"/>
                </a:solidFill>
              </a:rPr>
              <a:t>Stage payoff</a:t>
            </a:r>
            <a:endParaRPr lang="en-US" sz="1500" dirty="0"/>
          </a:p>
        </p:txBody>
      </p:sp>
      <p:pic>
        <p:nvPicPr>
          <p:cNvPr id="32" name="eq60" descr="/Users/seanbowman/Documents/MIT/Fall26/6.s974/repo/slides/eqs/stage.png">    </p:cNvPr>
          <p:cNvPicPr>
            <a:picLocks noChangeAspect="1"/>
          </p:cNvPicPr>
          <p:nvPr/>
        </p:nvPicPr>
        <p:blipFill>
          <a:blip r:embed="rId3"/>
          <a:stretch>
            <a:fillRect/>
          </a:stretch>
        </p:blipFill>
        <p:spPr>
          <a:xfrm>
            <a:off x="6583680" y="4494733"/>
            <a:ext cx="3904945" cy="485546"/>
          </a:xfrm>
          <a:prstGeom prst="rect">
            <a:avLst/>
          </a:prstGeom>
        </p:spPr>
      </p:pic>
      <p:sp>
        <p:nvSpPr>
          <p:cNvPr id="33" name="t61"/>
          <p:cNvSpPr txBox="1"/>
          <p:nvPr/>
        </p:nvSpPr>
        <p:spPr>
          <a:xfrm>
            <a:off x="6537960" y="5053432"/>
            <a:ext cx="4846320" cy="274320"/>
          </a:xfrm>
          <a:prstGeom prst="rect">
            <a:avLst/>
          </a:prstGeom>
          <a:noFill/>
          <a:ln/>
        </p:spPr>
        <p:txBody>
          <a:bodyPr wrap="square" lIns="0" tIns="0" rIns="0" bIns="0" rtlCol="0" anchor="ctr"/>
          <a:lstStyle/>
          <a:p>
            <a:pPr indent="0" marL="0">
              <a:buNone/>
            </a:pPr>
            <a:r>
              <a:rPr lang="en-US" sz="1200" dirty="0">
                <a:solidFill>
                  <a:schemeClr val="accent5"/>
                </a:solidFill>
              </a:rPr>
              <a:t>Control value minus fuel, tension and Blue's redesign cost. Both pay W = 200 at war.</a:t>
            </a:r>
            <a:endParaRPr lang="en-US" sz="1200" dirty="0"/>
          </a:p>
        </p:txBody>
      </p:sp>
      <p:sp>
        <p:nvSpPr>
          <p:cNvPr id="34" name="tk62"/>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35" name="t63"/>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Every rule is explicit, so the same game can be played thousands of times by different strategies.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Formulation: state, moves, escalation and payoffs</a:t>
            </a:r>
            <a:endParaRPr lang="en-US" sz="2800" dirty="0"/>
          </a:p>
        </p:txBody>
      </p:sp>
      <p:sp>
        <p:nvSpPr>
          <p:cNvPr id="3" name="t64"/>
          <p:cNvSpPr txBox="1"/>
          <p:nvPr/>
        </p:nvSpPr>
        <p:spPr>
          <a:xfrm>
            <a:off x="548640" y="1280160"/>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State</a:t>
            </a:r>
            <a:endParaRPr lang="en-US" sz="1500" dirty="0"/>
          </a:p>
          <a:p>
            <a:pPr indent="0" marL="0">
              <a:buNone/>
            </a:pPr>
            <a:r>
              <a:rPr lang="en-US" sz="1100" dirty="0">
                <a:solidFill>
                  <a:schemeClr val="accent5"/>
                </a:solidFill>
              </a:rPr>
              <a:t>Ships by type and node, endurance, control, escalation level, sea state</a:t>
            </a:r>
            <a:endParaRPr lang="en-US" sz="1500" dirty="0"/>
          </a:p>
        </p:txBody>
      </p:sp>
      <p:pic>
        <p:nvPicPr>
          <p:cNvPr id="4" name="eq65" descr="/Users/seanbowman/Documents/MIT/Fall26/6.s974/repo/slides/eqs/state.png">    </p:cNvPr>
          <p:cNvPicPr>
            <a:picLocks noChangeAspect="1"/>
          </p:cNvPicPr>
          <p:nvPr/>
        </p:nvPicPr>
        <p:blipFill>
          <a:blip r:embed="rId1"/>
          <a:stretch>
            <a:fillRect/>
          </a:stretch>
        </p:blipFill>
        <p:spPr>
          <a:xfrm>
            <a:off x="3840480" y="1280160"/>
            <a:ext cx="7772400" cy="244697"/>
          </a:xfrm>
          <a:prstGeom prst="rect">
            <a:avLst/>
          </a:prstGeom>
        </p:spPr>
      </p:pic>
      <p:sp>
        <p:nvSpPr>
          <p:cNvPr id="5" name="fl66"/>
          <p:cNvSpPr/>
          <p:nvPr/>
        </p:nvSpPr>
        <p:spPr>
          <a:xfrm>
            <a:off x="548640" y="1819656"/>
            <a:ext cx="11064240" cy="0"/>
          </a:xfrm>
          <a:prstGeom prst="line">
            <a:avLst/>
          </a:prstGeom>
          <a:noFill/>
          <a:ln w="6350">
            <a:solidFill>
              <a:schemeClr val="accent6"/>
            </a:solidFill>
            <a:prstDash val="solid"/>
          </a:ln>
        </p:spPr>
      </p:sp>
      <p:sp>
        <p:nvSpPr>
          <p:cNvPr id="6" name="t67"/>
          <p:cNvSpPr txBox="1"/>
          <p:nvPr/>
        </p:nvSpPr>
        <p:spPr>
          <a:xfrm>
            <a:off x="548640" y="1883664"/>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Flow conservation</a:t>
            </a:r>
            <a:endParaRPr lang="en-US" sz="1500" dirty="0"/>
          </a:p>
          <a:p>
            <a:pPr indent="0" marL="0">
              <a:buNone/>
            </a:pPr>
            <a:r>
              <a:rPr lang="en-US" sz="1100" dirty="0">
                <a:solidFill>
                  <a:schemeClr val="accent5"/>
                </a:solidFill>
              </a:rPr>
              <a:t>No ships are added or removed</a:t>
            </a:r>
            <a:endParaRPr lang="en-US" sz="1500" dirty="0"/>
          </a:p>
        </p:txBody>
      </p:sp>
      <p:pic>
        <p:nvPicPr>
          <p:cNvPr id="7" name="eq68" descr="/Users/seanbowman/Documents/MIT/Fall26/6.s974/repo/slides/eqs/flow.png">    </p:cNvPr>
          <p:cNvPicPr>
            <a:picLocks noChangeAspect="1"/>
          </p:cNvPicPr>
          <p:nvPr/>
        </p:nvPicPr>
        <p:blipFill>
          <a:blip r:embed="rId2"/>
          <a:stretch>
            <a:fillRect/>
          </a:stretch>
        </p:blipFill>
        <p:spPr>
          <a:xfrm>
            <a:off x="3840480" y="1883664"/>
            <a:ext cx="3491484" cy="559079"/>
          </a:xfrm>
          <a:prstGeom prst="rect">
            <a:avLst/>
          </a:prstGeom>
        </p:spPr>
      </p:pic>
      <p:sp>
        <p:nvSpPr>
          <p:cNvPr id="8" name="fl69"/>
          <p:cNvSpPr/>
          <p:nvPr/>
        </p:nvSpPr>
        <p:spPr>
          <a:xfrm>
            <a:off x="548640" y="2470175"/>
            <a:ext cx="11064240" cy="0"/>
          </a:xfrm>
          <a:prstGeom prst="line">
            <a:avLst/>
          </a:prstGeom>
          <a:noFill/>
          <a:ln w="6350">
            <a:solidFill>
              <a:schemeClr val="accent6"/>
            </a:solidFill>
            <a:prstDash val="solid"/>
          </a:ln>
        </p:spPr>
      </p:sp>
      <p:sp>
        <p:nvSpPr>
          <p:cNvPr id="9" name="t70"/>
          <p:cNvSpPr txBox="1"/>
          <p:nvPr/>
        </p:nvSpPr>
        <p:spPr>
          <a:xfrm>
            <a:off x="548640" y="2534183"/>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Movement budget</a:t>
            </a:r>
            <a:endParaRPr lang="en-US" sz="1500" dirty="0"/>
          </a:p>
          <a:p>
            <a:pPr indent="0" marL="0">
              <a:buNone/>
            </a:pPr>
            <a:r>
              <a:rPr lang="en-US" sz="1100" dirty="0">
                <a:solidFill>
                  <a:schemeClr val="accent5"/>
                </a:solidFill>
              </a:rPr>
              <a:t>At most Fᵢ ship moves per period (8 Blue, 10 Red)</a:t>
            </a:r>
            <a:endParaRPr lang="en-US" sz="1500" dirty="0"/>
          </a:p>
        </p:txBody>
      </p:sp>
      <p:pic>
        <p:nvPicPr>
          <p:cNvPr id="10" name="eq71" descr="/Users/seanbowman/Documents/MIT/Fall26/6.s974/repo/slides/eqs/budget.png">    </p:cNvPr>
          <p:cNvPicPr>
            <a:picLocks noChangeAspect="1"/>
          </p:cNvPicPr>
          <p:nvPr/>
        </p:nvPicPr>
        <p:blipFill>
          <a:blip r:embed="rId3"/>
          <a:stretch>
            <a:fillRect/>
          </a:stretch>
        </p:blipFill>
        <p:spPr>
          <a:xfrm>
            <a:off x="3840480" y="2534183"/>
            <a:ext cx="1739113" cy="559079"/>
          </a:xfrm>
          <a:prstGeom prst="rect">
            <a:avLst/>
          </a:prstGeom>
        </p:spPr>
      </p:pic>
      <p:sp>
        <p:nvSpPr>
          <p:cNvPr id="11" name="fl72"/>
          <p:cNvSpPr/>
          <p:nvPr/>
        </p:nvSpPr>
        <p:spPr>
          <a:xfrm>
            <a:off x="548640" y="3120695"/>
            <a:ext cx="11064240" cy="0"/>
          </a:xfrm>
          <a:prstGeom prst="line">
            <a:avLst/>
          </a:prstGeom>
          <a:noFill/>
          <a:ln w="6350">
            <a:solidFill>
              <a:schemeClr val="accent6"/>
            </a:solidFill>
            <a:prstDash val="solid"/>
          </a:ln>
        </p:spPr>
      </p:sp>
      <p:sp>
        <p:nvSpPr>
          <p:cNvPr id="12" name="t73"/>
          <p:cNvSpPr txBox="1"/>
          <p:nvPr/>
        </p:nvSpPr>
        <p:spPr>
          <a:xfrm>
            <a:off x="548640" y="3184703"/>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Local strength</a:t>
            </a:r>
            <a:endParaRPr lang="en-US" sz="1500" dirty="0"/>
          </a:p>
          <a:p>
            <a:pPr indent="0" marL="0">
              <a:buNone/>
            </a:pPr>
            <a:r>
              <a:rPr lang="en-US" sz="1100" dirty="0">
                <a:solidFill>
                  <a:schemeClr val="accent5"/>
                </a:solidFill>
              </a:rPr>
              <a:t>Hulls weighted by type (CCG 0.6, 0.3 in rough seas), × α = 1.5 when asserting</a:t>
            </a:r>
            <a:endParaRPr lang="en-US" sz="1500" dirty="0"/>
          </a:p>
        </p:txBody>
      </p:sp>
      <p:pic>
        <p:nvPicPr>
          <p:cNvPr id="13" name="eq74" descr="/Users/seanbowman/Documents/MIT/Fall26/6.s974/repo/slides/eqs/strength.png">    </p:cNvPr>
          <p:cNvPicPr>
            <a:picLocks noChangeAspect="1"/>
          </p:cNvPicPr>
          <p:nvPr/>
        </p:nvPicPr>
        <p:blipFill>
          <a:blip r:embed="rId4"/>
          <a:stretch>
            <a:fillRect/>
          </a:stretch>
        </p:blipFill>
        <p:spPr>
          <a:xfrm>
            <a:off x="3840480" y="3184703"/>
            <a:ext cx="2457298" cy="536981"/>
          </a:xfrm>
          <a:prstGeom prst="rect">
            <a:avLst/>
          </a:prstGeom>
        </p:spPr>
      </p:pic>
      <p:sp>
        <p:nvSpPr>
          <p:cNvPr id="14" name="fl75"/>
          <p:cNvSpPr/>
          <p:nvPr/>
        </p:nvSpPr>
        <p:spPr>
          <a:xfrm>
            <a:off x="548640" y="3749116"/>
            <a:ext cx="11064240" cy="0"/>
          </a:xfrm>
          <a:prstGeom prst="line">
            <a:avLst/>
          </a:prstGeom>
          <a:noFill/>
          <a:ln w="6350">
            <a:solidFill>
              <a:schemeClr val="accent6"/>
            </a:solidFill>
            <a:prstDash val="solid"/>
          </a:ln>
        </p:spPr>
      </p:sp>
      <p:sp>
        <p:nvSpPr>
          <p:cNvPr id="15" name="t76"/>
          <p:cNvSpPr txBox="1"/>
          <p:nvPr/>
        </p:nvSpPr>
        <p:spPr>
          <a:xfrm>
            <a:off x="548640" y="3813124"/>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Escalation</a:t>
            </a:r>
            <a:endParaRPr lang="en-US" sz="1500" dirty="0"/>
          </a:p>
          <a:p>
            <a:pPr indent="0" marL="0">
              <a:buNone/>
            </a:pPr>
            <a:r>
              <a:rPr lang="en-US" sz="1100" dirty="0">
                <a:solidFill>
                  <a:schemeClr val="accent5"/>
                </a:solidFill>
              </a:rPr>
              <a:t>Nᵗ = incidents this period. War when ℓ reaches L = 5</a:t>
            </a:r>
            <a:endParaRPr lang="en-US" sz="1500" dirty="0"/>
          </a:p>
        </p:txBody>
      </p:sp>
      <p:pic>
        <p:nvPicPr>
          <p:cNvPr id="16" name="eq77" descr="/Users/seanbowman/Documents/MIT/Fall26/6.s974/repo/slides/eqs/escalation.png">    </p:cNvPr>
          <p:cNvPicPr>
            <a:picLocks noChangeAspect="1"/>
          </p:cNvPicPr>
          <p:nvPr/>
        </p:nvPicPr>
        <p:blipFill>
          <a:blip r:embed="rId5"/>
          <a:stretch>
            <a:fillRect/>
          </a:stretch>
        </p:blipFill>
        <p:spPr>
          <a:xfrm>
            <a:off x="3840480" y="3813124"/>
            <a:ext cx="4483456" cy="838048"/>
          </a:xfrm>
          <a:prstGeom prst="rect">
            <a:avLst/>
          </a:prstGeom>
        </p:spPr>
      </p:pic>
      <p:sp>
        <p:nvSpPr>
          <p:cNvPr id="17" name="fl78"/>
          <p:cNvSpPr/>
          <p:nvPr/>
        </p:nvSpPr>
        <p:spPr>
          <a:xfrm>
            <a:off x="548640" y="4678604"/>
            <a:ext cx="11064240" cy="0"/>
          </a:xfrm>
          <a:prstGeom prst="line">
            <a:avLst/>
          </a:prstGeom>
          <a:noFill/>
          <a:ln w="6350">
            <a:solidFill>
              <a:schemeClr val="accent6"/>
            </a:solidFill>
            <a:prstDash val="solid"/>
          </a:ln>
        </p:spPr>
      </p:sp>
      <p:sp>
        <p:nvSpPr>
          <p:cNvPr id="18" name="t79"/>
          <p:cNvSpPr txBox="1"/>
          <p:nvPr/>
        </p:nvSpPr>
        <p:spPr>
          <a:xfrm>
            <a:off x="548640" y="4742612"/>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Total payoff</a:t>
            </a:r>
            <a:endParaRPr lang="en-US" sz="1500" dirty="0"/>
          </a:p>
          <a:p>
            <a:pPr indent="0" marL="0">
              <a:buNone/>
            </a:pPr>
            <a:r>
              <a:rPr lang="en-US" sz="1100" dirty="0">
                <a:solidFill>
                  <a:schemeClr val="accent5"/>
                </a:solidFill>
              </a:rPr>
              <a:t>Discounted stage payoffs (δ = 0.98, T = 60), minus W = 200 for both sides at war</a:t>
            </a:r>
            <a:endParaRPr lang="en-US" sz="1500" dirty="0"/>
          </a:p>
        </p:txBody>
      </p:sp>
      <p:pic>
        <p:nvPicPr>
          <p:cNvPr id="19" name="eq80" descr="/Users/seanbowman/Documents/MIT/Fall26/6.s974/repo/slides/eqs/total.png">    </p:cNvPr>
          <p:cNvPicPr>
            <a:picLocks noChangeAspect="1"/>
          </p:cNvPicPr>
          <p:nvPr/>
        </p:nvPicPr>
        <p:blipFill>
          <a:blip r:embed="rId6"/>
          <a:stretch>
            <a:fillRect/>
          </a:stretch>
        </p:blipFill>
        <p:spPr>
          <a:xfrm>
            <a:off x="3840480" y="4742612"/>
            <a:ext cx="5210708" cy="629793"/>
          </a:xfrm>
          <a:prstGeom prst="rect">
            <a:avLst/>
          </a:prstGeom>
        </p:spPr>
      </p:pic>
      <p:sp>
        <p:nvSpPr>
          <p:cNvPr id="20" name="tk81"/>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1" name="t82"/>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sides pay W at war, so the game is general-sum. Both prefer to avoid war.</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How the players decide</a:t>
            </a:r>
            <a:endParaRPr lang="en-US" sz="2800" dirty="0"/>
          </a:p>
        </p:txBody>
      </p:sp>
      <p:sp>
        <p:nvSpPr>
          <p:cNvPr id="3" name="cd83"/>
          <p:cNvSpPr/>
          <p:nvPr/>
        </p:nvSpPr>
        <p:spPr>
          <a:xfrm>
            <a:off x="548640" y="1280160"/>
            <a:ext cx="3566160" cy="4206240"/>
          </a:xfrm>
          <a:prstGeom prst="rect">
            <a:avLst/>
          </a:prstGeom>
          <a:solidFill>
            <a:schemeClr val="bg2"/>
          </a:solidFill>
          <a:ln w="19050">
            <a:solidFill>
              <a:schemeClr val="accent1"/>
            </a:solidFill>
            <a:prstDash val="solid"/>
          </a:ln>
        </p:spPr>
      </p:sp>
      <p:sp>
        <p:nvSpPr>
          <p:cNvPr id="4" name="cdh84"/>
          <p:cNvSpPr/>
          <p:nvPr/>
        </p:nvSpPr>
        <p:spPr>
          <a:xfrm>
            <a:off x="548640" y="1280160"/>
            <a:ext cx="3566160" cy="548640"/>
          </a:xfrm>
          <a:prstGeom prst="rect">
            <a:avLst/>
          </a:prstGeom>
          <a:solidFill>
            <a:schemeClr val="accent1"/>
          </a:solidFill>
          <a:ln w="19050">
            <a:solidFill>
              <a:schemeClr val="accent1"/>
            </a:solidFill>
            <a:prstDash val="solid"/>
          </a:ln>
        </p:spPr>
      </p:sp>
      <p:sp>
        <p:nvSpPr>
          <p:cNvPr id="5" name="t85"/>
          <p:cNvSpPr txBox="1"/>
          <p:nvPr/>
        </p:nvSpPr>
        <p:spPr>
          <a:xfrm>
            <a:off x="73152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Best response as a MIP</a:t>
            </a:r>
            <a:endParaRPr lang="en-US" sz="1800" dirty="0"/>
          </a:p>
        </p:txBody>
      </p:sp>
      <p:sp>
        <p:nvSpPr>
          <p:cNvPr id="6" name="t86"/>
          <p:cNvSpPr txBox="1"/>
          <p:nvPr/>
        </p:nvSpPr>
        <p:spPr>
          <a:xfrm>
            <a:off x="73152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Each period, choose moves and postures to maximize value of control minus costs, subject to the movement budget, endurance, and an escalation-risk budget.</a:t>
            </a:r>
            <a:endParaRPr lang="en-US" sz="1500" dirty="0"/>
          </a:p>
          <a:p>
            <a:pPr indent="0" marL="0">
              <a:buNone/>
            </a:pPr>
            <a:endParaRPr lang="en-US" sz="1500" dirty="0"/>
          </a:p>
          <a:p>
            <a:pPr indent="0" marL="0">
              <a:buNone/>
            </a:pPr>
            <a:r>
              <a:rPr lang="en-US" sz="1500" dirty="0">
                <a:solidFill>
                  <a:schemeClr val="tx1"/>
                </a:solidFill>
              </a:rPr>
              <a:t>Expected incidents ≤ ε</a:t>
            </a:r>
            <a:endParaRPr lang="en-US" sz="1500" dirty="0"/>
          </a:p>
        </p:txBody>
      </p:sp>
      <p:sp>
        <p:nvSpPr>
          <p:cNvPr id="7" name="t87"/>
          <p:cNvSpPr txBox="1"/>
          <p:nvPr/>
        </p:nvSpPr>
        <p:spPr>
          <a:xfrm>
            <a:off x="73152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Conservative / moderate / aggressive = ε of 0.05 / 0.15 / 0.40</a:t>
            </a:r>
            <a:endParaRPr lang="en-US" sz="1300" dirty="0"/>
          </a:p>
        </p:txBody>
      </p:sp>
      <p:sp>
        <p:nvSpPr>
          <p:cNvPr id="8" name="cd88"/>
          <p:cNvSpPr/>
          <p:nvPr/>
        </p:nvSpPr>
        <p:spPr>
          <a:xfrm>
            <a:off x="4297680" y="1280160"/>
            <a:ext cx="3566160" cy="4206240"/>
          </a:xfrm>
          <a:prstGeom prst="rect">
            <a:avLst/>
          </a:prstGeom>
          <a:solidFill>
            <a:schemeClr val="bg2"/>
          </a:solidFill>
          <a:ln w="19050">
            <a:solidFill>
              <a:schemeClr val="accent4"/>
            </a:solidFill>
            <a:prstDash val="solid"/>
          </a:ln>
        </p:spPr>
      </p:sp>
      <p:sp>
        <p:nvSpPr>
          <p:cNvPr id="9" name="cdh89"/>
          <p:cNvSpPr/>
          <p:nvPr/>
        </p:nvSpPr>
        <p:spPr>
          <a:xfrm>
            <a:off x="4297680" y="1280160"/>
            <a:ext cx="3566160" cy="548640"/>
          </a:xfrm>
          <a:prstGeom prst="rect">
            <a:avLst/>
          </a:prstGeom>
          <a:solidFill>
            <a:schemeClr val="accent4"/>
          </a:solidFill>
          <a:ln w="19050">
            <a:solidFill>
              <a:schemeClr val="accent4"/>
            </a:solidFill>
            <a:prstDash val="solid"/>
          </a:ln>
        </p:spPr>
      </p:sp>
      <p:sp>
        <p:nvSpPr>
          <p:cNvPr id="10" name="t90"/>
          <p:cNvSpPr txBox="1"/>
          <p:nvPr/>
        </p:nvSpPr>
        <p:spPr>
          <a:xfrm>
            <a:off x="448056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Template game</a:t>
            </a:r>
            <a:endParaRPr lang="en-US" sz="1800" dirty="0"/>
          </a:p>
        </p:txBody>
      </p:sp>
      <p:sp>
        <p:nvSpPr>
          <p:cNvPr id="11" name="t91"/>
          <p:cNvSpPr txBox="1"/>
          <p:nvPr/>
        </p:nvSpPr>
        <p:spPr>
          <a:xfrm>
            <a:off x="448056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Abstract each side to 14 templates. A template says how to split ships North / Center / South, and whether to patrol or assert.</a:t>
            </a:r>
            <a:endParaRPr lang="en-US" sz="1500" dirty="0"/>
          </a:p>
          <a:p>
            <a:pPr indent="0" marL="0">
              <a:buNone/>
            </a:pPr>
            <a:endParaRPr lang="en-US" sz="1500" dirty="0"/>
          </a:p>
          <a:p>
            <a:pPr indent="0" marL="0">
              <a:buNone/>
            </a:pPr>
            <a:r>
              <a:rPr lang="en-US" sz="1500" dirty="0">
                <a:solidFill>
                  <a:schemeClr val="tx1"/>
                </a:solidFill>
              </a:rPr>
              <a:t>A 14×14 strategic-form game</a:t>
            </a:r>
            <a:endParaRPr lang="en-US" sz="1500" dirty="0"/>
          </a:p>
        </p:txBody>
      </p:sp>
      <p:sp>
        <p:nvSpPr>
          <p:cNvPr id="12" name="t92"/>
          <p:cNvSpPr txBox="1"/>
          <p:nvPr/>
        </p:nvSpPr>
        <p:spPr>
          <a:xfrm>
            <a:off x="448056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Solved with iterated elimination of strictly dominated strategies (IESDS), Nash equilibrium, maximin LP, correlated-equilibrium LP</a:t>
            </a:r>
            <a:endParaRPr lang="en-US" sz="1300" dirty="0"/>
          </a:p>
        </p:txBody>
      </p:sp>
      <p:sp>
        <p:nvSpPr>
          <p:cNvPr id="13" name="cd93"/>
          <p:cNvSpPr/>
          <p:nvPr/>
        </p:nvSpPr>
        <p:spPr>
          <a:xfrm>
            <a:off x="8046720" y="1280160"/>
            <a:ext cx="3566160" cy="4206240"/>
          </a:xfrm>
          <a:prstGeom prst="rect">
            <a:avLst/>
          </a:prstGeom>
          <a:solidFill>
            <a:schemeClr val="bg2"/>
          </a:solidFill>
          <a:ln w="19050">
            <a:solidFill>
              <a:schemeClr val="accent2"/>
            </a:solidFill>
            <a:prstDash val="solid"/>
          </a:ln>
        </p:spPr>
      </p:sp>
      <p:sp>
        <p:nvSpPr>
          <p:cNvPr id="14" name="cdh94"/>
          <p:cNvSpPr/>
          <p:nvPr/>
        </p:nvSpPr>
        <p:spPr>
          <a:xfrm>
            <a:off x="8046720" y="1280160"/>
            <a:ext cx="3566160" cy="548640"/>
          </a:xfrm>
          <a:prstGeom prst="rect">
            <a:avLst/>
          </a:prstGeom>
          <a:solidFill>
            <a:schemeClr val="accent2"/>
          </a:solidFill>
          <a:ln w="19050">
            <a:solidFill>
              <a:schemeClr val="accent2"/>
            </a:solidFill>
            <a:prstDash val="solid"/>
          </a:ln>
        </p:spPr>
      </p:sp>
      <p:sp>
        <p:nvSpPr>
          <p:cNvPr id="15" name="t95"/>
          <p:cNvSpPr txBox="1"/>
          <p:nvPr/>
        </p:nvSpPr>
        <p:spPr>
          <a:xfrm>
            <a:off x="822960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Policies we compare</a:t>
            </a:r>
            <a:endParaRPr lang="en-US" sz="1800" dirty="0"/>
          </a:p>
        </p:txBody>
      </p:sp>
      <p:sp>
        <p:nvSpPr>
          <p:cNvPr id="16" name="t96"/>
          <p:cNvSpPr txBox="1"/>
          <p:nvPr/>
        </p:nvSpPr>
        <p:spPr>
          <a:xfrm>
            <a:off x="822960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Random moves</a:t>
            </a:r>
            <a:endParaRPr lang="en-US" sz="1500" dirty="0"/>
          </a:p>
          <a:p>
            <a:pPr indent="0" marL="0">
              <a:buNone/>
            </a:pPr>
            <a:r>
              <a:rPr lang="en-US" sz="1500" dirty="0">
                <a:solidFill>
                  <a:schemeClr val="tx1"/>
                </a:solidFill>
              </a:rPr>
              <a:t>Rule of thumb (rule-based)</a:t>
            </a:r>
            <a:endParaRPr lang="en-US" sz="1500" dirty="0"/>
          </a:p>
          <a:p>
            <a:pPr indent="0" marL="0">
              <a:buNone/>
            </a:pPr>
            <a:r>
              <a:rPr lang="en-US" sz="1500" dirty="0">
                <a:solidFill>
                  <a:schemeClr val="tx1"/>
                </a:solidFill>
              </a:rPr>
              <a:t>Quick best response (greedy)</a:t>
            </a:r>
            <a:endParaRPr lang="en-US" sz="1500" dirty="0"/>
          </a:p>
          <a:p>
            <a:pPr indent="0" marL="0">
              <a:buNone/>
            </a:pPr>
            <a:r>
              <a:rPr lang="en-US" sz="1500" dirty="0">
                <a:solidFill>
                  <a:schemeClr val="tx1"/>
                </a:solidFill>
              </a:rPr>
              <a:t>Best response (MIP)</a:t>
            </a:r>
            <a:endParaRPr lang="en-US" sz="1500" dirty="0"/>
          </a:p>
          <a:p>
            <a:pPr indent="0" marL="0">
              <a:buNone/>
            </a:pPr>
            <a:r>
              <a:rPr lang="en-US" sz="1500" dirty="0">
                <a:solidFill>
                  <a:schemeClr val="tx1"/>
                </a:solidFill>
              </a:rPr>
              <a:t>Nash equilibrium plan (equilibrium)</a:t>
            </a:r>
            <a:endParaRPr lang="en-US" sz="1500" dirty="0"/>
          </a:p>
          <a:p>
            <a:pPr indent="0" marL="0">
              <a:buNone/>
            </a:pPr>
            <a:r>
              <a:rPr lang="en-US" sz="1500" dirty="0">
                <a:solidFill>
                  <a:schemeClr val="tx1"/>
                </a:solidFill>
              </a:rPr>
              <a:t>Safety-first plan (maximin)</a:t>
            </a:r>
            <a:endParaRPr lang="en-US" sz="1500" dirty="0"/>
          </a:p>
        </p:txBody>
      </p:sp>
      <p:sp>
        <p:nvSpPr>
          <p:cNvPr id="17" name="t97"/>
          <p:cNvSpPr txBox="1"/>
          <p:nvPr/>
        </p:nvSpPr>
        <p:spPr>
          <a:xfrm>
            <a:off x="822960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Same random draws and weather for every policy</a:t>
            </a:r>
            <a:endParaRPr lang="en-US" sz="1300" dirty="0"/>
          </a:p>
        </p:txBody>
      </p:sp>
      <p:sp>
        <p:nvSpPr>
          <p:cNvPr id="18" name="tk98"/>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9" name="t99"/>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proposal's strategy types are now one number, ε, inside an optimization (a MIP).</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best-response MIP with an escalation-risk budget</a:t>
            </a:r>
            <a:endParaRPr lang="en-US" sz="2800" dirty="0"/>
          </a:p>
        </p:txBody>
      </p:sp>
      <p:pic>
        <p:nvPicPr>
          <p:cNvPr id="3" name="eq100" descr="/Users/seanbowman/Documents/MIT/Fall26/6.s974/repo/slides/eqs/mip.png">    </p:cNvPr>
          <p:cNvPicPr>
            <a:picLocks noChangeAspect="1"/>
          </p:cNvPicPr>
          <p:nvPr/>
        </p:nvPicPr>
        <p:blipFill>
          <a:blip r:embed="rId1"/>
          <a:stretch>
            <a:fillRect/>
          </a:stretch>
        </p:blipFill>
        <p:spPr>
          <a:xfrm>
            <a:off x="548640" y="1325880"/>
            <a:ext cx="7530541" cy="3437382"/>
          </a:xfrm>
          <a:prstGeom prst="rect">
            <a:avLst/>
          </a:prstGeom>
        </p:spPr>
      </p:pic>
      <p:sp>
        <p:nvSpPr>
          <p:cNvPr id="4" name="t101"/>
          <p:cNvSpPr txBox="1"/>
          <p:nvPr/>
        </p:nvSpPr>
        <p:spPr>
          <a:xfrm>
            <a:off x="548640" y="4946142"/>
            <a:ext cx="7589520" cy="274320"/>
          </a:xfrm>
          <a:prstGeom prst="rect">
            <a:avLst/>
          </a:prstGeom>
          <a:noFill/>
          <a:ln/>
        </p:spPr>
        <p:txBody>
          <a:bodyPr wrap="square" lIns="0" tIns="0" rIns="0" bIns="0" rtlCol="0" anchor="ctr"/>
          <a:lstStyle/>
          <a:p>
            <a:pPr indent="0" marL="0">
              <a:buNone/>
            </a:pPr>
            <a:r>
              <a:rPr lang="en-US" sz="1300" b="1" dirty="0">
                <a:solidFill>
                  <a:schemeClr val="accent1"/>
                </a:solidFill>
              </a:rPr>
              <a:t>Value of an option (control gain minus incident cost)</a:t>
            </a:r>
            <a:endParaRPr lang="en-US" sz="1300" dirty="0"/>
          </a:p>
        </p:txBody>
      </p:sp>
      <p:pic>
        <p:nvPicPr>
          <p:cNvPr id="5" name="eq102" descr="/Users/seanbowman/Documents/MIT/Fall26/6.s974/repo/slides/eqs/option.png">    </p:cNvPr>
          <p:cNvPicPr>
            <a:picLocks noChangeAspect="1"/>
          </p:cNvPicPr>
          <p:nvPr/>
        </p:nvPicPr>
        <p:blipFill>
          <a:blip r:embed="rId2"/>
          <a:stretch>
            <a:fillRect/>
          </a:stretch>
        </p:blipFill>
        <p:spPr>
          <a:xfrm>
            <a:off x="548640" y="5266182"/>
            <a:ext cx="4937760" cy="413309"/>
          </a:xfrm>
          <a:prstGeom prst="rect">
            <a:avLst/>
          </a:prstGeom>
        </p:spPr>
      </p:pic>
      <p:sp>
        <p:nvSpPr>
          <p:cNvPr id="6" name="t103"/>
          <p:cNvSpPr txBox="1"/>
          <p:nvPr/>
        </p:nvSpPr>
        <p:spPr>
          <a:xfrm>
            <a:off x="8412480" y="1325880"/>
            <a:ext cx="3200400" cy="4206240"/>
          </a:xfrm>
          <a:prstGeom prst="rect">
            <a:avLst/>
          </a:prstGeom>
          <a:noFill/>
          <a:ln/>
        </p:spPr>
        <p:txBody>
          <a:bodyPr wrap="square" lIns="0" tIns="0" rIns="0" bIns="0" rtlCol="0" anchor="t"/>
          <a:lstStyle/>
          <a:p>
            <a:pPr marL="342900" indent="-342900">
              <a:spcAft>
                <a:spcPts val="600"/>
              </a:spcAft>
              <a:buSzPct val="100000"/>
              <a:buChar char="•"/>
            </a:pPr>
            <a:r>
              <a:rPr lang="en-US" sz="1300" b="1" dirty="0">
                <a:solidFill>
                  <a:schemeClr val="tx1"/>
                </a:solidFill>
              </a:rPr>
              <a:t>Variables. </a:t>
            </a:r>
            <a:pPr indent="0" marL="0">
              <a:buNone/>
            </a:pPr>
            <a:r>
              <a:rPr lang="en-US" sz="1300" dirty="0">
                <a:solidFill>
                  <a:schemeClr val="tx1"/>
                </a:solidFill>
              </a:rPr>
              <a:t>y = 1 sends free ship j to node w. b = 1 picks option (n, p) for zone v, meaning hull counts n and posture p.</a:t>
            </a:r>
            <a:endParaRPr lang="en-US" sz="1300" dirty="0"/>
          </a:p>
          <a:p>
            <a:pPr marL="342900" indent="-342900">
              <a:spcAft>
                <a:spcPts val="600"/>
              </a:spcAft>
              <a:buSzPct val="100000"/>
              <a:buChar char="•"/>
            </a:pPr>
            <a:r>
              <a:rPr lang="en-US" sz="1300" b="1" dirty="0">
                <a:solidFill>
                  <a:schemeClr val="tx1"/>
                </a:solidFill>
              </a:rPr>
              <a:t>Why options. </a:t>
            </a:r>
            <a:pPr indent="0" marL="0">
              <a:buNone/>
            </a:pPr>
            <a:r>
              <a:rPr lang="en-US" sz="1300" dirty="0">
                <a:solidFill>
                  <a:schemeClr val="tx1"/>
                </a:solidFill>
              </a:rPr>
              <a:t>Control φ and incident risk ρ are nonlinear in ship counts, so each option's value and risk are computed in advance. The program stays linear.</a:t>
            </a:r>
            <a:endParaRPr lang="en-US" sz="1300" dirty="0"/>
          </a:p>
          <a:p>
            <a:pPr marL="342900" indent="-342900">
              <a:spcAft>
                <a:spcPts val="600"/>
              </a:spcAft>
              <a:buSzPct val="100000"/>
              <a:buChar char="•"/>
            </a:pPr>
            <a:r>
              <a:rPr lang="en-US" sz="1300" b="1" dirty="0">
                <a:solidFill>
                  <a:schemeClr val="accent2"/>
                </a:solidFill>
              </a:rPr>
              <a:t>Risk budget. </a:t>
            </a:r>
            <a:pPr indent="0" marL="0">
              <a:buNone/>
            </a:pPr>
            <a:r>
              <a:rPr lang="en-US" sz="1300" dirty="0">
                <a:solidFill>
                  <a:schemeClr val="tx1"/>
                </a:solidFill>
              </a:rPr>
              <a:t>Expected incidents ≤ ε, shrinking to zero as ℓ nears war. ε = 0.05 / 0.15 / 0.40 is conservative / moderate / aggressive.</a:t>
            </a:r>
            <a:endParaRPr lang="en-US" sz="1300" dirty="0"/>
          </a:p>
          <a:p>
            <a:pPr marL="342900" indent="-342900">
              <a:spcAft>
                <a:spcPts val="600"/>
              </a:spcAft>
              <a:buSzPct val="100000"/>
              <a:buChar char="•"/>
            </a:pPr>
            <a:r>
              <a:rPr lang="en-US" sz="1300" b="1" dirty="0">
                <a:solidFill>
                  <a:schemeClr val="tx1"/>
                </a:solidFill>
              </a:rPr>
              <a:t>Slack ξ </a:t>
            </a:r>
            <a:pPr indent="0" marL="0">
              <a:buNone/>
            </a:pPr>
            <a:r>
              <a:rPr lang="en-US" sz="1300" dirty="0">
                <a:solidFill>
                  <a:schemeClr val="tx1"/>
                </a:solidFill>
              </a:rPr>
              <a:t>covers unavoidable risk from forced returns, at a penalty of 1000.</a:t>
            </a:r>
            <a:endParaRPr lang="en-US" sz="1300" dirty="0"/>
          </a:p>
        </p:txBody>
      </p:sp>
      <p:sp>
        <p:nvSpPr>
          <p:cNvPr id="7" name="tk104"/>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105"/>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risk budget ε defines the feasible region. It is how the proposal's commander types enter the model.</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Small example: when does it pay to assert?</a:t>
            </a:r>
            <a:endParaRPr lang="en-US" sz="2800" dirty="0"/>
          </a:p>
        </p:txBody>
      </p:sp>
      <p:graphicFrame>
        <p:nvGraphicFramePr>
          <p:cNvPr id="10" name="chicken"/>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1645920"/>
                <a:gridCol w="1920240"/>
                <a:gridCol w="1920240"/>
              </a:tblGrid>
              <a:tr h="685800">
                <a:tc>
                  <a:txBody>
                    <a:bodyPr/>
                    <a:lstStyle/>
                    <a:p>
                      <a:pPr algn="ctr" indent="0" marL="0">
                        <a:buNone/>
                      </a:pPr>
                      <a:r>
                        <a:rPr lang="en-US" sz="1800" b="1" dirty="0">
                          <a:solidFill>
                            <a:schemeClr val="bg1"/>
                          </a:solidFill>
                        </a:rPr>
                        <a:t>Blue \ Red</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patrols</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asserts</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solidFill>
                      <a:schemeClr val="tx2"/>
                    </a:solidFill>
                  </a:tcPr>
                </a:tc>
              </a:tr>
              <a:tr h="685800">
                <a:tc>
                  <a:txBody>
                    <a:bodyPr/>
                    <a:lstStyle/>
                    <a:p>
                      <a:pPr indent="0" marL="0">
                        <a:buNone/>
                      </a:pPr>
                      <a:r>
                        <a:rPr lang="en-US" sz="1800" b="1" dirty="0">
                          <a:solidFill>
                            <a:srgbClr val="000000"/>
                          </a:solidFill>
                        </a:rPr>
                        <a:t>Blue patrols</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c>
                  <a:txBody>
                    <a:bodyPr/>
                    <a:lstStyle/>
                    <a:p>
                      <a:pPr algn="ctr" indent="0" marL="0">
                        <a:buNone/>
                      </a:pPr>
                      <a:r>
                        <a:rPr lang="en-US" sz="1800" dirty="0">
                          <a:solidFill>
                            <a:srgbClr val="000000"/>
                          </a:solidFill>
                        </a:rPr>
                        <a:t>0 , 0</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c>
                  <a:txBody>
                    <a:bodyPr/>
                    <a:lstStyle/>
                    <a:p>
                      <a:pPr algn="ctr" indent="0" marL="0">
                        <a:buNone/>
                      </a:pPr>
                      <a:r>
                        <a:rPr lang="en-US" sz="1800" dirty="0">
                          <a:solidFill>
                            <a:srgbClr val="000000"/>
                          </a:solidFill>
                        </a:rPr>
                        <a:t>−9.6 , +1.2</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r>
              <a:tr h="685800">
                <a:tc>
                  <a:txBody>
                    <a:bodyPr/>
                    <a:lstStyle/>
                    <a:p>
                      <a:pPr indent="0" marL="0">
                        <a:buNone/>
                      </a:pPr>
                      <a:r>
                        <a:rPr lang="en-US" sz="1800" b="1" dirty="0">
                          <a:solidFill>
                            <a:srgbClr val="000000"/>
                          </a:solidFill>
                        </a:rPr>
                        <a:t>Blue asserts</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c>
                  <a:txBody>
                    <a:bodyPr/>
                    <a:lstStyle/>
                    <a:p>
                      <a:pPr algn="ctr" indent="0" marL="0">
                        <a:buNone/>
                      </a:pPr>
                      <a:r>
                        <a:rPr lang="en-US" sz="1800" dirty="0">
                          <a:solidFill>
                            <a:srgbClr val="000000"/>
                          </a:solidFill>
                        </a:rPr>
                        <a:t>+0.3 , −10.5</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c>
                  <a:txBody>
                    <a:bodyPr/>
                    <a:lstStyle/>
                    <a:p>
                      <a:pPr algn="ctr" indent="0" marL="0">
                        <a:buNone/>
                      </a:pPr>
                      <a:r>
                        <a:rPr lang="en-US" sz="1800" b="1" dirty="0">
                          <a:solidFill>
                            <a:schemeClr val="accent2"/>
                          </a:solidFill>
                        </a:rPr>
                        <a:t>−11.4 , −11.3</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r>
            </a:tbl>
          </a:graphicData>
        </a:graphic>
      </p:graphicFrame>
      <p:sp>
        <p:nvSpPr>
          <p:cNvPr id="4" name="t107"/>
          <p:cNvSpPr txBox="1"/>
          <p:nvPr/>
        </p:nvSpPr>
        <p:spPr>
          <a:xfrm>
            <a:off x="548640" y="3520440"/>
            <a:ext cx="5486400" cy="320040"/>
          </a:xfrm>
          <a:prstGeom prst="rect">
            <a:avLst/>
          </a:prstGeom>
          <a:noFill/>
          <a:ln/>
        </p:spPr>
        <p:txBody>
          <a:bodyPr wrap="square" lIns="0" tIns="0" rIns="0" bIns="0" rtlCol="0" anchor="ctr"/>
          <a:lstStyle/>
          <a:p>
            <a:pPr indent="0" marL="0">
              <a:buNone/>
            </a:pPr>
            <a:r>
              <a:rPr lang="en-US" sz="1200" i="1" dirty="0">
                <a:solidFill>
                  <a:schemeClr val="accent5"/>
                </a:solidFill>
              </a:rPr>
              <a:t>Payoffs (Blue, Red) with force splits fixed, relative to both patrolling</a:t>
            </a:r>
            <a:endParaRPr lang="en-US" sz="1200" dirty="0"/>
          </a:p>
        </p:txBody>
      </p:sp>
      <p:sp>
        <p:nvSpPr>
          <p:cNvPr id="5" name="t108"/>
          <p:cNvSpPr txBox="1"/>
          <p:nvPr/>
        </p:nvSpPr>
        <p:spPr>
          <a:xfrm>
            <a:off x="6400800" y="1371600"/>
            <a:ext cx="5212080" cy="411480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Best reply: </a:t>
            </a:r>
            <a:pPr indent="0" marL="0">
              <a:buNone/>
            </a:pPr>
            <a:r>
              <a:rPr lang="en-US" sz="1700" dirty="0">
                <a:solidFill>
                  <a:schemeClr val="tx1"/>
                </a:solidFill>
              </a:rPr>
              <a:t>assert if the other patrols, patrol if the other asserts. Two pure equilibria, plus a mixed one with mutual assertion 8% of the time and payoffs (−1.30, −6.02).</a:t>
            </a:r>
            <a:endParaRPr lang="en-US" sz="1700" dirty="0"/>
          </a:p>
          <a:p>
            <a:pPr marL="342900" indent="-342900">
              <a:spcAft>
                <a:spcPts val="600"/>
              </a:spcAft>
              <a:buSzPct val="100000"/>
              <a:buChar char="•"/>
            </a:pPr>
            <a:r>
              <a:rPr lang="en-US" sz="1700" b="1" dirty="0">
                <a:solidFill>
                  <a:schemeClr val="tx1"/>
                </a:solidFill>
              </a:rPr>
              <a:t>A mediator helps: </a:t>
            </a:r>
            <a:pPr indent="0" marL="0">
              <a:buNone/>
            </a:pPr>
            <a:r>
              <a:rPr lang="en-US" sz="1700" dirty="0">
                <a:solidFill>
                  <a:schemeClr val="tx1"/>
                </a:solidFill>
              </a:rPr>
              <a:t>the best correlated equilibrium never recommends (assert, assert). A hotline can play that role.</a:t>
            </a:r>
            <a:endParaRPr lang="en-US" sz="1700" dirty="0"/>
          </a:p>
          <a:p>
            <a:pPr marL="342900" indent="-342900">
              <a:spcAft>
                <a:spcPts val="600"/>
              </a:spcAft>
              <a:buSzPct val="100000"/>
              <a:buChar char="•"/>
            </a:pPr>
            <a:r>
              <a:rPr lang="en-US" sz="1700" b="1" dirty="0">
                <a:solidFill>
                  <a:schemeClr val="tx1"/>
                </a:solidFill>
              </a:rPr>
              <a:t>Repetition helps: </a:t>
            </a:r>
            <a:pPr indent="0" marL="0">
              <a:buNone/>
            </a:pPr>
            <a:r>
              <a:rPr lang="en-US" sz="1700" dirty="0">
                <a:solidFill>
                  <a:schemeClr val="tx1"/>
                </a:solidFill>
              </a:rPr>
              <a:t>if both patrol and any assertion makes both fall back to the mixed equilibrium for good, mutual patrolling is a subgame perfect equilibrium for any discount factor above 0.18. Ours is 0.98.</a:t>
            </a:r>
            <a:endParaRPr lang="en-US" sz="1700" dirty="0"/>
          </a:p>
        </p:txBody>
      </p:sp>
      <p:sp>
        <p:nvSpPr>
          <p:cNvPr id="6" name="tk109"/>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7" name="t110"/>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Restraint is not stable in a one-shot encounter, but it can be sustained by repeated play or a coordination device.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prototype: watch a game play out</a:t>
            </a:r>
            <a:endParaRPr lang="en-US" sz="2800" dirty="0"/>
          </a:p>
        </p:txBody>
      </p:sp>
      <p:pic>
        <p:nvPicPr>
          <p:cNvPr id="3" name="img111" descr="/Users/seanbowman/Documents/MIT/Fall26/6.s974/repo/slides/../prototype/results/figures/gui_screenshot.png">    </p:cNvPr>
          <p:cNvPicPr>
            <a:picLocks noChangeAspect="1"/>
          </p:cNvPicPr>
          <p:nvPr/>
        </p:nvPicPr>
        <p:blipFill>
          <a:blip r:embed="rId1"/>
          <a:stretch>
            <a:fillRect/>
          </a:stretch>
        </p:blipFill>
        <p:spPr>
          <a:xfrm>
            <a:off x="548640" y="1325880"/>
            <a:ext cx="6583680" cy="4178808"/>
          </a:xfrm>
          <a:prstGeom prst="rect">
            <a:avLst/>
          </a:prstGeom>
        </p:spPr>
      </p:pic>
      <p:sp>
        <p:nvSpPr>
          <p:cNvPr id="4" name="t112"/>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tx1"/>
                </a:solidFill>
              </a:rPr>
              <a:t>Pick </a:t>
            </a:r>
            <a:pPr indent="0" marL="0">
              <a:buNone/>
            </a:pPr>
            <a:r>
              <a:rPr lang="en-US" sz="1600" dirty="0">
                <a:solidFill>
                  <a:schemeClr val="tx1"/>
                </a:solidFill>
              </a:rPr>
              <a:t>a plan for each side, a design and the weather on the right. Press New game, then Step or Play. Help explains the map.</a:t>
            </a:r>
            <a:endParaRPr lang="en-US" sz="1600" dirty="0"/>
          </a:p>
          <a:p>
            <a:pPr marL="342900" indent="-342900">
              <a:spcAft>
                <a:spcPts val="600"/>
              </a:spcAft>
              <a:buSzPct val="100000"/>
              <a:buChar char="•"/>
            </a:pPr>
            <a:r>
              <a:rPr lang="en-US" sz="1600" b="1" dirty="0">
                <a:solidFill>
                  <a:schemeClr val="tx1"/>
                </a:solidFill>
              </a:rPr>
              <a:t>Zone color </a:t>
            </a:r>
            <a:pPr indent="0" marL="0">
              <a:buNone/>
            </a:pPr>
            <a:r>
              <a:rPr lang="en-US" sz="1600" dirty="0">
                <a:solidFill>
                  <a:schemeClr val="tx1"/>
                </a:solidFill>
              </a:rPr>
              <a:t>shows control. Blue = Blue, red = Red.</a:t>
            </a:r>
            <a:endParaRPr lang="en-US" sz="1600" dirty="0"/>
          </a:p>
          <a:p>
            <a:pPr marL="342900" indent="-342900">
              <a:spcAft>
                <a:spcPts val="600"/>
              </a:spcAft>
              <a:buSzPct val="100000"/>
              <a:buChar char="•"/>
            </a:pPr>
            <a:r>
              <a:rPr lang="en-US" sz="1600" b="1" dirty="0">
                <a:solidFill>
                  <a:schemeClr val="tx1"/>
                </a:solidFill>
              </a:rPr>
              <a:t>B / P / C </a:t>
            </a:r>
            <a:pPr indent="0" marL="0">
              <a:buNone/>
            </a:pPr>
            <a:r>
              <a:rPr lang="en-US" sz="1600" dirty="0">
                <a:solidFill>
                  <a:schemeClr val="tx1"/>
                </a:solidFill>
              </a:rPr>
              <a:t>= destroyers, navy ships, coast guard. Thick outline = asserting.</a:t>
            </a:r>
            <a:endParaRPr lang="en-US" sz="1600" dirty="0"/>
          </a:p>
          <a:p>
            <a:pPr marL="342900" indent="-342900">
              <a:spcAft>
                <a:spcPts val="600"/>
              </a:spcAft>
              <a:buSzPct val="100000"/>
              <a:buChar char="•"/>
            </a:pPr>
            <a:r>
              <a:rPr lang="en-US" sz="1600" b="1" dirty="0">
                <a:solidFill>
                  <a:srgbClr val="E8A33D"/>
                </a:solidFill>
              </a:rPr>
              <a:t>Orange ring </a:t>
            </a:r>
            <a:pPr indent="0" marL="0">
              <a:buNone/>
            </a:pPr>
            <a:r>
              <a:rPr lang="en-US" sz="1600" dirty="0">
                <a:solidFill>
                  <a:schemeClr val="tx1"/>
                </a:solidFill>
              </a:rPr>
              <a:t>= incident. Shaded region = rough sea or storm.</a:t>
            </a:r>
            <a:endParaRPr lang="en-US" sz="1600" dirty="0"/>
          </a:p>
          <a:p>
            <a:pPr marL="342900" indent="-342900">
              <a:spcAft>
                <a:spcPts val="600"/>
              </a:spcAft>
              <a:buSzPct val="100000"/>
              <a:buChar char="•"/>
            </a:pPr>
            <a:r>
              <a:rPr lang="en-US" sz="1600" b="1" dirty="0">
                <a:solidFill>
                  <a:schemeClr val="tx1"/>
                </a:solidFill>
              </a:rPr>
              <a:t>Run many games </a:t>
            </a:r>
            <a:pPr indent="0" marL="0">
              <a:buNone/>
            </a:pPr>
            <a:r>
              <a:rPr lang="en-US" sz="1600" dirty="0">
                <a:solidFill>
                  <a:schemeClr val="tx1"/>
                </a:solidFill>
              </a:rPr>
              <a:t>plays the same setup as many simulated games and reports averages.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Program demo</a:t>
            </a:r>
            <a:endParaRPr lang="en-US" sz="2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RQ1: more risk buys control, up to a point</a:t>
            </a:r>
            <a:endParaRPr lang="en-US" sz="2800" dirty="0"/>
          </a:p>
        </p:txBody>
      </p:sp>
      <p:pic>
        <p:nvPicPr>
          <p:cNvPr id="3" name="img113" descr="/Users/seanbowman/Documents/MIT/Fall26/6.s974/repo/slides/../prototype/results/figures/frontier.png">    </p:cNvPr>
          <p:cNvPicPr>
            <a:picLocks noChangeAspect="1"/>
          </p:cNvPicPr>
          <p:nvPr/>
        </p:nvPicPr>
        <p:blipFill>
          <a:blip r:embed="rId1"/>
          <a:stretch>
            <a:fillRect/>
          </a:stretch>
        </p:blipFill>
        <p:spPr>
          <a:xfrm>
            <a:off x="548640" y="1234440"/>
            <a:ext cx="5486400" cy="3813048"/>
          </a:xfrm>
          <a:prstGeom prst="rect">
            <a:avLst/>
          </a:prstGeom>
        </p:spPr>
      </p:pic>
      <p:graphicFrame>
        <p:nvGraphicFramePr>
          <p:cNvPr id="13" name="riskgame"/>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1463040"/>
                <a:gridCol w="1280160"/>
                <a:gridCol w="1280160"/>
                <a:gridCol w="1280160"/>
              </a:tblGrid>
              <a:tr h="731520">
                <a:tc>
                  <a:txBody>
                    <a:bodyPr/>
                    <a:lstStyle/>
                    <a:p>
                      <a:pPr algn="ctr" indent="0" marL="0">
                        <a:buNone/>
                      </a:pPr>
                      <a:r>
                        <a:rPr lang="en-US" sz="1300" b="1" dirty="0">
                          <a:solidFill>
                            <a:schemeClr val="bg1"/>
                          </a:solidFill>
                        </a:rPr>
                        <a:t>Blue \ Red</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Cons. 0.05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Mod. 0.15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Aggr. 0.40</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r>
              <a:tr h="731520">
                <a:tc>
                  <a:txBody>
                    <a:bodyPr/>
                    <a:lstStyle/>
                    <a:p>
                      <a:pPr indent="0" marL="0">
                        <a:buNone/>
                      </a:pPr>
                      <a:r>
                        <a:rPr lang="en-US" sz="1300" b="1" dirty="0">
                          <a:solidFill>
                            <a:srgbClr val="000000"/>
                          </a:solidFill>
                        </a:rPr>
                        <a:t>Cons. 0.05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−194, 199</a:t>
                      </a:r>
                      <a:endParaRPr lang="en-US" sz="1300" dirty="0"/>
                    </a:p>
                    <a:p>
                      <a:pPr algn="ctr" indent="0" marL="0">
                        <a:buNone/>
                      </a:pPr>
                      <a:r>
                        <a:rPr lang="en-US" sz="1300" dirty="0">
                          <a:solidFill>
                            <a:schemeClr val="tx1"/>
                          </a:solidFill>
                        </a:rPr>
                        <a:t>war 10%</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−303, 315</a:t>
                      </a:r>
                      <a:endParaRPr lang="en-US" sz="1300" dirty="0"/>
                    </a:p>
                    <a:p>
                      <a:pPr algn="ctr" indent="0" marL="0">
                        <a:buNone/>
                      </a:pPr>
                      <a:r>
                        <a:rPr lang="en-US" sz="1300" dirty="0">
                          <a:solidFill>
                            <a:schemeClr val="tx1"/>
                          </a:solidFill>
                        </a:rPr>
                        <a:t>war 11%</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−308, 318</a:t>
                      </a:r>
                      <a:endParaRPr lang="en-US" sz="1300" dirty="0"/>
                    </a:p>
                    <a:p>
                      <a:pPr algn="ctr" indent="0" marL="0">
                        <a:buNone/>
                      </a:pPr>
                      <a:r>
                        <a:rPr lang="en-US" sz="1300" dirty="0">
                          <a:solidFill>
                            <a:schemeClr val="tx1"/>
                          </a:solidFill>
                        </a:rPr>
                        <a:t>war 12%</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731520">
                <a:tc>
                  <a:txBody>
                    <a:bodyPr/>
                    <a:lstStyle/>
                    <a:p>
                      <a:pPr indent="0" marL="0">
                        <a:buNone/>
                      </a:pPr>
                      <a:r>
                        <a:rPr lang="en-US" sz="1300" b="1" dirty="0">
                          <a:solidFill>
                            <a:srgbClr val="000000"/>
                          </a:solidFill>
                        </a:rPr>
                        <a:t>Mod. 0.15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18, −36</a:t>
                      </a:r>
                      <a:endParaRPr lang="en-US" sz="1300" dirty="0"/>
                    </a:p>
                    <a:p>
                      <a:pPr algn="ctr" indent="0" marL="0">
                        <a:buNone/>
                      </a:pPr>
                      <a:r>
                        <a:rPr lang="en-US" sz="1300" dirty="0">
                          <a:solidFill>
                            <a:schemeClr val="tx1"/>
                          </a:solidFill>
                        </a:rPr>
                        <a:t>war 15%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−144, 101</a:t>
                      </a:r>
                      <a:endParaRPr lang="en-US" sz="1300" dirty="0"/>
                    </a:p>
                    <a:p>
                      <a:pPr algn="ctr" indent="0" marL="0">
                        <a:buNone/>
                      </a:pPr>
                      <a:r>
                        <a:rPr lang="en-US" sz="1300" dirty="0">
                          <a:solidFill>
                            <a:schemeClr val="tx1"/>
                          </a:solidFill>
                        </a:rPr>
                        <a:t>war 20%</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−192, 140</a:t>
                      </a:r>
                      <a:endParaRPr lang="en-US" sz="1300" dirty="0"/>
                    </a:p>
                    <a:p>
                      <a:pPr algn="ctr" indent="0" marL="0">
                        <a:buNone/>
                      </a:pPr>
                      <a:r>
                        <a:rPr lang="en-US" sz="1300" dirty="0">
                          <a:solidFill>
                            <a:schemeClr val="tx1"/>
                          </a:solidFill>
                        </a:rPr>
                        <a:t>war 21%</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731520">
                <a:tc>
                  <a:txBody>
                    <a:bodyPr/>
                    <a:lstStyle/>
                    <a:p>
                      <a:pPr indent="0" marL="0">
                        <a:buNone/>
                      </a:pPr>
                      <a:r>
                        <a:rPr lang="en-US" sz="1300" b="1" dirty="0">
                          <a:solidFill>
                            <a:srgbClr val="000000"/>
                          </a:solidFill>
                        </a:rPr>
                        <a:t>Aggr. 0.40</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74, −80</a:t>
                      </a:r>
                      <a:endParaRPr lang="en-US" sz="1300" dirty="0"/>
                    </a:p>
                    <a:p>
                      <a:pPr algn="ctr" indent="0" marL="0">
                        <a:buNone/>
                      </a:pPr>
                      <a:r>
                        <a:rPr lang="en-US" sz="1300" dirty="0">
                          <a:solidFill>
                            <a:schemeClr val="tx1"/>
                          </a:solidFill>
                        </a:rPr>
                        <a:t>war 14%</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−83, 16</a:t>
                      </a:r>
                      <a:endParaRPr lang="en-US" sz="1300" dirty="0"/>
                    </a:p>
                    <a:p>
                      <a:pPr algn="ctr" indent="0" marL="0">
                        <a:buNone/>
                      </a:pPr>
                      <a:r>
                        <a:rPr lang="en-US" sz="1300" dirty="0">
                          <a:solidFill>
                            <a:schemeClr val="tx1"/>
                          </a:solidFill>
                        </a:rPr>
                        <a:t>war 25%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b="1" dirty="0">
                          <a:solidFill>
                            <a:schemeClr val="accent2"/>
                          </a:solidFill>
                        </a:rPr>
                        <a:t>−151, 39</a:t>
                      </a:r>
                      <a:endParaRPr lang="en-US" sz="1300" dirty="0"/>
                    </a:p>
                    <a:p>
                      <a:pPr algn="ctr" indent="0" marL="0">
                        <a:buNone/>
                      </a:pPr>
                      <a:r>
                        <a:rPr lang="en-US" sz="1300" b="1" dirty="0">
                          <a:solidFill>
                            <a:schemeClr val="accent2"/>
                          </a:solidFill>
                        </a:rPr>
                        <a:t>war 34%</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bl>
          </a:graphicData>
        </a:graphic>
      </p:graphicFrame>
      <p:sp>
        <p:nvSpPr>
          <p:cNvPr id="5" name="t115"/>
          <p:cNvSpPr txBox="1"/>
          <p:nvPr/>
        </p:nvSpPr>
        <p:spPr>
          <a:xfrm>
            <a:off x="6309360" y="4434840"/>
            <a:ext cx="5303520" cy="457200"/>
          </a:xfrm>
          <a:prstGeom prst="rect">
            <a:avLst/>
          </a:prstGeom>
          <a:noFill/>
          <a:ln/>
        </p:spPr>
        <p:txBody>
          <a:bodyPr wrap="square" lIns="0" tIns="0" rIns="0" bIns="0" rtlCol="0" anchor="ctr"/>
          <a:lstStyle/>
          <a:p>
            <a:pPr indent="0" marL="0">
              <a:buNone/>
            </a:pPr>
            <a:r>
              <a:rPr lang="en-US" sz="1200" i="1" dirty="0">
                <a:solidFill>
                  <a:schemeClr val="accent5"/>
                </a:solidFill>
              </a:rPr>
              <a:t>Risk-budget game. Each side picks ε. Payoffs (Blue, Red) and war rate. Gold bold = the only equilibrium.</a:t>
            </a:r>
            <a:endParaRPr lang="en-US" sz="1200" dirty="0"/>
          </a:p>
        </p:txBody>
      </p:sp>
      <p:sp>
        <p:nvSpPr>
          <p:cNvPr id="6" name="t116"/>
          <p:cNvSpPr txBox="1"/>
          <p:nvPr/>
        </p:nvSpPr>
        <p:spPr>
          <a:xfrm>
            <a:off x="548640" y="5074920"/>
            <a:ext cx="5486400" cy="457200"/>
          </a:xfrm>
          <a:prstGeom prst="rect">
            <a:avLst/>
          </a:prstGeom>
          <a:noFill/>
          <a:ln/>
        </p:spPr>
        <p:txBody>
          <a:bodyPr wrap="square" lIns="0" tIns="0" rIns="0" bIns="0" rtlCol="0" anchor="ctr"/>
          <a:lstStyle/>
          <a:p>
            <a:pPr indent="0" marL="0">
              <a:buNone/>
            </a:pPr>
            <a:r>
              <a:rPr lang="en-US" sz="1300" dirty="0">
                <a:solidFill>
                  <a:schemeClr val="accent5"/>
                </a:solidFill>
              </a:rPr>
              <a:t>Raising Blue's budget from 0.02 to 0.15 lifts its control a lot. Beyond 0.25 it barely moves.</a:t>
            </a:r>
            <a:endParaRPr lang="en-US" sz="1300" dirty="0"/>
          </a:p>
        </p:txBody>
      </p:sp>
      <p:sp>
        <p:nvSpPr>
          <p:cNvPr id="7" name="tk11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11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choose aggressive (−151, 39), yet both do better at moderate (−144, 101). That is a prisoner's dilemma.</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RQ2: the Nash equilibrium plan is the safest bet against any Red</a:t>
            </a:r>
            <a:endParaRPr lang="en-US" sz="2800" dirty="0"/>
          </a:p>
        </p:txBody>
      </p:sp>
      <p:graphicFrame>
        <p:nvGraphicFramePr>
          <p:cNvPr id="3" name="rq2chart" descr=""/>
          <p:cNvGraphicFramePr/>
          <p:nvPr/>
        </p:nvGraphicFramePr>
        <p:xfrm>
          <a:off x="548640" y="123444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t120"/>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accent4"/>
                </a:solidFill>
              </a:rPr>
              <a:t>Nash equilibrium plan </a:t>
            </a:r>
            <a:pPr indent="0" marL="0">
              <a:buNone/>
            </a:pPr>
            <a:r>
              <a:rPr lang="en-US" sz="1600" dirty="0">
                <a:solidFill>
                  <a:schemeClr val="tx1"/>
                </a:solidFill>
              </a:rPr>
              <a:t>has the best worst case (−116) and half the war rate of the MIP best response against the same opponent (10% vs 20%).</a:t>
            </a:r>
            <a:endParaRPr lang="en-US" sz="1600" dirty="0"/>
          </a:p>
          <a:p>
            <a:pPr marL="342900" indent="-342900">
              <a:spcAft>
                <a:spcPts val="600"/>
              </a:spcAft>
              <a:buSzPct val="100000"/>
              <a:buChar char="•"/>
            </a:pPr>
            <a:r>
              <a:rPr lang="en-US" sz="1600" b="1" dirty="0">
                <a:solidFill>
                  <a:schemeClr val="accent1"/>
                </a:solidFill>
              </a:rPr>
              <a:t>Best responses </a:t>
            </a:r>
            <a:pPr indent="0" marL="0">
              <a:buNone/>
            </a:pPr>
            <a:r>
              <a:rPr lang="en-US" sz="1600" dirty="0">
                <a:solidFill>
                  <a:schemeClr val="tx1"/>
                </a:solidFill>
              </a:rPr>
              <a:t>(quick and MIP) win against weak opponents but escalate more.</a:t>
            </a:r>
            <a:endParaRPr lang="en-US" sz="1600" dirty="0"/>
          </a:p>
          <a:p>
            <a:pPr marL="342900" indent="-342900">
              <a:spcAft>
                <a:spcPts val="600"/>
              </a:spcAft>
              <a:buSzPct val="100000"/>
              <a:buChar char="•"/>
            </a:pPr>
            <a:r>
              <a:rPr lang="en-US" sz="1600" b="1" dirty="0">
                <a:solidFill>
                  <a:schemeClr val="tx1"/>
                </a:solidFill>
              </a:rPr>
              <a:t>Safety-first plan </a:t>
            </a:r>
            <a:pPr indent="0" marL="0">
              <a:buNone/>
            </a:pPr>
            <a:r>
              <a:rPr lang="en-US" sz="1600" dirty="0">
                <a:solidFill>
                  <a:schemeClr val="tx1"/>
                </a:solidFill>
              </a:rPr>
              <a:t>is the most cautious (war ≤ 8%) but gives up the most control.</a:t>
            </a:r>
            <a:endParaRPr lang="en-US" sz="1600" dirty="0"/>
          </a:p>
          <a:p>
            <a:pPr marL="342900" indent="-342900">
              <a:spcAft>
                <a:spcPts val="600"/>
              </a:spcAft>
              <a:buSzPct val="100000"/>
              <a:buChar char="•"/>
            </a:pPr>
            <a:r>
              <a:rPr lang="en-US" sz="1600" b="1" dirty="0">
                <a:solidFill>
                  <a:schemeClr val="tx1"/>
                </a:solidFill>
              </a:rPr>
              <a:t>Quick vs MIP: </a:t>
            </a:r>
            <a:pPr indent="0" marL="0">
              <a:buNone/>
            </a:pPr>
            <a:r>
              <a:rPr lang="en-US" sz="1600" dirty="0">
                <a:solidFill>
                  <a:schemeClr val="tx1"/>
                </a:solidFill>
              </a:rPr>
              <a:t>the quick heuristic matches the MIP 67% of the time but breaks the risk budget 14% of the time.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RQ3: the best strategy holds up in bad weather</a:t>
            </a:r>
            <a:endParaRPr lang="en-US" sz="2800" dirty="0"/>
          </a:p>
        </p:txBody>
      </p:sp>
      <p:pic>
        <p:nvPicPr>
          <p:cNvPr id="3" name="img121" descr="/Users/seanbowman/Documents/MIT/Fall26/6.s974/repo/slides/../prototype/results/figures/weather.png">    </p:cNvPr>
          <p:cNvPicPr>
            <a:picLocks noChangeAspect="1"/>
          </p:cNvPicPr>
          <p:nvPr/>
        </p:nvPicPr>
        <p:blipFill>
          <a:blip r:embed="rId1"/>
          <a:stretch>
            <a:fillRect/>
          </a:stretch>
        </p:blipFill>
        <p:spPr>
          <a:xfrm>
            <a:off x="548640" y="1234440"/>
            <a:ext cx="5394960" cy="3593592"/>
          </a:xfrm>
          <a:prstGeom prst="rect">
            <a:avLst/>
          </a:prstGeom>
        </p:spPr>
      </p:pic>
      <p:sp>
        <p:nvSpPr>
          <p:cNvPr id="4" name="t122"/>
          <p:cNvSpPr txBox="1"/>
          <p:nvPr/>
        </p:nvSpPr>
        <p:spPr>
          <a:xfrm>
            <a:off x="548640" y="4892040"/>
            <a:ext cx="5394960" cy="685800"/>
          </a:xfrm>
          <a:prstGeom prst="rect">
            <a:avLst/>
          </a:prstGeom>
          <a:noFill/>
          <a:ln/>
        </p:spPr>
        <p:txBody>
          <a:bodyPr wrap="square" lIns="0" tIns="0" rIns="0" bIns="0" rtlCol="0" anchor="ctr"/>
          <a:lstStyle/>
          <a:p>
            <a:pPr indent="0" marL="0">
              <a:buNone/>
            </a:pPr>
            <a:r>
              <a:rPr lang="en-US" sz="1300" dirty="0">
                <a:solidFill>
                  <a:schemeClr val="accent5"/>
                </a:solidFill>
              </a:rPr>
              <a:t>Rough seas weaken Red's coast guard hulls and storms pause operations, so most policies do slightly worse in calm seas. The top two plans stay on top in every scenario.</a:t>
            </a:r>
            <a:endParaRPr lang="en-US" sz="1300" dirty="0"/>
          </a:p>
        </p:txBody>
      </p:sp>
      <p:graphicFrame>
        <p:nvGraphicFramePr>
          <p:cNvPr id="5" name="rq3chart" descr=""/>
          <p:cNvGraphicFramePr/>
          <p:nvPr/>
        </p:nvGraphicFramePr>
        <p:xfrm>
          <a:off x="6217920" y="1234440"/>
          <a:ext cx="5394960" cy="3291840"/>
        </p:xfrm>
        <a:graphic xmlns:a="http://schemas.openxmlformats.org/drawingml/2006/main">
          <a:graphicData uri="http://schemas.openxmlformats.org/drawingml/2006/chart">
            <c:chart xmlns:c="http://schemas.openxmlformats.org/drawingml/2006/chart" r:id="rId2"/>
          </a:graphicData>
        </a:graphic>
      </p:graphicFrame>
      <p:sp>
        <p:nvSpPr>
          <p:cNvPr id="6" name="t124"/>
          <p:cNvSpPr txBox="1"/>
          <p:nvPr/>
        </p:nvSpPr>
        <p:spPr>
          <a:xfrm>
            <a:off x="6217920" y="4572000"/>
            <a:ext cx="5394960" cy="365760"/>
          </a:xfrm>
          <a:prstGeom prst="rect">
            <a:avLst/>
          </a:prstGeom>
          <a:noFill/>
          <a:ln/>
        </p:spPr>
        <p:txBody>
          <a:bodyPr wrap="square" lIns="0" tIns="0" rIns="0" bIns="0" rtlCol="0" anchor="ctr"/>
          <a:lstStyle/>
          <a:p>
            <a:pPr indent="0" marL="0">
              <a:buNone/>
            </a:pPr>
            <a:r>
              <a:rPr lang="en-US" sz="1300" dirty="0">
                <a:solidFill>
                  <a:schemeClr val="accent5"/>
                </a:solidFill>
              </a:rPr>
              <a:t>War rate in normal weather is D0 20%, D1 28%, D2 23%, D3 5%. De-escalation measures were given no cost yet.</a:t>
            </a:r>
            <a:endParaRPr lang="en-US" sz="1300" dirty="0"/>
          </a:p>
        </p:txBody>
      </p:sp>
      <p:sp>
        <p:nvSpPr>
          <p:cNvPr id="7" name="tk125"/>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126"/>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plan that is best on average is also best in the worst weather. De-escalation measures are the best design and cut war about 4×.</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What the evidence does and does not show</a:t>
            </a:r>
            <a:endParaRPr lang="en-US" sz="2800" dirty="0"/>
          </a:p>
        </p:txBody>
      </p:sp>
      <p:sp>
        <p:nvSpPr>
          <p:cNvPr id="3" name="cv127"/>
          <p:cNvSpPr/>
          <p:nvPr/>
        </p:nvSpPr>
        <p:spPr>
          <a:xfrm>
            <a:off x="548640" y="1280160"/>
            <a:ext cx="5394960" cy="548640"/>
          </a:xfrm>
          <a:prstGeom prst="rect">
            <a:avLst/>
          </a:prstGeom>
          <a:solidFill>
            <a:schemeClr val="accent4"/>
          </a:solidFill>
          <a:ln w="12700">
            <a:solidFill>
              <a:schemeClr val="accent4"/>
            </a:solidFill>
            <a:prstDash val="solid"/>
          </a:ln>
        </p:spPr>
      </p:sp>
      <p:sp>
        <p:nvSpPr>
          <p:cNvPr id="4" name="t128"/>
          <p:cNvSpPr txBox="1"/>
          <p:nvPr/>
        </p:nvSpPr>
        <p:spPr>
          <a:xfrm>
            <a:off x="73152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Supported</a:t>
            </a:r>
            <a:endParaRPr lang="en-US" sz="1800" dirty="0"/>
          </a:p>
        </p:txBody>
      </p:sp>
      <p:sp>
        <p:nvSpPr>
          <p:cNvPr id="5" name="t129"/>
          <p:cNvSpPr txBox="1"/>
          <p:nvPr/>
        </p:nvSpPr>
        <p:spPr>
          <a:xfrm>
            <a:off x="64008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Loosening the risk budget has sharply diminishing returns</a:t>
            </a:r>
            <a:endParaRPr lang="en-US" sz="1600" dirty="0"/>
          </a:p>
          <a:p>
            <a:pPr marL="342900" indent="-342900">
              <a:spcAft>
                <a:spcPts val="600"/>
              </a:spcAft>
              <a:buSzPct val="100000"/>
              <a:buChar char="•"/>
            </a:pPr>
            <a:r>
              <a:rPr lang="en-US" sz="1600" dirty="0">
                <a:solidFill>
                  <a:schemeClr val="tx1"/>
                </a:solidFill>
              </a:rPr>
              <a:t>Left alone, both sides loosen their budgets (prisoner's dilemma)</a:t>
            </a:r>
            <a:endParaRPr lang="en-US" sz="1600" dirty="0"/>
          </a:p>
          <a:p>
            <a:pPr marL="342900" indent="-342900">
              <a:spcAft>
                <a:spcPts val="600"/>
              </a:spcAft>
              <a:buSzPct val="100000"/>
              <a:buChar char="•"/>
            </a:pPr>
            <a:r>
              <a:rPr lang="en-US" sz="1600" dirty="0">
                <a:solidFill>
                  <a:schemeClr val="tx1"/>
                </a:solidFill>
              </a:rPr>
              <a:t>Restraint can be an equilibrium of the repeated game</a:t>
            </a:r>
            <a:endParaRPr lang="en-US" sz="1600" dirty="0"/>
          </a:p>
          <a:p>
            <a:pPr marL="342900" indent="-342900">
              <a:spcAft>
                <a:spcPts val="600"/>
              </a:spcAft>
              <a:buSzPct val="100000"/>
              <a:buChar char="•"/>
            </a:pPr>
            <a:r>
              <a:rPr lang="en-US" sz="1600" dirty="0">
                <a:solidFill>
                  <a:schemeClr val="tx1"/>
                </a:solidFill>
              </a:rPr>
              <a:t>The Nash equilibrium plan is the most robust Blue policy here</a:t>
            </a:r>
            <a:endParaRPr lang="en-US" sz="1600" dirty="0"/>
          </a:p>
          <a:p>
            <a:pPr marL="342900" indent="-342900">
              <a:spcAft>
                <a:spcPts val="600"/>
              </a:spcAft>
              <a:buSzPct val="100000"/>
              <a:buChar char="•"/>
            </a:pPr>
            <a:r>
              <a:rPr lang="en-US" sz="1600" dirty="0">
                <a:solidFill>
                  <a:schemeClr val="tx1"/>
                </a:solidFill>
              </a:rPr>
              <a:t>De-escalation measures are a joint gain under every weather scenario</a:t>
            </a:r>
            <a:endParaRPr lang="en-US" sz="1600" dirty="0"/>
          </a:p>
        </p:txBody>
      </p:sp>
      <p:sp>
        <p:nvSpPr>
          <p:cNvPr id="6" name="cv130"/>
          <p:cNvSpPr/>
          <p:nvPr/>
        </p:nvSpPr>
        <p:spPr>
          <a:xfrm>
            <a:off x="6217920" y="1280160"/>
            <a:ext cx="5394960" cy="548640"/>
          </a:xfrm>
          <a:prstGeom prst="rect">
            <a:avLst/>
          </a:prstGeom>
          <a:solidFill>
            <a:schemeClr val="accent2"/>
          </a:solidFill>
          <a:ln w="12700">
            <a:solidFill>
              <a:schemeClr val="accent2"/>
            </a:solidFill>
            <a:prstDash val="solid"/>
          </a:ln>
        </p:spPr>
      </p:sp>
      <p:sp>
        <p:nvSpPr>
          <p:cNvPr id="7" name="t131"/>
          <p:cNvSpPr txBox="1"/>
          <p:nvPr/>
        </p:nvSpPr>
        <p:spPr>
          <a:xfrm>
            <a:off x="640080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Not yet shown</a:t>
            </a:r>
            <a:endParaRPr lang="en-US" sz="1800" dirty="0"/>
          </a:p>
        </p:txBody>
      </p:sp>
      <p:sp>
        <p:nvSpPr>
          <p:cNvPr id="8" name="t132"/>
          <p:cNvSpPr txBox="1"/>
          <p:nvPr/>
        </p:nvSpPr>
        <p:spPr>
          <a:xfrm>
            <a:off x="630936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All numbers are assumptions, not calibrated to data</a:t>
            </a:r>
            <a:endParaRPr lang="en-US" sz="1600" dirty="0"/>
          </a:p>
          <a:p>
            <a:pPr marL="342900" indent="-342900">
              <a:spcAft>
                <a:spcPts val="600"/>
              </a:spcAft>
              <a:buSzPct val="100000"/>
              <a:buChar char="•"/>
            </a:pPr>
            <a:r>
              <a:rPr lang="en-US" sz="1600" dirty="0">
                <a:solidFill>
                  <a:schemeClr val="tx1"/>
                </a:solidFill>
              </a:rPr>
              <a:t>Policies look only one period ahead</a:t>
            </a:r>
            <a:endParaRPr lang="en-US" sz="1600" dirty="0"/>
          </a:p>
          <a:p>
            <a:pPr marL="342900" indent="-342900">
              <a:spcAft>
                <a:spcPts val="600"/>
              </a:spcAft>
              <a:buSzPct val="100000"/>
              <a:buChar char="•"/>
            </a:pPr>
            <a:r>
              <a:rPr lang="en-US" sz="1600" dirty="0">
                <a:solidFill>
                  <a:schemeClr val="tx1"/>
                </a:solidFill>
              </a:rPr>
              <a:t>War penalty may be too small. The top-payoff policy also has the most wars</a:t>
            </a:r>
            <a:endParaRPr lang="en-US" sz="1600" dirty="0"/>
          </a:p>
          <a:p>
            <a:pPr marL="342900" indent="-342900">
              <a:spcAft>
                <a:spcPts val="600"/>
              </a:spcAft>
              <a:buSzPct val="100000"/>
              <a:buChar char="•"/>
            </a:pPr>
            <a:r>
              <a:rPr lang="en-US" sz="1600" dirty="0">
                <a:solidFill>
                  <a:schemeClr val="tx1"/>
                </a:solidFill>
              </a:rPr>
              <a:t>De-escalation measures have no cost yet, so part of their win is built in</a:t>
            </a:r>
            <a:endParaRPr lang="en-US" sz="1600" dirty="0"/>
          </a:p>
          <a:p>
            <a:pPr marL="342900" indent="-342900">
              <a:spcAft>
                <a:spcPts val="600"/>
              </a:spcAft>
              <a:buSzPct val="100000"/>
              <a:buChar char="•"/>
            </a:pPr>
            <a:r>
              <a:rPr lang="en-US" sz="1600" dirty="0">
                <a:solidFill>
                  <a:schemeClr val="tx1"/>
                </a:solidFill>
              </a:rPr>
              <a:t>Differences under about 20 payoff points are ties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Plan for Workshop 2</a:t>
            </a:r>
            <a:endParaRPr lang="en-US" sz="2800" dirty="0"/>
          </a:p>
        </p:txBody>
      </p:sp>
      <p:sp>
        <p:nvSpPr>
          <p:cNvPr id="3" name="tp133"/>
          <p:cNvSpPr/>
          <p:nvPr/>
        </p:nvSpPr>
        <p:spPr>
          <a:xfrm>
            <a:off x="731520" y="1691640"/>
            <a:ext cx="457200" cy="457200"/>
          </a:xfrm>
          <a:prstGeom prst="ellipse">
            <a:avLst/>
          </a:prstGeom>
          <a:solidFill>
            <a:schemeClr val="accent1"/>
          </a:solidFill>
          <a:ln/>
        </p:spPr>
      </p:sp>
      <p:sp>
        <p:nvSpPr>
          <p:cNvPr id="4" name="t134"/>
          <p:cNvSpPr txBox="1"/>
          <p:nvPr/>
        </p:nvSpPr>
        <p:spPr>
          <a:xfrm>
            <a:off x="54864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Model</a:t>
            </a:r>
            <a:endParaRPr lang="en-US" sz="1600" dirty="0"/>
          </a:p>
        </p:txBody>
      </p:sp>
      <p:sp>
        <p:nvSpPr>
          <p:cNvPr id="5" name="t135"/>
          <p:cNvSpPr txBox="1"/>
          <p:nvPr/>
        </p:nvSpPr>
        <p:spPr>
          <a:xfrm>
            <a:off x="54864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Beliefs, weather, budget</a:t>
            </a:r>
            <a:endParaRPr lang="en-US" sz="1800" dirty="0"/>
          </a:p>
        </p:txBody>
      </p:sp>
      <p:sp>
        <p:nvSpPr>
          <p:cNvPr id="6" name="t136"/>
          <p:cNvSpPr txBox="1"/>
          <p:nvPr/>
        </p:nvSpPr>
        <p:spPr>
          <a:xfrm>
            <a:off x="54864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Bayesian beliefs and multi-period best response. Sensitivity analysis on V, h, W and μ. Calendar-based weather from real data. Reformulate the movement budget Fᵢ with considerations for oilers.</a:t>
            </a:r>
            <a:endParaRPr lang="en-US" sz="1500" dirty="0"/>
          </a:p>
        </p:txBody>
      </p:sp>
      <p:sp>
        <p:nvSpPr>
          <p:cNvPr id="7" name="tp137"/>
          <p:cNvSpPr/>
          <p:nvPr/>
        </p:nvSpPr>
        <p:spPr>
          <a:xfrm>
            <a:off x="3520440" y="1691640"/>
            <a:ext cx="457200" cy="457200"/>
          </a:xfrm>
          <a:prstGeom prst="ellipse">
            <a:avLst/>
          </a:prstGeom>
          <a:solidFill>
            <a:schemeClr val="accent1"/>
          </a:solidFill>
          <a:ln/>
        </p:spPr>
      </p:sp>
      <p:sp>
        <p:nvSpPr>
          <p:cNvPr id="8" name="t138"/>
          <p:cNvSpPr txBox="1"/>
          <p:nvPr/>
        </p:nvSpPr>
        <p:spPr>
          <a:xfrm>
            <a:off x="333756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Learning</a:t>
            </a:r>
            <a:endParaRPr lang="en-US" sz="1600" dirty="0"/>
          </a:p>
        </p:txBody>
      </p:sp>
      <p:sp>
        <p:nvSpPr>
          <p:cNvPr id="9" name="t139"/>
          <p:cNvSpPr txBox="1"/>
          <p:nvPr/>
        </p:nvSpPr>
        <p:spPr>
          <a:xfrm>
            <a:off x="333756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Learning agents</a:t>
            </a:r>
            <a:endParaRPr lang="en-US" sz="1800" dirty="0"/>
          </a:p>
        </p:txBody>
      </p:sp>
      <p:sp>
        <p:nvSpPr>
          <p:cNvPr id="10" name="t140"/>
          <p:cNvSpPr txBox="1"/>
          <p:nvPr/>
        </p:nvSpPr>
        <p:spPr>
          <a:xfrm>
            <a:off x="333756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A Red agent that learns from repeated play, and other learning methods. Do they converge, drift toward restraint, and exploit rule-based Blue?</a:t>
            </a:r>
            <a:endParaRPr lang="en-US" sz="1500" dirty="0"/>
          </a:p>
        </p:txBody>
      </p:sp>
      <p:sp>
        <p:nvSpPr>
          <p:cNvPr id="11" name="tp141"/>
          <p:cNvSpPr/>
          <p:nvPr/>
        </p:nvSpPr>
        <p:spPr>
          <a:xfrm>
            <a:off x="6309360" y="1691640"/>
            <a:ext cx="457200" cy="457200"/>
          </a:xfrm>
          <a:prstGeom prst="ellipse">
            <a:avLst/>
          </a:prstGeom>
          <a:solidFill>
            <a:schemeClr val="accent1"/>
          </a:solidFill>
          <a:ln/>
        </p:spPr>
      </p:sp>
      <p:sp>
        <p:nvSpPr>
          <p:cNvPr id="12" name="t142"/>
          <p:cNvSpPr txBox="1"/>
          <p:nvPr/>
        </p:nvSpPr>
        <p:spPr>
          <a:xfrm>
            <a:off x="612648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Attacks</a:t>
            </a:r>
            <a:endParaRPr lang="en-US" sz="1600" dirty="0"/>
          </a:p>
        </p:txBody>
      </p:sp>
      <p:sp>
        <p:nvSpPr>
          <p:cNvPr id="13" name="t143"/>
          <p:cNvSpPr txBox="1"/>
          <p:nvPr/>
        </p:nvSpPr>
        <p:spPr>
          <a:xfrm>
            <a:off x="612648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Attacks and defenses</a:t>
            </a:r>
            <a:endParaRPr lang="en-US" sz="1800" dirty="0"/>
          </a:p>
        </p:txBody>
      </p:sp>
      <p:sp>
        <p:nvSpPr>
          <p:cNvPr id="14" name="t144"/>
          <p:cNvSpPr txBox="1"/>
          <p:nvPr/>
        </p:nvSpPr>
        <p:spPr>
          <a:xfrm>
            <a:off x="612648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Coast guard blockade at SCB and STS, jamming that halves Blue's detection in one region, and false contacts. A Red attacker that reacts to Blue's posture. Randomized patrols, D1 and D2 as defenses.</a:t>
            </a:r>
            <a:endParaRPr lang="en-US" sz="1500" dirty="0"/>
          </a:p>
        </p:txBody>
      </p:sp>
      <p:sp>
        <p:nvSpPr>
          <p:cNvPr id="15" name="tp145"/>
          <p:cNvSpPr/>
          <p:nvPr/>
        </p:nvSpPr>
        <p:spPr>
          <a:xfrm>
            <a:off x="9098280" y="1691640"/>
            <a:ext cx="457200" cy="457200"/>
          </a:xfrm>
          <a:prstGeom prst="ellipse">
            <a:avLst/>
          </a:prstGeom>
          <a:solidFill>
            <a:schemeClr val="accent1"/>
          </a:solidFill>
          <a:ln/>
        </p:spPr>
      </p:sp>
      <p:sp>
        <p:nvSpPr>
          <p:cNvPr id="16" name="t146"/>
          <p:cNvSpPr txBox="1"/>
          <p:nvPr/>
        </p:nvSpPr>
        <p:spPr>
          <a:xfrm>
            <a:off x="891540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Designs</a:t>
            </a:r>
            <a:endParaRPr lang="en-US" sz="1600" dirty="0"/>
          </a:p>
        </p:txBody>
      </p:sp>
      <p:sp>
        <p:nvSpPr>
          <p:cNvPr id="17" name="t147"/>
          <p:cNvSpPr txBox="1"/>
          <p:nvPr/>
        </p:nvSpPr>
        <p:spPr>
          <a:xfrm>
            <a:off x="891540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Resilient designs</a:t>
            </a:r>
            <a:endParaRPr lang="en-US" sz="1800" dirty="0"/>
          </a:p>
        </p:txBody>
      </p:sp>
      <p:sp>
        <p:nvSpPr>
          <p:cNvPr id="18" name="t148"/>
          <p:cNvSpPr txBox="1"/>
          <p:nvPr/>
        </p:nvSpPr>
        <p:spPr>
          <a:xfrm>
            <a:off x="891540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D0 to D3 and combinations under attack and a long typhoon. A cost for D3.</a:t>
            </a:r>
            <a:endParaRPr lang="en-US" sz="1500" dirty="0"/>
          </a:p>
        </p:txBody>
      </p:sp>
      <p:sp>
        <p:nvSpPr>
          <p:cNvPr id="19" name="tk149"/>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0" name="t150"/>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Workshop 2 adds better beliefs and weather, learning agents, attacks and defenses, and costed designs.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Navy and Gold">
      <a:dk1>
        <a:srgbClr val="1A2233"/>
      </a:dk1>
      <a:lt1>
        <a:srgbClr val="FFFFFF"/>
      </a:lt1>
      <a:dk2>
        <a:srgbClr val="0B1F3A"/>
      </a:dk2>
      <a:lt2>
        <a:srgbClr val="F6F1E2"/>
      </a:lt2>
      <a:accent1>
        <a:srgbClr val="1D3E72"/>
      </a:accent1>
      <a:accent2>
        <a:srgbClr val="A97C14"/>
      </a:accent2>
      <a:accent3>
        <a:srgbClr val="D4AF37"/>
      </a:accent3>
      <a:accent4>
        <a:srgbClr val="B8901E"/>
      </a:accent4>
      <a:accent5>
        <a:srgbClr val="5E6B7D"/>
      </a:accent5>
      <a:accent6>
        <a:srgbClr val="A9B8CC"/>
      </a:accent6>
      <a:hlink>
        <a:srgbClr val="1D3E72"/>
      </a:hlink>
      <a:folHlink>
        <a:srgbClr val="5E6B7D"/>
      </a:folHlink>
    </a:clrScheme>
    <a:fontScheme name="Office">
      <a:majorFont>
        <a:latin typeface="Franklin Gothic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ranklin Gothic Boo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Gray-Zone Maritime Control: Workshop 1</dc:title>
  <dc:subject>PptxGenJS Presentation</dc:subject>
  <dc:creator>Sean Bowman, Tate Murphy, Matthew Newell</dc:creator>
  <cp:lastModifiedBy>Sean Bowman, Tate Murphy, Matthew Newell</cp:lastModifiedBy>
  <cp:revision>1</cp:revision>
  <dcterms:created xsi:type="dcterms:W3CDTF">2026-10-27T03:13:29Z</dcterms:created>
  <dcterms:modified xsi:type="dcterms:W3CDTF">2026-10-27T03:13:29Z</dcterms:modified>
</cp:coreProperties>
</file>