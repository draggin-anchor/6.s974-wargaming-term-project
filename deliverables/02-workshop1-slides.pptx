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fbe3ec4-8020-b131-25f0-b670e24e2bf3}">
          <p14:sldIdLst>
            <p14:sldId id="256"/>
            <p14:sldId id="257"/>
            <p14:sldId id="258"/>
          </p14:sldIdLst>
        </p14:section>
        <p14:section name="Model" id="{50465000-f2f7-f02c-a98d-4cc76d50dd65}">
          <p14:sldIdLst>
            <p14:sldId id="259"/>
            <p14:sldId id="260"/>
          </p14:sldIdLst>
        </p14:section>
        <p14:section name="Results" id="{0d4d7b2c-8def-66d2-44e1-402d25f4ee21}">
          <p14:sldIdLst>
            <p14:sldId id="261"/>
            <p14:sldId id="262"/>
            <p14:sldId id="263"/>
            <p14:sldId id="264"/>
            <p14:sldId id="265"/>
            <p14:sldId id="266"/>
          </p14:sldIdLst>
        </p14:section>
        <p14:section name="Next steps" id="{01a5634c-46eb-07d1-27d4-cf729a40bd8f}">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we cover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asks this. Each side caps the incident risk it accepts per period. How much control does more risk buy, how much likelier does war become, and what cap does each side pick when the other is picking too? RQ2 asks whether a side that plans with game theory beat one that follows simple rules, and can both sides stay at patrol over many periods, because asserting once would end the truce and push both into riskier play from then on? RQ3 comes from Prof. Sapsis's comment. Does the best plan or Blue redesign in normal weather stay best across calm, typhoon and extreme weather scenarios, on average and in the worst scenario? The table maps each piece of Deliverable 1 feedback to what we changed. The main change is that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On the left, each turn a player solves a mixed-integer program (MIP) to pick moves, with a cap on expected incidents, epsilon. This answers the feedback that Q1 is a feasible region. In the middle, for equilibrium analysis we shrink each side to 14 templates and solve the 14-by-14 game exactly. On the right are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so each side only chooses patrol or assert. In the table, asserting against a patroller pays a little, but if both assert, both lose more than 11. So the best reply is to do the opposite of the other side. That is an anti-coordination game. There are two fixes. First, a correlated equilibrium, which a mediator or hotline can implement, never recommends both asserting. Second,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and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On the left, Blue loosens its risk budget while Red stays moderate. Control rises fast up to about 0.15, then flattens, while war risk keeps rising. On the right, both sides choose a budget. Aggressive is the best reply to anything, for both, so the only equilibrium is aggressive-aggressive, with the highest war rate, 34%. Both would do better at moderate-moderate. Blue gets −144 instead of −151, Red gets 101 instead of 39, and war falls to 20%.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On the left, the policy ranking does not change across weather. The top two plans stay on top. Bad weather slightly helps Blue here, because rough seas weaken Red's coast-guard hulls. On the right, of the three redesigns, de-escalation measures are best on average and in the worst case, and cut war about four times.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show. Values are assumptions, policies look one turn ahead, the war rate depends heavily on a few parameters, and the de-escalation result is partly built in. A sensitivity sweep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Bayesian beliefs, weather scenarios tied to the calendar with odds from climatology data, and the three Red attacks already coded. We also decide whether to keep the theater-wide movement budget, which stands in for operational requirements and station-keeping. Then learning agents. Does a learning Red exploit predictable Blue play? Then redesigns under attack and long typhoons, with a cost for de-escalation measures. Final report December 8.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0-1.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 descr="/home/claude/6.S974-Wargaming-Term-Project/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2"/>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3"/>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Asserting means shadowing, close maneuvering, or querying and warning. For the U.S. it also covers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it also maintains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4"/>
          <p:cNvSpPr/>
          <p:nvPr/>
        </p:nvSpPr>
        <p:spPr>
          <a:xfrm>
            <a:off x="548640" y="1325880"/>
            <a:ext cx="731520" cy="731520"/>
          </a:xfrm>
          <a:prstGeom prst="ellipse">
            <a:avLst/>
          </a:prstGeom>
          <a:solidFill>
            <a:schemeClr val="accent1"/>
          </a:solidFill>
          <a:ln/>
        </p:spPr>
      </p:sp>
      <p:sp>
        <p:nvSpPr>
          <p:cNvPr id="4" name="t5"/>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6"/>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7"/>
          <p:cNvSpPr/>
          <p:nvPr/>
        </p:nvSpPr>
        <p:spPr>
          <a:xfrm>
            <a:off x="548640" y="2788920"/>
            <a:ext cx="731520" cy="731520"/>
          </a:xfrm>
          <a:prstGeom prst="ellipse">
            <a:avLst/>
          </a:prstGeom>
          <a:solidFill>
            <a:schemeClr val="accent1"/>
          </a:solidFill>
          <a:ln/>
        </p:spPr>
      </p:sp>
      <p:sp>
        <p:nvSpPr>
          <p:cNvPr id="7" name="t8"/>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9"/>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planning with game theory (best responses, equilibrium or maximin plans) beat simple rules or random moves? Can both sides stay at patrol over many periods, because asserting once would end the truce and push both into riskier play from then on?</a:t>
            </a:r>
            <a:endParaRPr lang="en-US" sz="1600" dirty="0"/>
          </a:p>
        </p:txBody>
      </p:sp>
      <p:sp>
        <p:nvSpPr>
          <p:cNvPr id="9" name="c10"/>
          <p:cNvSpPr/>
          <p:nvPr/>
        </p:nvSpPr>
        <p:spPr>
          <a:xfrm>
            <a:off x="548640" y="4251960"/>
            <a:ext cx="731520" cy="731520"/>
          </a:xfrm>
          <a:prstGeom prst="ellipse">
            <a:avLst/>
          </a:prstGeom>
          <a:solidFill>
            <a:schemeClr val="accent1"/>
          </a:solidFill>
          <a:ln/>
        </p:spPr>
      </p:sp>
      <p:sp>
        <p:nvSpPr>
          <p:cNvPr id="10" name="t11"/>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12"/>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4"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plus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scored by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14"/>
          <p:cNvSpPr/>
          <p:nvPr/>
        </p:nvSpPr>
        <p:spPr>
          <a:xfrm>
            <a:off x="548640" y="1280160"/>
            <a:ext cx="457200" cy="457200"/>
          </a:xfrm>
          <a:prstGeom prst="ellipse">
            <a:avLst/>
          </a:prstGeom>
          <a:solidFill>
            <a:schemeClr val="accent4"/>
          </a:solidFill>
          <a:ln/>
        </p:spPr>
      </p:sp>
      <p:sp>
        <p:nvSpPr>
          <p:cNvPr id="4" name="t15"/>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16"/>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17"/>
          <p:cNvSpPr/>
          <p:nvPr/>
        </p:nvSpPr>
        <p:spPr>
          <a:xfrm>
            <a:off x="548640" y="1883664"/>
            <a:ext cx="457200" cy="457200"/>
          </a:xfrm>
          <a:prstGeom prst="ellipse">
            <a:avLst/>
          </a:prstGeom>
          <a:solidFill>
            <a:schemeClr val="accent1"/>
          </a:solidFill>
          <a:ln/>
        </p:spPr>
      </p:sp>
      <p:sp>
        <p:nvSpPr>
          <p:cNvPr id="7" name="t18"/>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19"/>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20"/>
          <p:cNvSpPr/>
          <p:nvPr/>
        </p:nvSpPr>
        <p:spPr>
          <a:xfrm>
            <a:off x="548640" y="2487168"/>
            <a:ext cx="457200" cy="457200"/>
          </a:xfrm>
          <a:prstGeom prst="ellipse">
            <a:avLst/>
          </a:prstGeom>
          <a:solidFill>
            <a:schemeClr val="accent1"/>
          </a:solidFill>
          <a:ln/>
        </p:spPr>
      </p:sp>
      <p:sp>
        <p:nvSpPr>
          <p:cNvPr id="10" name="t21"/>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22"/>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23"/>
          <p:cNvSpPr/>
          <p:nvPr/>
        </p:nvSpPr>
        <p:spPr>
          <a:xfrm>
            <a:off x="548640" y="3090672"/>
            <a:ext cx="457200" cy="457200"/>
          </a:xfrm>
          <a:prstGeom prst="ellipse">
            <a:avLst/>
          </a:prstGeom>
          <a:solidFill>
            <a:schemeClr val="accent1"/>
          </a:solidFill>
          <a:ln/>
        </p:spPr>
      </p:sp>
      <p:sp>
        <p:nvSpPr>
          <p:cNvPr id="13" name="t24"/>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25"/>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26"/>
          <p:cNvSpPr/>
          <p:nvPr/>
        </p:nvSpPr>
        <p:spPr>
          <a:xfrm>
            <a:off x="548640" y="3694176"/>
            <a:ext cx="457200" cy="457200"/>
          </a:xfrm>
          <a:prstGeom prst="ellipse">
            <a:avLst/>
          </a:prstGeom>
          <a:solidFill>
            <a:schemeClr val="accent1"/>
          </a:solidFill>
          <a:ln/>
        </p:spPr>
      </p:sp>
      <p:sp>
        <p:nvSpPr>
          <p:cNvPr id="16" name="t27"/>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28"/>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29"/>
          <p:cNvSpPr/>
          <p:nvPr/>
        </p:nvSpPr>
        <p:spPr>
          <a:xfrm>
            <a:off x="548640" y="4297680"/>
            <a:ext cx="457200" cy="457200"/>
          </a:xfrm>
          <a:prstGeom prst="ellipse">
            <a:avLst/>
          </a:prstGeom>
          <a:solidFill>
            <a:schemeClr val="accent2"/>
          </a:solidFill>
          <a:ln/>
        </p:spPr>
      </p:sp>
      <p:sp>
        <p:nvSpPr>
          <p:cNvPr id="19" name="t30"/>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31"/>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The escalation level moves</a:t>
            </a:r>
            <a:endParaRPr lang="en-US" sz="1600" dirty="0"/>
          </a:p>
        </p:txBody>
      </p:sp>
      <p:sp>
        <p:nvSpPr>
          <p:cNvPr id="21" name="st32"/>
          <p:cNvSpPr/>
          <p:nvPr/>
        </p:nvSpPr>
        <p:spPr>
          <a:xfrm>
            <a:off x="548640" y="4901184"/>
            <a:ext cx="457200" cy="457200"/>
          </a:xfrm>
          <a:prstGeom prst="ellipse">
            <a:avLst/>
          </a:prstGeom>
          <a:solidFill>
            <a:schemeClr val="accent1"/>
          </a:solidFill>
          <a:ln/>
        </p:spPr>
      </p:sp>
      <p:sp>
        <p:nvSpPr>
          <p:cNvPr id="22" name="t33"/>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34"/>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The game stops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36"/>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3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3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39"/>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40"/>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41"/>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42"/>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43"/>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44"/>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45"/>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46"/>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47"/>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A template says how to split ships North / Center / South, and whether to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48"/>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49"/>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50"/>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51"/>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52"/>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53"/>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54"/>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55"/>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7"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57"/>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58"/>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5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6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61" descr="/home/claude/6.S974-Wargaming-Term-Project/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62"/>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63" descr="/home/claude/6.S974-Wargaming-Term-Project/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9"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Conservative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Moderate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Aggressive</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65"/>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Payoffs (Blue, Red) and war rate. Red bold = the only equilibrium.</a:t>
            </a:r>
            <a:endParaRPr lang="en-US" sz="1200" dirty="0"/>
          </a:p>
        </p:txBody>
      </p:sp>
      <p:sp>
        <p:nvSpPr>
          <p:cNvPr id="6" name="t66"/>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67"/>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68"/>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sides choose aggressive (war 34%), yet both do better at moderate (war 20%). That is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70"/>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71" descr="/home/claude/6.S974-Wargaming-Term-Project/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72"/>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74"/>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in normal weather is D0 20%, D1 28%, D2 23%, D3 5%. De-escalation measures were given no cost yet.</a:t>
            </a:r>
            <a:endParaRPr lang="en-US" sz="1300" dirty="0"/>
          </a:p>
        </p:txBody>
      </p:sp>
      <p:sp>
        <p:nvSpPr>
          <p:cNvPr id="7" name="tk75"/>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76"/>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77"/>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78"/>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79"/>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80"/>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81"/>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82"/>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l"/>
          <p:cNvSpPr/>
          <p:nvPr/>
        </p:nvSpPr>
        <p:spPr>
          <a:xfrm>
            <a:off x="914400" y="1920240"/>
            <a:ext cx="10332720" cy="0"/>
          </a:xfrm>
          <a:prstGeom prst="line">
            <a:avLst/>
          </a:prstGeom>
          <a:noFill/>
          <a:ln w="38100">
            <a:solidFill>
              <a:schemeClr val="accent6"/>
            </a:solidFill>
            <a:prstDash val="solid"/>
          </a:ln>
        </p:spPr>
      </p:sp>
      <p:sp>
        <p:nvSpPr>
          <p:cNvPr id="4" name="tp84"/>
          <p:cNvSpPr/>
          <p:nvPr/>
        </p:nvSpPr>
        <p:spPr>
          <a:xfrm>
            <a:off x="731520" y="1691640"/>
            <a:ext cx="457200" cy="457200"/>
          </a:xfrm>
          <a:prstGeom prst="ellipse">
            <a:avLst/>
          </a:prstGeom>
          <a:solidFill>
            <a:schemeClr val="accent1"/>
          </a:solidFill>
          <a:ln/>
        </p:spPr>
      </p:sp>
      <p:sp>
        <p:nvSpPr>
          <p:cNvPr id="5" name="t85"/>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3</a:t>
            </a:r>
            <a:endParaRPr lang="en-US" sz="1600" dirty="0"/>
          </a:p>
        </p:txBody>
      </p:sp>
      <p:sp>
        <p:nvSpPr>
          <p:cNvPr id="6" name="t86"/>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and attacks</a:t>
            </a:r>
            <a:endParaRPr lang="en-US" sz="1800" dirty="0"/>
          </a:p>
        </p:txBody>
      </p:sp>
      <p:sp>
        <p:nvSpPr>
          <p:cNvPr id="7" name="t87"/>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about enemy positions. Weather tied to the calendar (typhoon season, winter monsoon) with odds from climatology data. Test the three coded Red attacks (blockade, jamming, false contacts). Decide whether to keep the movement budget</a:t>
            </a:r>
            <a:endParaRPr lang="en-US" sz="1500" dirty="0"/>
          </a:p>
        </p:txBody>
      </p:sp>
      <p:sp>
        <p:nvSpPr>
          <p:cNvPr id="8" name="tp88"/>
          <p:cNvSpPr/>
          <p:nvPr/>
        </p:nvSpPr>
        <p:spPr>
          <a:xfrm>
            <a:off x="3520440" y="1691640"/>
            <a:ext cx="457200" cy="457200"/>
          </a:xfrm>
          <a:prstGeom prst="ellipse">
            <a:avLst/>
          </a:prstGeom>
          <a:solidFill>
            <a:schemeClr val="accent1"/>
          </a:solidFill>
          <a:ln/>
        </p:spPr>
      </p:sp>
      <p:sp>
        <p:nvSpPr>
          <p:cNvPr id="9" name="t89"/>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Nov 17</a:t>
            </a:r>
            <a:endParaRPr lang="en-US" sz="1600" dirty="0"/>
          </a:p>
        </p:txBody>
      </p:sp>
      <p:sp>
        <p:nvSpPr>
          <p:cNvPr id="10" name="t90"/>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a:t>
            </a:r>
            <a:endParaRPr lang="en-US" sz="1800" dirty="0"/>
          </a:p>
        </p:txBody>
      </p:sp>
      <p:sp>
        <p:nvSpPr>
          <p:cNvPr id="11" name="t91"/>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Red agents that learn from experience. Do they exploit predictable Blue play? An attacker that moves after seeing Blue</a:t>
            </a:r>
            <a:endParaRPr lang="en-US" sz="1500" dirty="0"/>
          </a:p>
        </p:txBody>
      </p:sp>
      <p:sp>
        <p:nvSpPr>
          <p:cNvPr id="12" name="tp92"/>
          <p:cNvSpPr/>
          <p:nvPr/>
        </p:nvSpPr>
        <p:spPr>
          <a:xfrm>
            <a:off x="6309360" y="1691640"/>
            <a:ext cx="457200" cy="457200"/>
          </a:xfrm>
          <a:prstGeom prst="ellipse">
            <a:avLst/>
          </a:prstGeom>
          <a:solidFill>
            <a:schemeClr val="accent1"/>
          </a:solidFill>
          <a:ln/>
        </p:spPr>
      </p:sp>
      <p:sp>
        <p:nvSpPr>
          <p:cNvPr id="13" name="t93"/>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1</a:t>
            </a:r>
            <a:endParaRPr lang="en-US" sz="1600" dirty="0"/>
          </a:p>
        </p:txBody>
      </p:sp>
      <p:sp>
        <p:nvSpPr>
          <p:cNvPr id="14" name="t94"/>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Redesign</a:t>
            </a:r>
            <a:endParaRPr lang="en-US" sz="1800" dirty="0"/>
          </a:p>
        </p:txBody>
      </p:sp>
      <p:sp>
        <p:nvSpPr>
          <p:cNvPr id="15" name="t95"/>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Designs and combinations under attacks, persistent weather and a rare long typhoon. A cost for de-escalation measures</a:t>
            </a:r>
            <a:endParaRPr lang="en-US" sz="1500" dirty="0"/>
          </a:p>
        </p:txBody>
      </p:sp>
      <p:sp>
        <p:nvSpPr>
          <p:cNvPr id="16" name="tp96"/>
          <p:cNvSpPr/>
          <p:nvPr/>
        </p:nvSpPr>
        <p:spPr>
          <a:xfrm>
            <a:off x="9098280" y="1691640"/>
            <a:ext cx="457200" cy="457200"/>
          </a:xfrm>
          <a:prstGeom prst="ellipse">
            <a:avLst/>
          </a:prstGeom>
          <a:solidFill>
            <a:schemeClr val="accent2"/>
          </a:solidFill>
          <a:ln/>
        </p:spPr>
      </p:sp>
      <p:sp>
        <p:nvSpPr>
          <p:cNvPr id="17" name="t97"/>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Dec 8</a:t>
            </a:r>
            <a:endParaRPr lang="en-US" sz="1600" dirty="0"/>
          </a:p>
        </p:txBody>
      </p:sp>
      <p:sp>
        <p:nvSpPr>
          <p:cNvPr id="18" name="t98"/>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Report</a:t>
            </a:r>
            <a:endParaRPr lang="en-US" sz="1800" dirty="0"/>
          </a:p>
        </p:txBody>
      </p:sp>
      <p:sp>
        <p:nvSpPr>
          <p:cNvPr id="19" name="t99"/>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Final report and presentation</a:t>
            </a:r>
            <a:endParaRPr lang="en-US" sz="1500" dirty="0"/>
          </a:p>
        </p:txBody>
      </p:sp>
      <p:sp>
        <p:nvSpPr>
          <p:cNvPr id="20" name="tk100"/>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1" name="t101"/>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Next come learning, attacks and defenses, and resilient design, in that order.</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2026-10-26T23:22:37Z</dcterms:created>
  <dcterms:modified xsi:type="dcterms:W3CDTF">2026-10-26T23:22:37Z</dcterms:modified>
</cp:coreProperties>
</file>