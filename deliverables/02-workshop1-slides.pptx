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07dbc1d-72ea-44c6-2f52-84dd377087bc}">
          <p14:sldIdLst>
            <p14:sldId id="256"/>
            <p14:sldId id="257"/>
            <p14:sldId id="258"/>
          </p14:sldIdLst>
        </p14:section>
        <p14:section name="Model" id="{fcf0c830-cdd8-efaf-cac2-1f8051ccaa94}">
          <p14:sldIdLst>
            <p14:sldId id="259"/>
            <p14:sldId id="260"/>
          </p14:sldIdLst>
        </p14:section>
        <p14:section name="Results" id="{d5b0d74e-8311-1a51-3a74-11fc5c36e075}">
          <p14:sldIdLst>
            <p14:sldId id="261"/>
            <p14:sldId id="262"/>
            <p14:sldId id="263"/>
            <p14:sldId id="264"/>
            <p14:sldId id="265"/>
            <p14:sldId id="266"/>
          </p14:sldIdLst>
        </p14:section>
        <p14:section name="Next steps" id="{fae0b144-61f2-6719-a30d-507ad040953a}">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6B7A8F"/>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6B7A8F"/>
              </a:solidFill>
              <a:effectLst/>
            </c:spPr>
          </c:dPt>
          <c:dPt>
            <c:idx val="1"/>
            <c:invertIfNegative val="0"/>
            <c:bubble3D val="0"/>
            <c:spPr>
              <a:solidFill>
                <a:srgbClr val="6B7A8F"/>
              </a:solidFill>
              <a:effectLst/>
            </c:spPr>
          </c:dPt>
          <c:dPt>
            <c:idx val="2"/>
            <c:invertIfNegative val="0"/>
            <c:bubble3D val="0"/>
            <c:spPr>
              <a:solidFill>
                <a:srgbClr val="6B7A8F"/>
              </a:solidFill>
              <a:effectLst/>
            </c:spPr>
          </c:dPt>
          <c:dPt>
            <c:idx val="3"/>
            <c:invertIfNegative val="0"/>
            <c:bubble3D val="0"/>
            <c:spPr>
              <a:solidFill>
                <a:srgbClr val="1F4E9C"/>
              </a:solidFill>
              <a:effectLst/>
            </c:spPr>
          </c:dPt>
          <c:dPt>
            <c:idx val="4"/>
            <c:invertIfNegative val="0"/>
            <c:bubble3D val="0"/>
            <c:spPr>
              <a:solidFill>
                <a:srgbClr val="1F4E9C"/>
              </a:solidFill>
              <a:effectLst/>
            </c:spPr>
          </c:dPt>
          <c:dPt>
            <c:idx val="5"/>
            <c:invertIfNegative val="0"/>
            <c:bubble3D val="0"/>
            <c:spPr>
              <a:solidFill>
                <a:srgbClr val="13807A"/>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F4E9C"/>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B23A4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each side caps the incident risk it accepts per period; how much control does more risk buy, how much likelier does war become, and what cap does each side pick when the other is picking too? RQ2: does a side that plans with game theory beat one that follows simple rules, and can both sides stay at patrol over many periods, because asserting once would end the truce and push both into riskier play from then on? RQ3, from Prof. Sapsis's comment: does the best plan or Blue redesign in normal weather stay best across calm, typhoon and extreme weather scenarios, on average and in the worst scenario? The table maps each piece of Deliverable 1 feedback to what we changed. The main one: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Left: each turn a player solves a mixed-integer program (MIP) to pick moves, with a cap on expected incidents, epsilon. This answers the feedback that Q1 is a feasible region. Middle: for equilibrium analysis we shrink each side to 14 templates and solve the 14-by-14 game exactly. Right: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each side only chooses patrol or assert. Read the table: asserting against a patroller pays a little, but if both assert, both lose more than 11. So the best reply is to do the opposite of the other side: an anti-coordination game. Two fixes: a correlated equilibrium, which is what a mediator or hotline can implement, never recommends both asserting; and in the repeated game, grim trigger (both patrol; after any assertion, both switch to the mixed equilibrium for good)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Blue loosens its risk budget while Red stays moderate. Control rises fast up to about 0.15, then flattens, while war risk keeps rising. Right: both sides choose a budget. Aggressive is the best reply to anything, for both, so the only equilibrium is aggressive-aggressive, with the highest war rate, 34%.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within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Left: the policy ranking does not change across weather; the top two plans stay on top. Bad weather slightly helps Blue here, because rough seas weaken Red's coast-guard hulls. Right: of the three redesigns, de-escalation measures are best on average and in the worst case, and cut war about four times. Caveat: we gave them no cost yet, and they also help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values are assumptions, policies look one turn ahead, the war rate depends heavily on a few parameters, and the de-escalation result is partly built in. A sensitivity sweep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plan. First, Bayesian beliefs, weather scenarios tied to the calendar with odds from climatology data, and the three Red attacks already coded; we also decide whether to keep the theater-wide movement budget, which stands in for operational requirements and station-keeping. Then learning agents: does a learning Red exploit predictable Blue play? Then redesigns under attack and long typhoons, with a cost for de-escalation measures. Final report December 8.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nchor="b"/>
          <a:lstStyle/>
          <a:p>
            <a:pPr indent="0" marL="0">
              <a:buNone/>
            </a:pPr>
            <a:r>
              <a:rPr lang="en-US" sz="4000" b="1" dirty="0">
                <a:solidFill>
                  <a:schemeClr val="bg1"/>
                </a:solidFill>
              </a:rPr>
              <a:t>Gray-Zone Maritime Control in the First Island Chain</a:t>
            </a: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accent6"/>
                </a:solidFill>
              </a:rPr>
              <a:t>A networked escalation game  |  Workshop 1</a:t>
            </a:r>
            <a:endParaRPr lang="en-US" sz="1800" dirty="0"/>
          </a:p>
          <a:p>
            <a:pPr indent="0" marL="0">
              <a:buNone/>
            </a:pPr>
            <a:r>
              <a:rPr lang="en-US" sz="1800" dirty="0">
                <a:solidFill>
                  <a:schemeClr val="accent6"/>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 descr="/home/claude/6.S974-Wargaming-Term-Project/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2"/>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3"/>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shadowing, close maneuvering, querying and warning; for the U.S. also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4"/>
          <p:cNvSpPr/>
          <p:nvPr/>
        </p:nvSpPr>
        <p:spPr>
          <a:xfrm>
            <a:off x="548640" y="1325880"/>
            <a:ext cx="731520" cy="731520"/>
          </a:xfrm>
          <a:prstGeom prst="ellipse">
            <a:avLst/>
          </a:prstGeom>
          <a:solidFill>
            <a:schemeClr val="accent1"/>
          </a:solidFill>
          <a:ln/>
        </p:spPr>
      </p:sp>
      <p:sp>
        <p:nvSpPr>
          <p:cNvPr id="4" name="t5"/>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6"/>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7"/>
          <p:cNvSpPr/>
          <p:nvPr/>
        </p:nvSpPr>
        <p:spPr>
          <a:xfrm>
            <a:off x="548640" y="2788920"/>
            <a:ext cx="731520" cy="731520"/>
          </a:xfrm>
          <a:prstGeom prst="ellipse">
            <a:avLst/>
          </a:prstGeom>
          <a:solidFill>
            <a:schemeClr val="accent1"/>
          </a:solidFill>
          <a:ln/>
        </p:spPr>
      </p:sp>
      <p:sp>
        <p:nvSpPr>
          <p:cNvPr id="7" name="t8"/>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9"/>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planning with game theory (best responses, equilibrium or maximin plans) beat simple rules or random moves? Can both sides stay at patrol over many periods, because asserting once would end the truce and push both into riskier play from then on?</a:t>
            </a:r>
            <a:endParaRPr lang="en-US" sz="1600" dirty="0"/>
          </a:p>
        </p:txBody>
      </p:sp>
      <p:sp>
        <p:nvSpPr>
          <p:cNvPr id="9" name="c10"/>
          <p:cNvSpPr/>
          <p:nvPr/>
        </p:nvSpPr>
        <p:spPr>
          <a:xfrm>
            <a:off x="548640" y="4251960"/>
            <a:ext cx="731520" cy="731520"/>
          </a:xfrm>
          <a:prstGeom prst="ellipse">
            <a:avLst/>
          </a:prstGeom>
          <a:solidFill>
            <a:schemeClr val="accent1"/>
          </a:solidFill>
          <a:ln/>
        </p:spPr>
      </p:sp>
      <p:sp>
        <p:nvSpPr>
          <p:cNvPr id="10" name="t11"/>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12"/>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4"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Analytical results; 77 setups × 200 simulated games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Weather scenarios; expected and worst-case payoff</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14"/>
          <p:cNvSpPr/>
          <p:nvPr/>
        </p:nvSpPr>
        <p:spPr>
          <a:xfrm>
            <a:off x="548640" y="1280160"/>
            <a:ext cx="457200" cy="457200"/>
          </a:xfrm>
          <a:prstGeom prst="ellipse">
            <a:avLst/>
          </a:prstGeom>
          <a:solidFill>
            <a:schemeClr val="accent4"/>
          </a:solidFill>
          <a:ln/>
        </p:spPr>
      </p:sp>
      <p:sp>
        <p:nvSpPr>
          <p:cNvPr id="4" name="t15"/>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16"/>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17"/>
          <p:cNvSpPr/>
          <p:nvPr/>
        </p:nvSpPr>
        <p:spPr>
          <a:xfrm>
            <a:off x="548640" y="1883664"/>
            <a:ext cx="457200" cy="457200"/>
          </a:xfrm>
          <a:prstGeom prst="ellipse">
            <a:avLst/>
          </a:prstGeom>
          <a:solidFill>
            <a:schemeClr val="accent1"/>
          </a:solidFill>
          <a:ln/>
        </p:spPr>
      </p:sp>
      <p:sp>
        <p:nvSpPr>
          <p:cNvPr id="7" name="t18"/>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19"/>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20"/>
          <p:cNvSpPr/>
          <p:nvPr/>
        </p:nvSpPr>
        <p:spPr>
          <a:xfrm>
            <a:off x="548640" y="2487168"/>
            <a:ext cx="457200" cy="457200"/>
          </a:xfrm>
          <a:prstGeom prst="ellipse">
            <a:avLst/>
          </a:prstGeom>
          <a:solidFill>
            <a:schemeClr val="accent1"/>
          </a:solidFill>
          <a:ln/>
        </p:spPr>
      </p:sp>
      <p:sp>
        <p:nvSpPr>
          <p:cNvPr id="10" name="t21"/>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22"/>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23"/>
          <p:cNvSpPr/>
          <p:nvPr/>
        </p:nvSpPr>
        <p:spPr>
          <a:xfrm>
            <a:off x="548640" y="3090672"/>
            <a:ext cx="457200" cy="457200"/>
          </a:xfrm>
          <a:prstGeom prst="ellipse">
            <a:avLst/>
          </a:prstGeom>
          <a:solidFill>
            <a:schemeClr val="accent1"/>
          </a:solidFill>
          <a:ln/>
        </p:spPr>
      </p:sp>
      <p:sp>
        <p:nvSpPr>
          <p:cNvPr id="13" name="t24"/>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25"/>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26"/>
          <p:cNvSpPr/>
          <p:nvPr/>
        </p:nvSpPr>
        <p:spPr>
          <a:xfrm>
            <a:off x="548640" y="3694176"/>
            <a:ext cx="457200" cy="457200"/>
          </a:xfrm>
          <a:prstGeom prst="ellipse">
            <a:avLst/>
          </a:prstGeom>
          <a:solidFill>
            <a:schemeClr val="accent1"/>
          </a:solidFill>
          <a:ln/>
        </p:spPr>
      </p:sp>
      <p:sp>
        <p:nvSpPr>
          <p:cNvPr id="16" name="t27"/>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28"/>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29"/>
          <p:cNvSpPr/>
          <p:nvPr/>
        </p:nvSpPr>
        <p:spPr>
          <a:xfrm>
            <a:off x="548640" y="4297680"/>
            <a:ext cx="457200" cy="457200"/>
          </a:xfrm>
          <a:prstGeom prst="ellipse">
            <a:avLst/>
          </a:prstGeom>
          <a:solidFill>
            <a:schemeClr val="accent2"/>
          </a:solidFill>
          <a:ln/>
        </p:spPr>
      </p:sp>
      <p:sp>
        <p:nvSpPr>
          <p:cNvPr id="19" name="t30"/>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31"/>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escalation level moves</a:t>
            </a:r>
            <a:endParaRPr lang="en-US" sz="1600" dirty="0"/>
          </a:p>
        </p:txBody>
      </p:sp>
      <p:sp>
        <p:nvSpPr>
          <p:cNvPr id="21" name="st32"/>
          <p:cNvSpPr/>
          <p:nvPr/>
        </p:nvSpPr>
        <p:spPr>
          <a:xfrm>
            <a:off x="548640" y="4901184"/>
            <a:ext cx="457200" cy="457200"/>
          </a:xfrm>
          <a:prstGeom prst="ellipse">
            <a:avLst/>
          </a:prstGeom>
          <a:solidFill>
            <a:schemeClr val="accent1"/>
          </a:solidFill>
          <a:ln/>
        </p:spPr>
      </p:sp>
      <p:sp>
        <p:nvSpPr>
          <p:cNvPr id="22" name="t33"/>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34"/>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stop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36"/>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c ← (1 − λ)·c + λ·φ,  λ = 0.3,   φ = (S_B − S_R) / (S_B + S_R + κ)</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g = Σ V·c − γ·moves − η·ℓ − ζ_D,   minus W = 200 at war</a:t>
            </a:r>
            <a:endParaRPr lang="en-US" sz="1400" dirty="0"/>
          </a:p>
          <a:p>
            <a:pPr indent="0" marL="0">
              <a:buNone/>
            </a:pPr>
            <a:r>
              <a:rPr lang="en-US" sz="1300" dirty="0">
                <a:solidFill>
                  <a:schemeClr val="accent5"/>
                </a:solidFill>
              </a:rPr>
              <a:t>Value of control minus fuel, tension and Blue's redesign cost ζ_D. War hurts both sides, so the game is not zero-sum.</a:t>
            </a:r>
            <a:endParaRPr lang="en-US" sz="1400" dirty="0"/>
          </a:p>
        </p:txBody>
      </p:sp>
      <p:sp>
        <p:nvSpPr>
          <p:cNvPr id="26" name="tk3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3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39"/>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40"/>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41"/>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42"/>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43"/>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44"/>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45"/>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46"/>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47"/>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how to split ships North / Center / South, and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48"/>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iterated elimination of strictly dominated strategies (IESDS), Nash equilibrium, maximin LP, correlated-equilibrium LP</a:t>
            </a:r>
            <a:endParaRPr lang="en-US" sz="1300" dirty="0"/>
          </a:p>
        </p:txBody>
      </p:sp>
      <p:sp>
        <p:nvSpPr>
          <p:cNvPr id="13" name="cd49"/>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50"/>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51"/>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52"/>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53"/>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5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5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7"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5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5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with grim trigger, mutual patrolling is a subgame perfect equilibrium for any discount factor above 0.18. Ours is 0.98.</a:t>
            </a:r>
            <a:endParaRPr lang="en-US" sz="1700" dirty="0"/>
          </a:p>
        </p:txBody>
      </p:sp>
      <p:sp>
        <p:nvSpPr>
          <p:cNvPr id="6" name="tk5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6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61" descr="/home/claude/6.S974-Wargaming-Term-Project/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6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chemeClr val="accent3"/>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63" descr="/home/claude/6.S974-Wargaming-Term-Project/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9"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5" name="t6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payoffs (Blue, Red) and war rate. Red bold = the only equilibrium.</a:t>
            </a:r>
            <a:endParaRPr lang="en-US" sz="1200" dirty="0"/>
          </a:p>
        </p:txBody>
      </p:sp>
      <p:sp>
        <p:nvSpPr>
          <p:cNvPr id="6" name="t6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6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6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choose aggressive, giving the highest war rate (34%):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7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71" descr="/home/claude/6.S974-Wargaming-Term-Project/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7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7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(normal weather): D0 20%, D1 28%, D2 23%, D3 5%. De-escalation measures were given no cost yet.</a:t>
            </a:r>
            <a:endParaRPr lang="en-US" sz="1300" dirty="0"/>
          </a:p>
        </p:txBody>
      </p:sp>
      <p:sp>
        <p:nvSpPr>
          <p:cNvPr id="7" name="tk7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7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De-escalation measures are the best design and cut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7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7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7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De-escalation measures are a joint gain under every weather scenario</a:t>
            </a:r>
            <a:endParaRPr lang="en-US" sz="1600" dirty="0"/>
          </a:p>
        </p:txBody>
      </p:sp>
      <p:sp>
        <p:nvSpPr>
          <p:cNvPr id="6" name="cv8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8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8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De-escalation measures have no cost yet, so part of their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l"/>
          <p:cNvSpPr/>
          <p:nvPr/>
        </p:nvSpPr>
        <p:spPr>
          <a:xfrm>
            <a:off x="914400" y="1920240"/>
            <a:ext cx="10332720" cy="0"/>
          </a:xfrm>
          <a:prstGeom prst="line">
            <a:avLst/>
          </a:prstGeom>
          <a:noFill/>
          <a:ln w="38100">
            <a:solidFill>
              <a:schemeClr val="accent6"/>
            </a:solidFill>
            <a:prstDash val="solid"/>
          </a:ln>
        </p:spPr>
      </p:sp>
      <p:sp>
        <p:nvSpPr>
          <p:cNvPr id="4" name="tp84"/>
          <p:cNvSpPr/>
          <p:nvPr/>
        </p:nvSpPr>
        <p:spPr>
          <a:xfrm>
            <a:off x="731520" y="1691640"/>
            <a:ext cx="457200" cy="457200"/>
          </a:xfrm>
          <a:prstGeom prst="ellipse">
            <a:avLst/>
          </a:prstGeom>
          <a:solidFill>
            <a:schemeClr val="accent1"/>
          </a:solidFill>
          <a:ln/>
        </p:spPr>
      </p:sp>
      <p:sp>
        <p:nvSpPr>
          <p:cNvPr id="5" name="t85"/>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3</a:t>
            </a:r>
            <a:endParaRPr lang="en-US" sz="1600" dirty="0"/>
          </a:p>
        </p:txBody>
      </p:sp>
      <p:sp>
        <p:nvSpPr>
          <p:cNvPr id="6" name="t86"/>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and attacks</a:t>
            </a:r>
            <a:endParaRPr lang="en-US" sz="1800" dirty="0"/>
          </a:p>
        </p:txBody>
      </p:sp>
      <p:sp>
        <p:nvSpPr>
          <p:cNvPr id="7" name="t87"/>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about enemy positions; weather tied to the calendar (typhoon season, winter monsoon) with odds from climatology data; test the three coded Red attacks (blockade, jamming, false contacts); decide whether to keep the movement budget or drop it</a:t>
            </a:r>
            <a:endParaRPr lang="en-US" sz="1500" dirty="0"/>
          </a:p>
        </p:txBody>
      </p:sp>
      <p:sp>
        <p:nvSpPr>
          <p:cNvPr id="8" name="tp88"/>
          <p:cNvSpPr/>
          <p:nvPr/>
        </p:nvSpPr>
        <p:spPr>
          <a:xfrm>
            <a:off x="3520440" y="1691640"/>
            <a:ext cx="457200" cy="457200"/>
          </a:xfrm>
          <a:prstGeom prst="ellipse">
            <a:avLst/>
          </a:prstGeom>
          <a:solidFill>
            <a:schemeClr val="accent1"/>
          </a:solidFill>
          <a:ln/>
        </p:spPr>
      </p:sp>
      <p:sp>
        <p:nvSpPr>
          <p:cNvPr id="9" name="t89"/>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17</a:t>
            </a:r>
            <a:endParaRPr lang="en-US" sz="1600" dirty="0"/>
          </a:p>
        </p:txBody>
      </p:sp>
      <p:sp>
        <p:nvSpPr>
          <p:cNvPr id="10" name="t90"/>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a:t>
            </a:r>
            <a:endParaRPr lang="en-US" sz="1800" dirty="0"/>
          </a:p>
        </p:txBody>
      </p:sp>
      <p:sp>
        <p:nvSpPr>
          <p:cNvPr id="11" name="t91"/>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Red agents that learn from experience: do they exploit predictable Blue play? An attacker that moves after seeing Blue</a:t>
            </a:r>
            <a:endParaRPr lang="en-US" sz="1500" dirty="0"/>
          </a:p>
        </p:txBody>
      </p:sp>
      <p:sp>
        <p:nvSpPr>
          <p:cNvPr id="12" name="tp92"/>
          <p:cNvSpPr/>
          <p:nvPr/>
        </p:nvSpPr>
        <p:spPr>
          <a:xfrm>
            <a:off x="6309360" y="1691640"/>
            <a:ext cx="457200" cy="457200"/>
          </a:xfrm>
          <a:prstGeom prst="ellipse">
            <a:avLst/>
          </a:prstGeom>
          <a:solidFill>
            <a:schemeClr val="accent1"/>
          </a:solidFill>
          <a:ln/>
        </p:spPr>
      </p:sp>
      <p:sp>
        <p:nvSpPr>
          <p:cNvPr id="13" name="t93"/>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1</a:t>
            </a:r>
            <a:endParaRPr lang="en-US" sz="1600" dirty="0"/>
          </a:p>
        </p:txBody>
      </p:sp>
      <p:sp>
        <p:nvSpPr>
          <p:cNvPr id="14" name="t94"/>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Redesign</a:t>
            </a:r>
            <a:endParaRPr lang="en-US" sz="1800" dirty="0"/>
          </a:p>
        </p:txBody>
      </p:sp>
      <p:sp>
        <p:nvSpPr>
          <p:cNvPr id="15" name="t95"/>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Designs and combinations under attacks, persistent weather and a rare long typhoon; a cost for de-escalation measures</a:t>
            </a:r>
            <a:endParaRPr lang="en-US" sz="1500" dirty="0"/>
          </a:p>
        </p:txBody>
      </p:sp>
      <p:sp>
        <p:nvSpPr>
          <p:cNvPr id="16" name="tp96"/>
          <p:cNvSpPr/>
          <p:nvPr/>
        </p:nvSpPr>
        <p:spPr>
          <a:xfrm>
            <a:off x="9098280" y="1691640"/>
            <a:ext cx="457200" cy="457200"/>
          </a:xfrm>
          <a:prstGeom prst="ellipse">
            <a:avLst/>
          </a:prstGeom>
          <a:solidFill>
            <a:schemeClr val="accent2"/>
          </a:solidFill>
          <a:ln/>
        </p:spPr>
      </p:sp>
      <p:sp>
        <p:nvSpPr>
          <p:cNvPr id="17" name="t97"/>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8</a:t>
            </a:r>
            <a:endParaRPr lang="en-US" sz="1600" dirty="0"/>
          </a:p>
        </p:txBody>
      </p:sp>
      <p:sp>
        <p:nvSpPr>
          <p:cNvPr id="18" name="t98"/>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Report</a:t>
            </a:r>
            <a:endParaRPr lang="en-US" sz="1800" dirty="0"/>
          </a:p>
        </p:txBody>
      </p:sp>
      <p:sp>
        <p:nvSpPr>
          <p:cNvPr id="19" name="t99"/>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Final report and presentation</a:t>
            </a:r>
            <a:endParaRPr lang="en-US" sz="1500" dirty="0"/>
          </a:p>
        </p:txBody>
      </p:sp>
      <p:sp>
        <p:nvSpPr>
          <p:cNvPr id="20" name="tk100"/>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101"/>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Next: learning, attacks and defenses, and resilient design, in that order.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Gray Zone">
      <a:dk1>
        <a:srgbClr val="1B2430"/>
      </a:dk1>
      <a:lt1>
        <a:srgbClr val="FFFFFF"/>
      </a:lt1>
      <a:dk2>
        <a:srgbClr val="0B2545"/>
      </a:dk2>
      <a:lt2>
        <a:srgbClr val="EEF3F8"/>
      </a:lt2>
      <a:accent1>
        <a:srgbClr val="1F4E9C"/>
      </a:accent1>
      <a:accent2>
        <a:srgbClr val="B23A48"/>
      </a:accent2>
      <a:accent3>
        <a:srgbClr val="E8A33D"/>
      </a:accent3>
      <a:accent4>
        <a:srgbClr val="13807A"/>
      </a:accent4>
      <a:accent5>
        <a:srgbClr val="6B7A8F"/>
      </a:accent5>
      <a:accent6>
        <a:srgbClr val="8DA9C4"/>
      </a:accent6>
      <a:hlink>
        <a:srgbClr val="1F4E9C"/>
      </a:hlink>
      <a:folHlink>
        <a:srgbClr val="6B7A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2026-10-26T22:54:53Z</dcterms:created>
  <dcterms:modified xsi:type="dcterms:W3CDTF">2026-10-26T22:54:53Z</dcterms:modified>
</cp:coreProperties>
</file>