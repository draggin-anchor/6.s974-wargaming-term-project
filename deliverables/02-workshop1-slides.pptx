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282d63c-ed2b-f63d-cdc8-2f97a052cbf6}">
          <p14:sldIdLst>
            <p14:sldId id="256"/>
            <p14:sldId id="257"/>
            <p14:sldId id="258"/>
            <p14:sldId id="259"/>
          </p14:sldIdLst>
        </p14:section>
        <p14:section name="Model" id="{bd25269f-1661-4f5a-6aa7-da3c3eb4c495}">
          <p14:sldIdLst>
            <p14:sldId id="260"/>
            <p14:sldId id="261"/>
            <p14:sldId id="262"/>
            <p14:sldId id="263"/>
          </p14:sldIdLst>
        </p14:section>
        <p14:section name="Results" id="{c9a10fd5-12cc-2eff-cda1-59fcefc87e8b}">
          <p14:sldIdLst>
            <p14:sldId id="264"/>
            <p14:sldId id="265"/>
            <p14:sldId id="266"/>
            <p14:sldId id="267"/>
            <p14:sldId id="268"/>
            <p14:sldId id="269"/>
          </p14:sldIdLst>
        </p14:section>
        <p14:section name="Next steps" id="{c7e1926f-d155-18ea-6059-dcf88aca54a2}">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A"/>
                </a:solidFill>
                <a:latin typeface="+mn-lt"/>
              </a:defRPr>
            </a:pPr>
            <a:r>
              <a:rPr sz="1400" b="0" i="0" u="none" strike="noStrike">
                <a:solidFill>
                  <a:srgbClr val="0B1F3A"/>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5E6B7D"/>
            </a:solidFill>
            <a:effectLst/>
          </c:spPr>
          <c:invertIfNegative val="0"/>
          <c:dLbls>
            <c:numFmt formatCode="#,##0" sourceLinked="0"/>
            <c:txPr>
              <a:bodyPr/>
              <a:lstStyle/>
              <a:p>
                <a:pPr>
                  <a:defRPr b="0" i="0" strike="noStrike" sz="1200" u="none">
                    <a:solidFill>
                      <a:srgbClr val="1A2233"/>
                    </a:solidFill>
                    <a:latin typeface="+mn-lt"/>
                  </a:defRPr>
                </a:pPr>
              </a:p>
            </c:txPr>
            <c:showLegendKey val="0"/>
            <c:showVal val="1"/>
            <c:showCatName val="0"/>
            <c:showSerName val="0"/>
            <c:showPercent val="0"/>
            <c:showBubbleSize val="0"/>
            <c:showLeaderLines val="0"/>
          </c:dLbls>
          <c:dPt>
            <c:idx val="0"/>
            <c:invertIfNegative val="0"/>
            <c:bubble3D val="0"/>
            <c:spPr>
              <a:solidFill>
                <a:srgbClr val="5E6B7D"/>
              </a:solidFill>
              <a:effectLst/>
            </c:spPr>
          </c:dPt>
          <c:dPt>
            <c:idx val="1"/>
            <c:invertIfNegative val="0"/>
            <c:bubble3D val="0"/>
            <c:spPr>
              <a:solidFill>
                <a:srgbClr val="5E6B7D"/>
              </a:solidFill>
              <a:effectLst/>
            </c:spPr>
          </c:dPt>
          <c:dPt>
            <c:idx val="2"/>
            <c:invertIfNegative val="0"/>
            <c:bubble3D val="0"/>
            <c:spPr>
              <a:solidFill>
                <a:srgbClr val="5E6B7D"/>
              </a:solidFill>
              <a:effectLst/>
            </c:spPr>
          </c:dPt>
          <c:dPt>
            <c:idx val="3"/>
            <c:invertIfNegative val="0"/>
            <c:bubble3D val="0"/>
            <c:spPr>
              <a:solidFill>
                <a:srgbClr val="1D3E72"/>
              </a:solidFill>
              <a:effectLst/>
            </c:spPr>
          </c:dPt>
          <c:dPt>
            <c:idx val="4"/>
            <c:invertIfNegative val="0"/>
            <c:bubble3D val="0"/>
            <c:spPr>
              <a:solidFill>
                <a:srgbClr val="1D3E72"/>
              </a:solidFill>
              <a:effectLst/>
            </c:spPr>
          </c:dPt>
          <c:dPt>
            <c:idx val="5"/>
            <c:invertIfNegative val="0"/>
            <c:bubble3D val="0"/>
            <c:spPr>
              <a:solidFill>
                <a:srgbClr val="B8901E"/>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A22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A2233"/>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A"/>
                </a:solidFill>
                <a:latin typeface="+mn-lt"/>
              </a:defRPr>
            </a:pPr>
            <a:r>
              <a:rPr sz="1400" b="0" i="0" u="none" strike="noStrike">
                <a:solidFill>
                  <a:srgbClr val="0B1F3A"/>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D3E72"/>
            </a:solidFill>
            <a:effectLst/>
          </c:spPr>
          <c:invertIfNegative val="0"/>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A97C14"/>
            </a:solidFill>
            <a:effectLst/>
          </c:spPr>
          <c:invertIfNegative val="0"/>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2233"/>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7D"/>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we cover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Why we built this. China presses its maritime claims below the threshold of war, with coast guard and militia hulls backed by navy ships, and the U.S. answers with presence and freedom-of-navigation patrols. Incidents, not shots, drive escalation (Helmus 2024; Green 2017). That contest is hard to study directly. Each side's best move depends on the other's, the risk of war is shared, and real encounters cannot be rerun. Existing models each capture a piece. Wasser and colleagues built a structured gray-zone game, Shieh and colleagues a randomized patrol model, Washburn network interdiction, and Schelling the idea of escalation as shared risk. We combine allocation, evolving control and shared escalation risk in one general-sum game with computational rules, so we can compare strategies and designs across thousands of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asks this. Each side caps the incident risk it accepts per period. How much control does more risk buy, how much likelier does war become, and what cap does each side pick when the other is picking too? RQ2 asks whether a side that plans with game theory does better than one that follows simple rules, and whether both sides can keep patrolling over many periods because asserting once would end the truce and push both into riskier play from then on. RQ3 comes from Prof. Sapsis's comment. Does the best plan or Blue redesign in normal weather stay best across calm, typhoon and extreme weather scenarios, on average and in the worst scenario? The table maps each piece of Deliverable 1 feedback to what we changed. The main change is that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This is the full formulation behind the timeline. The state is ships by type and node, each ship's endurance, the control index of each zone, the escalation level and the sea state of each region. Ships move along edges of the network, with no ships created or lost, and each side gets a fixed number of moves per period. Local strength weights hulls by type and multiplies by 1.5 when a side asserts. Each incident raises the escalation level by one, and a quiet period lowers it by one with probability mu. If it reaches 5, that is war and the game ends. Each side's payoff is its discounted stage payoffs minus 200 at war, paid by both sides, so the game is general-sum.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On the left, each turn a player solves a mixed-integer program (MIP) to pick moves, with a cap on expected incidents, epsilon. This answers the feedback that Q1 is a feasible region. In the middle, for equilibrium analysis we shrink each side to 14 templates and solve the 14-by-14 game exactly. On the right are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This is the decision rule behind most of our results, solved with Gurobi every period. The binary y sends each free ship to a node. Because control and incident risk are nonlinear in ship counts, we list every option for each zone, a hull count and a posture, and compute its value and risk in advance. That keeps the program linear. The objective is control value minus incident cost minus fuel. The key constraint is the last one. Expected incidents this period must stay under the risk budget epsilon, which shrinks to zero as the escalation level nears war. Conservative, moderate and aggressive commanders are budgets of 0.05, 0.15 and 0.40. The slack xi only covers risk from ships forced home through occupied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so each side only chooses patrol or assert. In the table, asserting against a patroller pays a little, but if both assert, both lose more than 11. So the best reply is to do the opposite of the other side. There are two fixes. First, a correlated equilibrium, which a mediator or hotline can implement, never recommends both asserting. Second, in the repeated game, a standing threat (if either side pushes, the truce is off for good and both fall back to the mixed equilibrium)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of a typhoon-weather game, Nash equilibrium plan against the MIP best response, with rough seas over the Center. The same file runs batch experiments, and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On the left, Blue loosens its risk budget while Red stays moderate. Control rises fast up to about 0.15, then flattens, while war risk keeps rising. On the right, both sides choose a budget. Aggressive is the best reply to anything, for both, so the only equilibrium is aggressive-aggressive, with the highest war rate, 34%. Both would do better at moderate-moderate. Blue gets −144 instead of −151, Red gets 101 instead of 39, and war falls to 20%.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On the left, the policy ranking does not change across weather. The top two plans stay on top. Bad weather slightly helps Blue here, because rough seas weaken Red's coast-guard hulls. On the right, of the three redesigns, de-escalation measures are best on average and in the worst case, and cut war about four times. We gave them no cost yet, and they also help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show. Values are assumptions, policies look one turn ahead, the war rate depends heavily on a few parameters, and the de-escalation result is partly built in. Sensitivity analysis on V, h, W and mu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plan. First the model. Bayesian beliefs, multi-period best response, sensitivity analysis on V, h, W and mu, calendar-based weather from real data, and a movement budget reformulated with considerations for oilers. Then learning. Does a Red agent that learns from repeated play converge, drift toward restraint, or exploit rule-based Blue? Then attacks and defenses. A coast guard blockade at Scarborough and Second Thomas Shoal, jamming, and false contacts are already coded, and we will add a Red attacker that reacts to Blue's posture and test randomized patrols, D1 and D2 as defenses. Last, the designs and their combinations under attack and a long typhoon, with a cost for D3.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001000" y="1097280"/>
            <a:ext cx="3886200" cy="28346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8001000" y="4343400"/>
            <a:ext cx="3886200" cy="1463040"/>
          </a:xfrm>
          <a:prstGeom prst="rect">
            <a:avLst/>
          </a:prstGeom>
          <a:noFill/>
          <a:ln/>
        </p:spPr>
        <p:txBody>
          <a:bodyPr wrap="square" rtlCol="0"/>
          <a:lstStyle>
            <a:lvl1pPr algn="l" indent="0" marL="0">
              <a:buNone/>
              <a:defRPr lang="en-US" sz="1600" dirty="0">
                <a:solidFill>
                  <a:schemeClr val="accent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1F3A"/>
          </a:solidFill>
          <a:ln/>
        </p:spPr>
      </p:sp>
      <p:sp>
        <p:nvSpPr>
          <p:cNvPr id="3" name="Shape 1"/>
          <p:cNvSpPr/>
          <p:nvPr/>
        </p:nvSpPr>
        <p:spPr>
          <a:xfrm>
            <a:off x="0" y="128016"/>
            <a:ext cx="12191695" cy="36576"/>
          </a:xfrm>
          <a:prstGeom prst="rect">
            <a:avLst/>
          </a:prstGeom>
          <a:solidFill>
            <a:srgbClr val="D4AF37"/>
          </a:solidFill>
          <a:ln/>
        </p:spPr>
      </p:sp>
      <p:sp>
        <p:nvSpPr>
          <p:cNvPr id="4" name="Shape 2"/>
          <p:cNvSpPr/>
          <p:nvPr/>
        </p:nvSpPr>
        <p:spPr>
          <a:xfrm>
            <a:off x="5593385" y="1069848"/>
            <a:ext cx="1005840" cy="45720"/>
          </a:xfrm>
          <a:prstGeom prst="rect">
            <a:avLst/>
          </a:prstGeom>
          <a:solidFill>
            <a:srgbClr val="D4AF37"/>
          </a:solidFill>
          <a:ln/>
        </p:spPr>
      </p:sp>
      <p:sp>
        <p:nvSpPr>
          <p:cNvPr id="5" name="Text 3"/>
          <p:cNvSpPr/>
          <p:nvPr>
            <p:ph idx="103"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3-1.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g1" descr="/Users/seanbowman/Documents/MIT/Fall26/6.s974/repo/slides/assets/title_chafee.jpg">    </p:cNvPr>
          <p:cNvPicPr>
            <a:picLocks noChangeAspect="1"/>
          </p:cNvPicPr>
          <p:nvPr/>
        </p:nvPicPr>
        <p:blipFill>
          <a:blip r:embed="rId1"/>
          <a:stretch>
            <a:fillRect/>
          </a:stretch>
        </p:blipFill>
        <p:spPr>
          <a:xfrm>
            <a:off x="0" y="0"/>
            <a:ext cx="12191695" cy="6858000"/>
          </a:xfrm>
          <a:prstGeom prst="rect">
            <a:avLst/>
          </a:prstGeom>
        </p:spPr>
      </p:pic>
      <p:sp>
        <p:nvSpPr>
          <p:cNvPr id="3" name="gold2"/>
          <p:cNvSpPr/>
          <p:nvPr/>
        </p:nvSpPr>
        <p:spPr>
          <a:xfrm>
            <a:off x="8001000" y="4069080"/>
            <a:ext cx="1463040" cy="64008"/>
          </a:xfrm>
          <a:prstGeom prst="rect">
            <a:avLst/>
          </a:prstGeom>
          <a:solidFill>
            <a:schemeClr val="accent3"/>
          </a:solidFill>
          <a:ln w="12700">
            <a:solidFill>
              <a:schemeClr val="accent3"/>
            </a:solidFill>
            <a:prstDash val="solid"/>
          </a:ln>
        </p:spPr>
      </p:sp>
      <p:sp>
        <p:nvSpPr>
          <p:cNvPr id="4" name="t3"/>
          <p:cNvSpPr txBox="1"/>
          <p:nvPr/>
        </p:nvSpPr>
        <p:spPr>
          <a:xfrm>
            <a:off x="8778240" y="6510528"/>
            <a:ext cx="3200400" cy="228600"/>
          </a:xfrm>
          <a:prstGeom prst="rect">
            <a:avLst/>
          </a:prstGeom>
          <a:noFill/>
          <a:ln/>
        </p:spPr>
        <p:txBody>
          <a:bodyPr wrap="square" lIns="0" tIns="0" rIns="0" bIns="0" rtlCol="0" anchor="ctr"/>
          <a:lstStyle/>
          <a:p>
            <a:pPr algn="r" indent="0" marL="0">
              <a:buNone/>
            </a:pPr>
            <a:r>
              <a:rPr lang="en-US" sz="900" dirty="0">
                <a:solidFill>
                  <a:schemeClr val="bg1"/>
                </a:solidFill>
              </a:rPr>
              <a:t>USS Chafee (DDG 90). U.S. Navy photo</a:t>
            </a:r>
            <a:endParaRPr lang="en-US" sz="900" dirty="0"/>
          </a:p>
        </p:txBody>
      </p:sp>
      <p:sp>
        <p:nvSpPr>
          <p:cNvPr id="5" name="Text 0"/>
          <p:cNvSpPr/>
          <p:nvPr>
            <p:ph idx="100" type="title" hasCustomPrompt="1"/>
          </p:nvPr>
        </p:nvSpPr>
        <p:spPr>
          <a:xfrm>
            <a:off x="8001000" y="1097280"/>
            <a:ext cx="3886200" cy="2834640"/>
          </a:xfrm>
          <a:prstGeom prst="rect">
            <a:avLst/>
          </a:prstGeom>
          <a:noFill/>
          <a:ln/>
        </p:spPr>
        <p:txBody>
          <a:bodyPr wrap="square" rtlCol="0" anchor="b"/>
          <a:lstStyle/>
          <a:p>
            <a:pPr algn="l" indent="0" marL="0">
              <a:buNone/>
            </a:pPr>
            <a:r>
              <a:rPr lang="en-US" sz="3200" b="1" dirty="0">
                <a:solidFill>
                  <a:schemeClr val="bg1"/>
                </a:solidFill>
              </a:rPr>
              <a:t>Gray-Zone Maritime Control in the First Island Chain</a:t>
            </a:r>
            <a:endParaRPr lang="en-US" sz="3200" dirty="0"/>
          </a:p>
        </p:txBody>
      </p:sp>
      <p:sp>
        <p:nvSpPr>
          <p:cNvPr id="6" name="Text 0"/>
          <p:cNvSpPr/>
          <p:nvPr>
            <p:ph idx="101" type="body" hasCustomPrompt="1"/>
          </p:nvPr>
        </p:nvSpPr>
        <p:spPr>
          <a:xfrm>
            <a:off x="8001000" y="4343400"/>
            <a:ext cx="3886200" cy="1463040"/>
          </a:xfrm>
          <a:prstGeom prst="rect">
            <a:avLst/>
          </a:prstGeom>
          <a:noFill/>
          <a:ln/>
        </p:spPr>
        <p:txBody>
          <a:bodyPr wrap="square" rtlCol="0" anchor="t"/>
          <a:lstStyle/>
          <a:p>
            <a:pPr algn="l" indent="0" marL="0">
              <a:buNone/>
            </a:pPr>
            <a:r>
              <a:rPr lang="en-US" sz="1600" dirty="0">
                <a:solidFill>
                  <a:schemeClr val="accent3"/>
                </a:solidFill>
              </a:rPr>
              <a:t>A networked escalation game</a:t>
            </a:r>
            <a:endParaRPr lang="en-US" sz="1600" dirty="0"/>
          </a:p>
          <a:p>
            <a:pPr algn="l" indent="0" marL="0">
              <a:buNone/>
            </a:pPr>
            <a:r>
              <a:rPr lang="en-US" sz="1600" dirty="0">
                <a:solidFill>
                  <a:schemeClr val="accent3"/>
                </a:solidFill>
              </a:rPr>
              <a:t>Workshop 1</a:t>
            </a:r>
            <a:endParaRPr lang="en-US" sz="1600" dirty="0"/>
          </a:p>
          <a:p>
            <a:pPr algn="l" indent="0" marL="0">
              <a:buNone/>
            </a:pPr>
            <a:r>
              <a:rPr lang="en-US" sz="1600" dirty="0">
                <a:solidFill>
                  <a:schemeClr val="accent3"/>
                </a:solidFill>
              </a:rPr>
              <a:t>Sean Bowman, Tate Murphy,</a:t>
            </a:r>
            <a:endParaRPr lang="en-US" sz="1600" dirty="0"/>
          </a:p>
          <a:p>
            <a:pPr algn="l" indent="0" marL="0">
              <a:buNone/>
            </a:pPr>
            <a:r>
              <a:rPr lang="en-US" sz="1600" dirty="0">
                <a:solidFill>
                  <a:schemeClr val="accent3"/>
                </a:solidFill>
              </a:rPr>
              <a:t>Matthew Newell</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Background: why we built this wargame</a:t>
            </a:r>
            <a:endParaRPr lang="en-US" sz="2800" dirty="0"/>
          </a:p>
        </p:txBody>
      </p:sp>
      <p:sp>
        <p:nvSpPr>
          <p:cNvPr id="3" name="wb4"/>
          <p:cNvSpPr/>
          <p:nvPr/>
        </p:nvSpPr>
        <p:spPr>
          <a:xfrm>
            <a:off x="548640" y="1325880"/>
            <a:ext cx="2560320" cy="73152"/>
          </a:xfrm>
          <a:prstGeom prst="rect">
            <a:avLst/>
          </a:prstGeom>
          <a:solidFill>
            <a:schemeClr val="accent1"/>
          </a:solidFill>
          <a:ln w="12700">
            <a:solidFill>
              <a:schemeClr val="accent1"/>
            </a:solidFill>
            <a:prstDash val="solid"/>
          </a:ln>
        </p:spPr>
      </p:sp>
      <p:sp>
        <p:nvSpPr>
          <p:cNvPr id="4" name="t5"/>
          <p:cNvSpPr txBox="1"/>
          <p:nvPr/>
        </p:nvSpPr>
        <p:spPr>
          <a:xfrm>
            <a:off x="54864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The competition</a:t>
            </a:r>
            <a:endParaRPr lang="en-US" sz="1800" dirty="0"/>
          </a:p>
        </p:txBody>
      </p:sp>
      <p:sp>
        <p:nvSpPr>
          <p:cNvPr id="5" name="t6"/>
          <p:cNvSpPr txBox="1"/>
          <p:nvPr/>
        </p:nvSpPr>
        <p:spPr>
          <a:xfrm>
            <a:off x="54864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China presses its claims with persistent coast guard and militia presence backed by navy ships, while avoiding a conventional military response. The U.S. answers with routine presence and freedom-of-navigation patrols. Incidents, not shots, drive escalation.</a:t>
            </a:r>
            <a:endParaRPr lang="en-US" sz="1500" dirty="0"/>
          </a:p>
        </p:txBody>
      </p:sp>
      <p:sp>
        <p:nvSpPr>
          <p:cNvPr id="6" name="wb7"/>
          <p:cNvSpPr/>
          <p:nvPr/>
        </p:nvSpPr>
        <p:spPr>
          <a:xfrm>
            <a:off x="3337560" y="1325880"/>
            <a:ext cx="2560320" cy="73152"/>
          </a:xfrm>
          <a:prstGeom prst="rect">
            <a:avLst/>
          </a:prstGeom>
          <a:solidFill>
            <a:schemeClr val="accent1"/>
          </a:solidFill>
          <a:ln w="12700">
            <a:solidFill>
              <a:schemeClr val="accent1"/>
            </a:solidFill>
            <a:prstDash val="solid"/>
          </a:ln>
        </p:spPr>
      </p:sp>
      <p:sp>
        <p:nvSpPr>
          <p:cNvPr id="7" name="t8"/>
          <p:cNvSpPr txBox="1"/>
          <p:nvPr/>
        </p:nvSpPr>
        <p:spPr>
          <a:xfrm>
            <a:off x="333756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Why it is hard to study</a:t>
            </a:r>
            <a:endParaRPr lang="en-US" sz="1800" dirty="0"/>
          </a:p>
        </p:txBody>
      </p:sp>
      <p:sp>
        <p:nvSpPr>
          <p:cNvPr id="8" name="t9"/>
          <p:cNvSpPr txBox="1"/>
          <p:nvPr/>
        </p:nvSpPr>
        <p:spPr>
          <a:xfrm>
            <a:off x="333756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Each side's best move depends on the other's, and the risk of war is shared. Real encounters cannot be rerun or varied on purpose. A wargame lets us test strategies and force designs without real risk.</a:t>
            </a:r>
            <a:endParaRPr lang="en-US" sz="1500" dirty="0"/>
          </a:p>
        </p:txBody>
      </p:sp>
      <p:sp>
        <p:nvSpPr>
          <p:cNvPr id="9" name="wb10"/>
          <p:cNvSpPr/>
          <p:nvPr/>
        </p:nvSpPr>
        <p:spPr>
          <a:xfrm>
            <a:off x="6126480" y="1325880"/>
            <a:ext cx="2560320" cy="73152"/>
          </a:xfrm>
          <a:prstGeom prst="rect">
            <a:avLst/>
          </a:prstGeom>
          <a:solidFill>
            <a:schemeClr val="accent1"/>
          </a:solidFill>
          <a:ln w="12700">
            <a:solidFill>
              <a:schemeClr val="accent1"/>
            </a:solidFill>
            <a:prstDash val="solid"/>
          </a:ln>
        </p:spPr>
      </p:sp>
      <p:sp>
        <p:nvSpPr>
          <p:cNvPr id="10" name="t11"/>
          <p:cNvSpPr txBox="1"/>
          <p:nvPr/>
        </p:nvSpPr>
        <p:spPr>
          <a:xfrm>
            <a:off x="612648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What models exist</a:t>
            </a:r>
            <a:endParaRPr lang="en-US" sz="1800" dirty="0"/>
          </a:p>
        </p:txBody>
      </p:sp>
      <p:sp>
        <p:nvSpPr>
          <p:cNvPr id="11" name="t12"/>
          <p:cNvSpPr txBox="1"/>
          <p:nvPr/>
        </p:nvSpPr>
        <p:spPr>
          <a:xfrm>
            <a:off x="612648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A structured gray-zone game with probabilistic adjudication (Wasser 2019). Randomized Coast Guard patrols (Shieh 2012). Zero-sum network interdiction (Washburn 1995). Escalation as a shared risk (Schelling 1966).</a:t>
            </a:r>
            <a:endParaRPr lang="en-US" sz="1500" dirty="0"/>
          </a:p>
        </p:txBody>
      </p:sp>
      <p:sp>
        <p:nvSpPr>
          <p:cNvPr id="12" name="wb13"/>
          <p:cNvSpPr/>
          <p:nvPr/>
        </p:nvSpPr>
        <p:spPr>
          <a:xfrm>
            <a:off x="8915400" y="1325880"/>
            <a:ext cx="2560320" cy="73152"/>
          </a:xfrm>
          <a:prstGeom prst="rect">
            <a:avLst/>
          </a:prstGeom>
          <a:solidFill>
            <a:schemeClr val="accent2"/>
          </a:solidFill>
          <a:ln w="12700">
            <a:solidFill>
              <a:schemeClr val="accent2"/>
            </a:solidFill>
            <a:prstDash val="solid"/>
          </a:ln>
        </p:spPr>
      </p:sp>
      <p:sp>
        <p:nvSpPr>
          <p:cNvPr id="13" name="t14"/>
          <p:cNvSpPr txBox="1"/>
          <p:nvPr/>
        </p:nvSpPr>
        <p:spPr>
          <a:xfrm>
            <a:off x="891540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What we add</a:t>
            </a:r>
            <a:endParaRPr lang="en-US" sz="1800" dirty="0"/>
          </a:p>
        </p:txBody>
      </p:sp>
      <p:sp>
        <p:nvSpPr>
          <p:cNvPr id="14" name="t15"/>
          <p:cNvSpPr txBox="1"/>
          <p:nvPr/>
        </p:nvSpPr>
        <p:spPr>
          <a:xfrm>
            <a:off x="891540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Maritime allocation, evolving control and shared escalation risk in one general-sum game. The rules are computational, so we can compare strategies and designs across thousands of games.</a:t>
            </a:r>
            <a:endParaRPr lang="en-US" sz="1500" dirty="0"/>
          </a:p>
        </p:txBody>
      </p:sp>
      <p:sp>
        <p:nvSpPr>
          <p:cNvPr id="15" name="tk16"/>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6" name="t17"/>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Each existing model captures part of this contest. Our game combines them and runs thousands of times.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8" descr="/Users/seanbowman/Documents/MIT/Fall26/6.s974/repo/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19"/>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20"/>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Asserting means shadowing, close maneuvering, or querying and warning. For the U.S. it also covers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21"/>
          <p:cNvSpPr/>
          <p:nvPr/>
        </p:nvSpPr>
        <p:spPr>
          <a:xfrm>
            <a:off x="548640" y="1325880"/>
            <a:ext cx="731520" cy="731520"/>
          </a:xfrm>
          <a:prstGeom prst="ellipse">
            <a:avLst/>
          </a:prstGeom>
          <a:solidFill>
            <a:schemeClr val="accent1"/>
          </a:solidFill>
          <a:ln/>
        </p:spPr>
      </p:sp>
      <p:sp>
        <p:nvSpPr>
          <p:cNvPr id="4" name="t22"/>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23"/>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24"/>
          <p:cNvSpPr/>
          <p:nvPr/>
        </p:nvSpPr>
        <p:spPr>
          <a:xfrm>
            <a:off x="548640" y="2788920"/>
            <a:ext cx="731520" cy="731520"/>
          </a:xfrm>
          <a:prstGeom prst="ellipse">
            <a:avLst/>
          </a:prstGeom>
          <a:solidFill>
            <a:schemeClr val="accent1"/>
          </a:solidFill>
          <a:ln/>
        </p:spPr>
      </p:sp>
      <p:sp>
        <p:nvSpPr>
          <p:cNvPr id="7" name="t25"/>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26"/>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a side that plans with game theory (best responses, equilibrium or maximin plans) do better than one that follows simple rules or moves at random? Can both sides keep patrolling over many periods because asserting once would end the truce and push both into riskier play from then on?</a:t>
            </a:r>
            <a:endParaRPr lang="en-US" sz="1600" dirty="0"/>
          </a:p>
        </p:txBody>
      </p:sp>
      <p:sp>
        <p:nvSpPr>
          <p:cNvPr id="9" name="c27"/>
          <p:cNvSpPr/>
          <p:nvPr/>
        </p:nvSpPr>
        <p:spPr>
          <a:xfrm>
            <a:off x="548640" y="4251960"/>
            <a:ext cx="731520" cy="731520"/>
          </a:xfrm>
          <a:prstGeom prst="ellipse">
            <a:avLst/>
          </a:prstGeom>
          <a:solidFill>
            <a:schemeClr val="accent1"/>
          </a:solidFill>
          <a:ln/>
        </p:spPr>
      </p:sp>
      <p:sp>
        <p:nvSpPr>
          <p:cNvPr id="10" name="t28"/>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29"/>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5"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Analytical results, plus 77 setups × 200 simulated games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Weather scenarios, scored by expected and worst-case payoff</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31"/>
          <p:cNvSpPr/>
          <p:nvPr/>
        </p:nvSpPr>
        <p:spPr>
          <a:xfrm>
            <a:off x="548640" y="1280160"/>
            <a:ext cx="457200" cy="457200"/>
          </a:xfrm>
          <a:prstGeom prst="ellipse">
            <a:avLst/>
          </a:prstGeom>
          <a:solidFill>
            <a:schemeClr val="accent4"/>
          </a:solidFill>
          <a:ln/>
        </p:spPr>
      </p:sp>
      <p:sp>
        <p:nvSpPr>
          <p:cNvPr id="4" name="t32"/>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33"/>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34"/>
          <p:cNvSpPr/>
          <p:nvPr/>
        </p:nvSpPr>
        <p:spPr>
          <a:xfrm>
            <a:off x="548640" y="1883664"/>
            <a:ext cx="457200" cy="457200"/>
          </a:xfrm>
          <a:prstGeom prst="ellipse">
            <a:avLst/>
          </a:prstGeom>
          <a:solidFill>
            <a:schemeClr val="accent1"/>
          </a:solidFill>
          <a:ln/>
        </p:spPr>
      </p:sp>
      <p:sp>
        <p:nvSpPr>
          <p:cNvPr id="7" name="t35"/>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36"/>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37"/>
          <p:cNvSpPr/>
          <p:nvPr/>
        </p:nvSpPr>
        <p:spPr>
          <a:xfrm>
            <a:off x="548640" y="2487168"/>
            <a:ext cx="457200" cy="457200"/>
          </a:xfrm>
          <a:prstGeom prst="ellipse">
            <a:avLst/>
          </a:prstGeom>
          <a:solidFill>
            <a:schemeClr val="accent1"/>
          </a:solidFill>
          <a:ln/>
        </p:spPr>
      </p:sp>
      <p:sp>
        <p:nvSpPr>
          <p:cNvPr id="10" name="t38"/>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39"/>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40"/>
          <p:cNvSpPr/>
          <p:nvPr/>
        </p:nvSpPr>
        <p:spPr>
          <a:xfrm>
            <a:off x="548640" y="3090672"/>
            <a:ext cx="457200" cy="457200"/>
          </a:xfrm>
          <a:prstGeom prst="ellipse">
            <a:avLst/>
          </a:prstGeom>
          <a:solidFill>
            <a:schemeClr val="accent1"/>
          </a:solidFill>
          <a:ln/>
        </p:spPr>
      </p:sp>
      <p:sp>
        <p:nvSpPr>
          <p:cNvPr id="13" name="t41"/>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42"/>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43"/>
          <p:cNvSpPr/>
          <p:nvPr/>
        </p:nvSpPr>
        <p:spPr>
          <a:xfrm>
            <a:off x="548640" y="3694176"/>
            <a:ext cx="457200" cy="457200"/>
          </a:xfrm>
          <a:prstGeom prst="ellipse">
            <a:avLst/>
          </a:prstGeom>
          <a:solidFill>
            <a:schemeClr val="accent1"/>
          </a:solidFill>
          <a:ln/>
        </p:spPr>
      </p:sp>
      <p:sp>
        <p:nvSpPr>
          <p:cNvPr id="16" name="t44"/>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45"/>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46"/>
          <p:cNvSpPr/>
          <p:nvPr/>
        </p:nvSpPr>
        <p:spPr>
          <a:xfrm>
            <a:off x="548640" y="4297680"/>
            <a:ext cx="457200" cy="457200"/>
          </a:xfrm>
          <a:prstGeom prst="ellipse">
            <a:avLst/>
          </a:prstGeom>
          <a:solidFill>
            <a:schemeClr val="accent2"/>
          </a:solidFill>
          <a:ln/>
        </p:spPr>
      </p:sp>
      <p:sp>
        <p:nvSpPr>
          <p:cNvPr id="19" name="t47"/>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48"/>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The escalation level moves</a:t>
            </a:r>
            <a:endParaRPr lang="en-US" sz="1600" dirty="0"/>
          </a:p>
        </p:txBody>
      </p:sp>
      <p:sp>
        <p:nvSpPr>
          <p:cNvPr id="21" name="st49"/>
          <p:cNvSpPr/>
          <p:nvPr/>
        </p:nvSpPr>
        <p:spPr>
          <a:xfrm>
            <a:off x="548640" y="4901184"/>
            <a:ext cx="457200" cy="457200"/>
          </a:xfrm>
          <a:prstGeom prst="ellipse">
            <a:avLst/>
          </a:prstGeom>
          <a:solidFill>
            <a:schemeClr val="accent1"/>
          </a:solidFill>
          <a:ln/>
        </p:spPr>
      </p:sp>
      <p:sp>
        <p:nvSpPr>
          <p:cNvPr id="22" name="t50"/>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51"/>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The game stops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53"/>
          <p:cNvSpPr txBox="1"/>
          <p:nvPr/>
        </p:nvSpPr>
        <p:spPr>
          <a:xfrm>
            <a:off x="6537960" y="1417320"/>
            <a:ext cx="4846320" cy="274320"/>
          </a:xfrm>
          <a:prstGeom prst="rect">
            <a:avLst/>
          </a:prstGeom>
          <a:noFill/>
          <a:ln/>
        </p:spPr>
        <p:txBody>
          <a:bodyPr wrap="square" lIns="0" tIns="0" rIns="0" bIns="0" rtlCol="0" anchor="ctr"/>
          <a:lstStyle/>
          <a:p>
            <a:pPr indent="0" marL="0">
              <a:buNone/>
            </a:pPr>
            <a:r>
              <a:rPr lang="en-US" sz="1500" b="1" dirty="0">
                <a:solidFill>
                  <a:schemeClr val="accent1"/>
                </a:solidFill>
              </a:rPr>
              <a:t>Control of zone v</a:t>
            </a:r>
            <a:endParaRPr lang="en-US" sz="1500" dirty="0"/>
          </a:p>
        </p:txBody>
      </p:sp>
      <p:pic>
        <p:nvPicPr>
          <p:cNvPr id="26" name="eq54" descr="/Users/seanbowman/Documents/MIT/Fall26/6.s974/repo/slides/eqs/control.png">    </p:cNvPr>
          <p:cNvPicPr>
            <a:picLocks noChangeAspect="1"/>
          </p:cNvPicPr>
          <p:nvPr/>
        </p:nvPicPr>
        <p:blipFill>
          <a:blip r:embed="rId1"/>
          <a:stretch>
            <a:fillRect/>
          </a:stretch>
        </p:blipFill>
        <p:spPr>
          <a:xfrm>
            <a:off x="6583680" y="1746504"/>
            <a:ext cx="4125087" cy="477317"/>
          </a:xfrm>
          <a:prstGeom prst="rect">
            <a:avLst/>
          </a:prstGeom>
        </p:spPr>
      </p:pic>
      <p:sp>
        <p:nvSpPr>
          <p:cNvPr id="27" name="t55"/>
          <p:cNvSpPr txBox="1"/>
          <p:nvPr/>
        </p:nvSpPr>
        <p:spPr>
          <a:xfrm>
            <a:off x="6537960" y="2296973"/>
            <a:ext cx="4846320" cy="274320"/>
          </a:xfrm>
          <a:prstGeom prst="rect">
            <a:avLst/>
          </a:prstGeom>
          <a:noFill/>
          <a:ln/>
        </p:spPr>
        <p:txBody>
          <a:bodyPr wrap="square" lIns="0" tIns="0" rIns="0" bIns="0" rtlCol="0" anchor="ctr"/>
          <a:lstStyle/>
          <a:p>
            <a:pPr indent="0" marL="0">
              <a:buNone/>
            </a:pPr>
            <a:r>
              <a:rPr lang="en-US" sz="1200" dirty="0">
                <a:solidFill>
                  <a:schemeClr val="accent5"/>
                </a:solidFill>
              </a:rPr>
              <a:t>Presence builds control slowly. Leaving lets it decay.</a:t>
            </a:r>
            <a:endParaRPr lang="en-US" sz="1200" dirty="0"/>
          </a:p>
        </p:txBody>
      </p:sp>
      <p:sp>
        <p:nvSpPr>
          <p:cNvPr id="28" name="t56"/>
          <p:cNvSpPr txBox="1"/>
          <p:nvPr/>
        </p:nvSpPr>
        <p:spPr>
          <a:xfrm>
            <a:off x="6537960" y="2735885"/>
            <a:ext cx="4846320" cy="274320"/>
          </a:xfrm>
          <a:prstGeom prst="rect">
            <a:avLst/>
          </a:prstGeom>
          <a:noFill/>
          <a:ln/>
        </p:spPr>
        <p:txBody>
          <a:bodyPr wrap="square" lIns="0" tIns="0" rIns="0" bIns="0" rtlCol="0" anchor="ctr"/>
          <a:lstStyle/>
          <a:p>
            <a:pPr indent="0" marL="0">
              <a:buNone/>
            </a:pPr>
            <a:r>
              <a:rPr lang="en-US" sz="1500" b="1" dirty="0">
                <a:solidFill>
                  <a:schemeClr val="accent2"/>
                </a:solidFill>
              </a:rPr>
              <a:t>Incident chance</a:t>
            </a:r>
            <a:endParaRPr lang="en-US" sz="1500" dirty="0"/>
          </a:p>
        </p:txBody>
      </p:sp>
      <p:pic>
        <p:nvPicPr>
          <p:cNvPr id="29" name="eq57" descr="/Users/seanbowman/Documents/MIT/Fall26/6.s974/repo/slides/eqs/hazard.png">    </p:cNvPr>
          <p:cNvPicPr>
            <a:picLocks noChangeAspect="1"/>
          </p:cNvPicPr>
          <p:nvPr/>
        </p:nvPicPr>
        <p:blipFill>
          <a:blip r:embed="rId2"/>
          <a:stretch>
            <a:fillRect/>
          </a:stretch>
        </p:blipFill>
        <p:spPr>
          <a:xfrm>
            <a:off x="6583680" y="3065069"/>
            <a:ext cx="4330827" cy="588416"/>
          </a:xfrm>
          <a:prstGeom prst="rect">
            <a:avLst/>
          </a:prstGeom>
        </p:spPr>
      </p:pic>
      <p:sp>
        <p:nvSpPr>
          <p:cNvPr id="30" name="t58"/>
          <p:cNvSpPr txBox="1"/>
          <p:nvPr/>
        </p:nvSpPr>
        <p:spPr>
          <a:xfrm>
            <a:off x="6537960" y="3726637"/>
            <a:ext cx="4846320" cy="274320"/>
          </a:xfrm>
          <a:prstGeom prst="rect">
            <a:avLst/>
          </a:prstGeom>
          <a:noFill/>
          <a:ln/>
        </p:spPr>
        <p:txBody>
          <a:bodyPr wrap="square" lIns="0" tIns="0" rIns="0" bIns="0" rtlCol="0" anchor="ctr"/>
          <a:lstStyle/>
          <a:p>
            <a:pPr indent="0" marL="0">
              <a:buNone/>
            </a:pPr>
            <a:r>
              <a:rPr lang="en-US" sz="1200" dirty="0">
                <a:solidFill>
                  <a:schemeClr val="accent5"/>
                </a:solidFill>
              </a:rPr>
              <a:t>Needs both sides present. Grows with assertion and with the escalation level ℓ.</a:t>
            </a:r>
            <a:endParaRPr lang="en-US" sz="1200" dirty="0"/>
          </a:p>
        </p:txBody>
      </p:sp>
      <p:sp>
        <p:nvSpPr>
          <p:cNvPr id="31" name="t59"/>
          <p:cNvSpPr txBox="1"/>
          <p:nvPr/>
        </p:nvSpPr>
        <p:spPr>
          <a:xfrm>
            <a:off x="6537960" y="4165549"/>
            <a:ext cx="4846320" cy="274320"/>
          </a:xfrm>
          <a:prstGeom prst="rect">
            <a:avLst/>
          </a:prstGeom>
          <a:noFill/>
          <a:ln/>
        </p:spPr>
        <p:txBody>
          <a:bodyPr wrap="square" lIns="0" tIns="0" rIns="0" bIns="0" rtlCol="0" anchor="ctr"/>
          <a:lstStyle/>
          <a:p>
            <a:pPr indent="0" marL="0">
              <a:buNone/>
            </a:pPr>
            <a:r>
              <a:rPr lang="en-US" sz="1500" b="1" dirty="0">
                <a:solidFill>
                  <a:schemeClr val="tx2"/>
                </a:solidFill>
              </a:rPr>
              <a:t>Stage payoff</a:t>
            </a:r>
            <a:endParaRPr lang="en-US" sz="1500" dirty="0"/>
          </a:p>
        </p:txBody>
      </p:sp>
      <p:pic>
        <p:nvPicPr>
          <p:cNvPr id="32" name="eq60" descr="/Users/seanbowman/Documents/MIT/Fall26/6.s974/repo/slides/eqs/stage.png">    </p:cNvPr>
          <p:cNvPicPr>
            <a:picLocks noChangeAspect="1"/>
          </p:cNvPicPr>
          <p:nvPr/>
        </p:nvPicPr>
        <p:blipFill>
          <a:blip r:embed="rId3"/>
          <a:stretch>
            <a:fillRect/>
          </a:stretch>
        </p:blipFill>
        <p:spPr>
          <a:xfrm>
            <a:off x="6583680" y="4494733"/>
            <a:ext cx="3904945" cy="485546"/>
          </a:xfrm>
          <a:prstGeom prst="rect">
            <a:avLst/>
          </a:prstGeom>
        </p:spPr>
      </p:pic>
      <p:sp>
        <p:nvSpPr>
          <p:cNvPr id="33" name="t61"/>
          <p:cNvSpPr txBox="1"/>
          <p:nvPr/>
        </p:nvSpPr>
        <p:spPr>
          <a:xfrm>
            <a:off x="6537960" y="5053432"/>
            <a:ext cx="4846320" cy="274320"/>
          </a:xfrm>
          <a:prstGeom prst="rect">
            <a:avLst/>
          </a:prstGeom>
          <a:noFill/>
          <a:ln/>
        </p:spPr>
        <p:txBody>
          <a:bodyPr wrap="square" lIns="0" tIns="0" rIns="0" bIns="0" rtlCol="0" anchor="ctr"/>
          <a:lstStyle/>
          <a:p>
            <a:pPr indent="0" marL="0">
              <a:buNone/>
            </a:pPr>
            <a:r>
              <a:rPr lang="en-US" sz="1200" dirty="0">
                <a:solidFill>
                  <a:schemeClr val="accent5"/>
                </a:solidFill>
              </a:rPr>
              <a:t>Control value minus fuel, tension and Blue's redesign cost. Both pay W = 200 at war.</a:t>
            </a:r>
            <a:endParaRPr lang="en-US" sz="1200" dirty="0"/>
          </a:p>
        </p:txBody>
      </p:sp>
      <p:sp>
        <p:nvSpPr>
          <p:cNvPr id="34" name="tk62"/>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35" name="t63"/>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Formulation: state, moves, escalation and payoffs</a:t>
            </a:r>
            <a:endParaRPr lang="en-US" sz="2800" dirty="0"/>
          </a:p>
        </p:txBody>
      </p:sp>
      <p:sp>
        <p:nvSpPr>
          <p:cNvPr id="3" name="t64"/>
          <p:cNvSpPr txBox="1"/>
          <p:nvPr/>
        </p:nvSpPr>
        <p:spPr>
          <a:xfrm>
            <a:off x="548640" y="1280160"/>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State</a:t>
            </a:r>
            <a:endParaRPr lang="en-US" sz="1500" dirty="0"/>
          </a:p>
          <a:p>
            <a:pPr indent="0" marL="0">
              <a:buNone/>
            </a:pPr>
            <a:r>
              <a:rPr lang="en-US" sz="1100" dirty="0">
                <a:solidFill>
                  <a:schemeClr val="accent5"/>
                </a:solidFill>
              </a:rPr>
              <a:t>Ships by type and node, endurance, control, escalation level, sea state</a:t>
            </a:r>
            <a:endParaRPr lang="en-US" sz="1500" dirty="0"/>
          </a:p>
        </p:txBody>
      </p:sp>
      <p:pic>
        <p:nvPicPr>
          <p:cNvPr id="4" name="eq65" descr="/Users/seanbowman/Documents/MIT/Fall26/6.s974/repo/slides/eqs/state.png">    </p:cNvPr>
          <p:cNvPicPr>
            <a:picLocks noChangeAspect="1"/>
          </p:cNvPicPr>
          <p:nvPr/>
        </p:nvPicPr>
        <p:blipFill>
          <a:blip r:embed="rId1"/>
          <a:stretch>
            <a:fillRect/>
          </a:stretch>
        </p:blipFill>
        <p:spPr>
          <a:xfrm>
            <a:off x="3840480" y="1280160"/>
            <a:ext cx="7772400" cy="244697"/>
          </a:xfrm>
          <a:prstGeom prst="rect">
            <a:avLst/>
          </a:prstGeom>
        </p:spPr>
      </p:pic>
      <p:sp>
        <p:nvSpPr>
          <p:cNvPr id="5" name="fl66"/>
          <p:cNvSpPr/>
          <p:nvPr/>
        </p:nvSpPr>
        <p:spPr>
          <a:xfrm>
            <a:off x="548640" y="1819656"/>
            <a:ext cx="11064240" cy="0"/>
          </a:xfrm>
          <a:prstGeom prst="line">
            <a:avLst/>
          </a:prstGeom>
          <a:noFill/>
          <a:ln w="6350">
            <a:solidFill>
              <a:schemeClr val="accent6"/>
            </a:solidFill>
            <a:prstDash val="solid"/>
          </a:ln>
        </p:spPr>
      </p:sp>
      <p:sp>
        <p:nvSpPr>
          <p:cNvPr id="6" name="t67"/>
          <p:cNvSpPr txBox="1"/>
          <p:nvPr/>
        </p:nvSpPr>
        <p:spPr>
          <a:xfrm>
            <a:off x="548640" y="1883664"/>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Flow conservation</a:t>
            </a:r>
            <a:endParaRPr lang="en-US" sz="1500" dirty="0"/>
          </a:p>
          <a:p>
            <a:pPr indent="0" marL="0">
              <a:buNone/>
            </a:pPr>
            <a:r>
              <a:rPr lang="en-US" sz="1100" dirty="0">
                <a:solidFill>
                  <a:schemeClr val="accent5"/>
                </a:solidFill>
              </a:rPr>
              <a:t>No ships are added or removed</a:t>
            </a:r>
            <a:endParaRPr lang="en-US" sz="1500" dirty="0"/>
          </a:p>
        </p:txBody>
      </p:sp>
      <p:pic>
        <p:nvPicPr>
          <p:cNvPr id="7" name="eq68" descr="/Users/seanbowman/Documents/MIT/Fall26/6.s974/repo/slides/eqs/flow.png">    </p:cNvPr>
          <p:cNvPicPr>
            <a:picLocks noChangeAspect="1"/>
          </p:cNvPicPr>
          <p:nvPr/>
        </p:nvPicPr>
        <p:blipFill>
          <a:blip r:embed="rId2"/>
          <a:stretch>
            <a:fillRect/>
          </a:stretch>
        </p:blipFill>
        <p:spPr>
          <a:xfrm>
            <a:off x="3840480" y="1883664"/>
            <a:ext cx="3491484" cy="559079"/>
          </a:xfrm>
          <a:prstGeom prst="rect">
            <a:avLst/>
          </a:prstGeom>
        </p:spPr>
      </p:pic>
      <p:sp>
        <p:nvSpPr>
          <p:cNvPr id="8" name="fl69"/>
          <p:cNvSpPr/>
          <p:nvPr/>
        </p:nvSpPr>
        <p:spPr>
          <a:xfrm>
            <a:off x="548640" y="2470175"/>
            <a:ext cx="11064240" cy="0"/>
          </a:xfrm>
          <a:prstGeom prst="line">
            <a:avLst/>
          </a:prstGeom>
          <a:noFill/>
          <a:ln w="6350">
            <a:solidFill>
              <a:schemeClr val="accent6"/>
            </a:solidFill>
            <a:prstDash val="solid"/>
          </a:ln>
        </p:spPr>
      </p:sp>
      <p:sp>
        <p:nvSpPr>
          <p:cNvPr id="9" name="t70"/>
          <p:cNvSpPr txBox="1"/>
          <p:nvPr/>
        </p:nvSpPr>
        <p:spPr>
          <a:xfrm>
            <a:off x="548640" y="2534183"/>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Movement budget</a:t>
            </a:r>
            <a:endParaRPr lang="en-US" sz="1500" dirty="0"/>
          </a:p>
          <a:p>
            <a:pPr indent="0" marL="0">
              <a:buNone/>
            </a:pPr>
            <a:r>
              <a:rPr lang="en-US" sz="1100" dirty="0">
                <a:solidFill>
                  <a:schemeClr val="accent5"/>
                </a:solidFill>
              </a:rPr>
              <a:t>At most Fᵢ ship moves per period (8 Blue, 10 Red)</a:t>
            </a:r>
            <a:endParaRPr lang="en-US" sz="1500" dirty="0"/>
          </a:p>
        </p:txBody>
      </p:sp>
      <p:pic>
        <p:nvPicPr>
          <p:cNvPr id="10" name="eq71" descr="/Users/seanbowman/Documents/MIT/Fall26/6.s974/repo/slides/eqs/budget.png">    </p:cNvPr>
          <p:cNvPicPr>
            <a:picLocks noChangeAspect="1"/>
          </p:cNvPicPr>
          <p:nvPr/>
        </p:nvPicPr>
        <p:blipFill>
          <a:blip r:embed="rId3"/>
          <a:stretch>
            <a:fillRect/>
          </a:stretch>
        </p:blipFill>
        <p:spPr>
          <a:xfrm>
            <a:off x="3840480" y="2534183"/>
            <a:ext cx="1739113" cy="559079"/>
          </a:xfrm>
          <a:prstGeom prst="rect">
            <a:avLst/>
          </a:prstGeom>
        </p:spPr>
      </p:pic>
      <p:sp>
        <p:nvSpPr>
          <p:cNvPr id="11" name="fl72"/>
          <p:cNvSpPr/>
          <p:nvPr/>
        </p:nvSpPr>
        <p:spPr>
          <a:xfrm>
            <a:off x="548640" y="3120695"/>
            <a:ext cx="11064240" cy="0"/>
          </a:xfrm>
          <a:prstGeom prst="line">
            <a:avLst/>
          </a:prstGeom>
          <a:noFill/>
          <a:ln w="6350">
            <a:solidFill>
              <a:schemeClr val="accent6"/>
            </a:solidFill>
            <a:prstDash val="solid"/>
          </a:ln>
        </p:spPr>
      </p:sp>
      <p:sp>
        <p:nvSpPr>
          <p:cNvPr id="12" name="t73"/>
          <p:cNvSpPr txBox="1"/>
          <p:nvPr/>
        </p:nvSpPr>
        <p:spPr>
          <a:xfrm>
            <a:off x="548640" y="3184703"/>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Local strength</a:t>
            </a:r>
            <a:endParaRPr lang="en-US" sz="1500" dirty="0"/>
          </a:p>
          <a:p>
            <a:pPr indent="0" marL="0">
              <a:buNone/>
            </a:pPr>
            <a:r>
              <a:rPr lang="en-US" sz="1100" dirty="0">
                <a:solidFill>
                  <a:schemeClr val="accent5"/>
                </a:solidFill>
              </a:rPr>
              <a:t>Hulls weighted by type (CCG 0.6, 0.3 in rough seas), × α = 1.5 when asserting</a:t>
            </a:r>
            <a:endParaRPr lang="en-US" sz="1500" dirty="0"/>
          </a:p>
        </p:txBody>
      </p:sp>
      <p:pic>
        <p:nvPicPr>
          <p:cNvPr id="13" name="eq74" descr="/Users/seanbowman/Documents/MIT/Fall26/6.s974/repo/slides/eqs/strength.png">    </p:cNvPr>
          <p:cNvPicPr>
            <a:picLocks noChangeAspect="1"/>
          </p:cNvPicPr>
          <p:nvPr/>
        </p:nvPicPr>
        <p:blipFill>
          <a:blip r:embed="rId4"/>
          <a:stretch>
            <a:fillRect/>
          </a:stretch>
        </p:blipFill>
        <p:spPr>
          <a:xfrm>
            <a:off x="3840480" y="3184703"/>
            <a:ext cx="2457298" cy="536981"/>
          </a:xfrm>
          <a:prstGeom prst="rect">
            <a:avLst/>
          </a:prstGeom>
        </p:spPr>
      </p:pic>
      <p:sp>
        <p:nvSpPr>
          <p:cNvPr id="14" name="fl75"/>
          <p:cNvSpPr/>
          <p:nvPr/>
        </p:nvSpPr>
        <p:spPr>
          <a:xfrm>
            <a:off x="548640" y="3749116"/>
            <a:ext cx="11064240" cy="0"/>
          </a:xfrm>
          <a:prstGeom prst="line">
            <a:avLst/>
          </a:prstGeom>
          <a:noFill/>
          <a:ln w="6350">
            <a:solidFill>
              <a:schemeClr val="accent6"/>
            </a:solidFill>
            <a:prstDash val="solid"/>
          </a:ln>
        </p:spPr>
      </p:sp>
      <p:sp>
        <p:nvSpPr>
          <p:cNvPr id="15" name="t76"/>
          <p:cNvSpPr txBox="1"/>
          <p:nvPr/>
        </p:nvSpPr>
        <p:spPr>
          <a:xfrm>
            <a:off x="548640" y="3813124"/>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Escalation</a:t>
            </a:r>
            <a:endParaRPr lang="en-US" sz="1500" dirty="0"/>
          </a:p>
          <a:p>
            <a:pPr indent="0" marL="0">
              <a:buNone/>
            </a:pPr>
            <a:r>
              <a:rPr lang="en-US" sz="1100" dirty="0">
                <a:solidFill>
                  <a:schemeClr val="accent5"/>
                </a:solidFill>
              </a:rPr>
              <a:t>Nᵗ = incidents this period. War when ℓ reaches L = 5</a:t>
            </a:r>
            <a:endParaRPr lang="en-US" sz="1500" dirty="0"/>
          </a:p>
        </p:txBody>
      </p:sp>
      <p:pic>
        <p:nvPicPr>
          <p:cNvPr id="16" name="eq77" descr="/Users/seanbowman/Documents/MIT/Fall26/6.s974/repo/slides/eqs/escalation.png">    </p:cNvPr>
          <p:cNvPicPr>
            <a:picLocks noChangeAspect="1"/>
          </p:cNvPicPr>
          <p:nvPr/>
        </p:nvPicPr>
        <p:blipFill>
          <a:blip r:embed="rId5"/>
          <a:stretch>
            <a:fillRect/>
          </a:stretch>
        </p:blipFill>
        <p:spPr>
          <a:xfrm>
            <a:off x="3840480" y="3813124"/>
            <a:ext cx="4483456" cy="838048"/>
          </a:xfrm>
          <a:prstGeom prst="rect">
            <a:avLst/>
          </a:prstGeom>
        </p:spPr>
      </p:pic>
      <p:sp>
        <p:nvSpPr>
          <p:cNvPr id="17" name="fl78"/>
          <p:cNvSpPr/>
          <p:nvPr/>
        </p:nvSpPr>
        <p:spPr>
          <a:xfrm>
            <a:off x="548640" y="4678604"/>
            <a:ext cx="11064240" cy="0"/>
          </a:xfrm>
          <a:prstGeom prst="line">
            <a:avLst/>
          </a:prstGeom>
          <a:noFill/>
          <a:ln w="6350">
            <a:solidFill>
              <a:schemeClr val="accent6"/>
            </a:solidFill>
            <a:prstDash val="solid"/>
          </a:ln>
        </p:spPr>
      </p:sp>
      <p:sp>
        <p:nvSpPr>
          <p:cNvPr id="18" name="t79"/>
          <p:cNvSpPr txBox="1"/>
          <p:nvPr/>
        </p:nvSpPr>
        <p:spPr>
          <a:xfrm>
            <a:off x="548640" y="4742612"/>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Total payoff</a:t>
            </a:r>
            <a:endParaRPr lang="en-US" sz="1500" dirty="0"/>
          </a:p>
          <a:p>
            <a:pPr indent="0" marL="0">
              <a:buNone/>
            </a:pPr>
            <a:r>
              <a:rPr lang="en-US" sz="1100" dirty="0">
                <a:solidFill>
                  <a:schemeClr val="accent5"/>
                </a:solidFill>
              </a:rPr>
              <a:t>Discounted stage payoffs (δ = 0.98, T = 60), minus W = 200 for both sides at war</a:t>
            </a:r>
            <a:endParaRPr lang="en-US" sz="1500" dirty="0"/>
          </a:p>
        </p:txBody>
      </p:sp>
      <p:pic>
        <p:nvPicPr>
          <p:cNvPr id="19" name="eq80" descr="/Users/seanbowman/Documents/MIT/Fall26/6.s974/repo/slides/eqs/total.png">    </p:cNvPr>
          <p:cNvPicPr>
            <a:picLocks noChangeAspect="1"/>
          </p:cNvPicPr>
          <p:nvPr/>
        </p:nvPicPr>
        <p:blipFill>
          <a:blip r:embed="rId6"/>
          <a:stretch>
            <a:fillRect/>
          </a:stretch>
        </p:blipFill>
        <p:spPr>
          <a:xfrm>
            <a:off x="3840480" y="4742612"/>
            <a:ext cx="5210708" cy="629793"/>
          </a:xfrm>
          <a:prstGeom prst="rect">
            <a:avLst/>
          </a:prstGeom>
        </p:spPr>
      </p:pic>
      <p:sp>
        <p:nvSpPr>
          <p:cNvPr id="20" name="tk81"/>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82"/>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pay W at war, so the game is general-sum. Both prefer to avoid war.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83"/>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84"/>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85"/>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86"/>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87"/>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88"/>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89"/>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90"/>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91"/>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A template says how to split ships North / Center / South, and whether to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92"/>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iterated elimination of strictly dominated strategies (IESDS), Nash equilibrium, maximin LP, correlated-equilibrium LP</a:t>
            </a:r>
            <a:endParaRPr lang="en-US" sz="1300" dirty="0"/>
          </a:p>
        </p:txBody>
      </p:sp>
      <p:sp>
        <p:nvSpPr>
          <p:cNvPr id="13" name="cd93"/>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94"/>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95"/>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96"/>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97"/>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98"/>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99"/>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best-response MIP with an escalation-risk budget</a:t>
            </a:r>
            <a:endParaRPr lang="en-US" sz="2800" dirty="0"/>
          </a:p>
        </p:txBody>
      </p:sp>
      <p:pic>
        <p:nvPicPr>
          <p:cNvPr id="3" name="eq100" descr="/Users/seanbowman/Documents/MIT/Fall26/6.s974/repo/slides/eqs/mip.png">    </p:cNvPr>
          <p:cNvPicPr>
            <a:picLocks noChangeAspect="1"/>
          </p:cNvPicPr>
          <p:nvPr/>
        </p:nvPicPr>
        <p:blipFill>
          <a:blip r:embed="rId1"/>
          <a:stretch>
            <a:fillRect/>
          </a:stretch>
        </p:blipFill>
        <p:spPr>
          <a:xfrm>
            <a:off x="548640" y="1325880"/>
            <a:ext cx="7530541" cy="3437382"/>
          </a:xfrm>
          <a:prstGeom prst="rect">
            <a:avLst/>
          </a:prstGeom>
        </p:spPr>
      </p:pic>
      <p:sp>
        <p:nvSpPr>
          <p:cNvPr id="4" name="t101"/>
          <p:cNvSpPr txBox="1"/>
          <p:nvPr/>
        </p:nvSpPr>
        <p:spPr>
          <a:xfrm>
            <a:off x="548640" y="4946142"/>
            <a:ext cx="7589520" cy="274320"/>
          </a:xfrm>
          <a:prstGeom prst="rect">
            <a:avLst/>
          </a:prstGeom>
          <a:noFill/>
          <a:ln/>
        </p:spPr>
        <p:txBody>
          <a:bodyPr wrap="square" lIns="0" tIns="0" rIns="0" bIns="0" rtlCol="0" anchor="ctr"/>
          <a:lstStyle/>
          <a:p>
            <a:pPr indent="0" marL="0">
              <a:buNone/>
            </a:pPr>
            <a:r>
              <a:rPr lang="en-US" sz="1300" b="1" dirty="0">
                <a:solidFill>
                  <a:schemeClr val="accent1"/>
                </a:solidFill>
              </a:rPr>
              <a:t>Value of an option (control gain minus incident cost)</a:t>
            </a:r>
            <a:endParaRPr lang="en-US" sz="1300" dirty="0"/>
          </a:p>
        </p:txBody>
      </p:sp>
      <p:pic>
        <p:nvPicPr>
          <p:cNvPr id="5" name="eq102" descr="/Users/seanbowman/Documents/MIT/Fall26/6.s974/repo/slides/eqs/option.png">    </p:cNvPr>
          <p:cNvPicPr>
            <a:picLocks noChangeAspect="1"/>
          </p:cNvPicPr>
          <p:nvPr/>
        </p:nvPicPr>
        <p:blipFill>
          <a:blip r:embed="rId2"/>
          <a:stretch>
            <a:fillRect/>
          </a:stretch>
        </p:blipFill>
        <p:spPr>
          <a:xfrm>
            <a:off x="548640" y="5266182"/>
            <a:ext cx="4937760" cy="413309"/>
          </a:xfrm>
          <a:prstGeom prst="rect">
            <a:avLst/>
          </a:prstGeom>
        </p:spPr>
      </p:pic>
      <p:sp>
        <p:nvSpPr>
          <p:cNvPr id="6" name="t103"/>
          <p:cNvSpPr txBox="1"/>
          <p:nvPr/>
        </p:nvSpPr>
        <p:spPr>
          <a:xfrm>
            <a:off x="8412480" y="1325880"/>
            <a:ext cx="3200400" cy="4206240"/>
          </a:xfrm>
          <a:prstGeom prst="rect">
            <a:avLst/>
          </a:prstGeom>
          <a:noFill/>
          <a:ln/>
        </p:spPr>
        <p:txBody>
          <a:bodyPr wrap="square" lIns="0" tIns="0" rIns="0" bIns="0" rtlCol="0" anchor="t"/>
          <a:lstStyle/>
          <a:p>
            <a:pPr marL="342900" indent="-342900">
              <a:spcAft>
                <a:spcPts val="600"/>
              </a:spcAft>
              <a:buSzPct val="100000"/>
              <a:buChar char="•"/>
            </a:pPr>
            <a:r>
              <a:rPr lang="en-US" sz="1300" b="1" dirty="0">
                <a:solidFill>
                  <a:schemeClr val="tx1"/>
                </a:solidFill>
              </a:rPr>
              <a:t>Variables. </a:t>
            </a:r>
            <a:pPr indent="0" marL="0">
              <a:buNone/>
            </a:pPr>
            <a:r>
              <a:rPr lang="en-US" sz="1300" dirty="0">
                <a:solidFill>
                  <a:schemeClr val="tx1"/>
                </a:solidFill>
              </a:rPr>
              <a:t>y = 1 sends free ship j to node w. b = 1 picks option (n, p) for zone v, meaning hull counts n and posture p.</a:t>
            </a:r>
            <a:endParaRPr lang="en-US" sz="1300" dirty="0"/>
          </a:p>
          <a:p>
            <a:pPr marL="342900" indent="-342900">
              <a:spcAft>
                <a:spcPts val="600"/>
              </a:spcAft>
              <a:buSzPct val="100000"/>
              <a:buChar char="•"/>
            </a:pPr>
            <a:r>
              <a:rPr lang="en-US" sz="1300" b="1" dirty="0">
                <a:solidFill>
                  <a:schemeClr val="tx1"/>
                </a:solidFill>
              </a:rPr>
              <a:t>Why options. </a:t>
            </a:r>
            <a:pPr indent="0" marL="0">
              <a:buNone/>
            </a:pPr>
            <a:r>
              <a:rPr lang="en-US" sz="1300" dirty="0">
                <a:solidFill>
                  <a:schemeClr val="tx1"/>
                </a:solidFill>
              </a:rPr>
              <a:t>Control φ and incident risk ρ are nonlinear in ship counts, so each option's value and risk are computed in advance. The program stays linear.</a:t>
            </a:r>
            <a:endParaRPr lang="en-US" sz="1300" dirty="0"/>
          </a:p>
          <a:p>
            <a:pPr marL="342900" indent="-342900">
              <a:spcAft>
                <a:spcPts val="600"/>
              </a:spcAft>
              <a:buSzPct val="100000"/>
              <a:buChar char="•"/>
            </a:pPr>
            <a:r>
              <a:rPr lang="en-US" sz="1300" b="1" dirty="0">
                <a:solidFill>
                  <a:schemeClr val="accent2"/>
                </a:solidFill>
              </a:rPr>
              <a:t>Risk budget. </a:t>
            </a:r>
            <a:pPr indent="0" marL="0">
              <a:buNone/>
            </a:pPr>
            <a:r>
              <a:rPr lang="en-US" sz="1300" dirty="0">
                <a:solidFill>
                  <a:schemeClr val="tx1"/>
                </a:solidFill>
              </a:rPr>
              <a:t>Expected incidents ≤ ε, shrinking to zero as ℓ nears war. ε = 0.05 / 0.15 / 0.40 is conservative / moderate / aggressive.</a:t>
            </a:r>
            <a:endParaRPr lang="en-US" sz="1300" dirty="0"/>
          </a:p>
          <a:p>
            <a:pPr marL="342900" indent="-342900">
              <a:spcAft>
                <a:spcPts val="600"/>
              </a:spcAft>
              <a:buSzPct val="100000"/>
              <a:buChar char="•"/>
            </a:pPr>
            <a:r>
              <a:rPr lang="en-US" sz="1300" b="1" dirty="0">
                <a:solidFill>
                  <a:schemeClr val="tx1"/>
                </a:solidFill>
              </a:rPr>
              <a:t>Slack ξ </a:t>
            </a:r>
            <a:pPr indent="0" marL="0">
              <a:buNone/>
            </a:pPr>
            <a:r>
              <a:rPr lang="en-US" sz="1300" dirty="0">
                <a:solidFill>
                  <a:schemeClr val="tx1"/>
                </a:solidFill>
              </a:rPr>
              <a:t>covers unavoidable risk from forced returns, at a penalty of 1000.</a:t>
            </a:r>
            <a:endParaRPr lang="en-US" sz="1300" dirty="0"/>
          </a:p>
        </p:txBody>
      </p:sp>
      <p:sp>
        <p:nvSpPr>
          <p:cNvPr id="7" name="tk10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10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risk budget ε defines the feasible region. It is how the proposal's commander types enter the model.</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10"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r>
            </a:tbl>
          </a:graphicData>
        </a:graphic>
      </p:graphicFrame>
      <p:sp>
        <p:nvSpPr>
          <p:cNvPr id="4" name="t10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10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 and payoffs (−1.30, −6.02).</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if both patrol and any assertion makes both fall back to the mixed equilibrium for good, mutual patrolling is a subgame perfect equilibrium for any discount factor above 0.18. Ours is 0.98.</a:t>
            </a:r>
            <a:endParaRPr lang="en-US" sz="1700" dirty="0"/>
          </a:p>
        </p:txBody>
      </p:sp>
      <p:sp>
        <p:nvSpPr>
          <p:cNvPr id="6" name="tk10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11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111" descr="/Users/seanbowman/Documents/MIT/Fall26/6.s974/repo/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11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rgbClr val="E8A33D"/>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113" descr="/Users/seanbowman/Documents/MIT/Fall26/6.s974/repo/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12"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 0.05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 0.15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 0.40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 0.05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731520">
                <a:tc>
                  <a:txBody>
                    <a:bodyPr/>
                    <a:lstStyle/>
                    <a:p>
                      <a:pPr indent="0" marL="0">
                        <a:buNone/>
                      </a:pPr>
                      <a:r>
                        <a:rPr lang="en-US" sz="1300" b="1" dirty="0">
                          <a:solidFill>
                            <a:srgbClr val="000000"/>
                          </a:solidFill>
                        </a:rPr>
                        <a:t>Mod. 0.15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 0.40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bl>
          </a:graphicData>
        </a:graphic>
      </p:graphicFrame>
      <p:sp>
        <p:nvSpPr>
          <p:cNvPr id="5" name="t11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Each side picks ε. Payoffs (Blue, Red) and war rate. Gold bold = the only equilibrium.</a:t>
            </a:r>
            <a:endParaRPr lang="en-US" sz="1200" dirty="0"/>
          </a:p>
        </p:txBody>
      </p:sp>
      <p:sp>
        <p:nvSpPr>
          <p:cNvPr id="6" name="t11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11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11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choose aggressive (−151, 39), yet both do better at moderate (−144, 101). That is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12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121" descr="/Users/seanbowman/Documents/MIT/Fall26/6.s974/repo/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12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12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in normal weather is D0 20%, D1 28%, D2 23%, D3 5%. De-escalation measures were given no cost yet.</a:t>
            </a:r>
            <a:endParaRPr lang="en-US" sz="1300" dirty="0"/>
          </a:p>
        </p:txBody>
      </p:sp>
      <p:sp>
        <p:nvSpPr>
          <p:cNvPr id="7" name="tk12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12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De-escalation measures are the best design and cut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12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12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12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De-escalation measures are a joint gain under every weather scenario</a:t>
            </a:r>
            <a:endParaRPr lang="en-US" sz="1600" dirty="0"/>
          </a:p>
        </p:txBody>
      </p:sp>
      <p:sp>
        <p:nvSpPr>
          <p:cNvPr id="6" name="cv13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13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13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De-escalation measures have no cost yet, so part of their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p133"/>
          <p:cNvSpPr/>
          <p:nvPr/>
        </p:nvSpPr>
        <p:spPr>
          <a:xfrm>
            <a:off x="731520" y="1691640"/>
            <a:ext cx="457200" cy="457200"/>
          </a:xfrm>
          <a:prstGeom prst="ellipse">
            <a:avLst/>
          </a:prstGeom>
          <a:solidFill>
            <a:schemeClr val="accent1"/>
          </a:solidFill>
          <a:ln/>
        </p:spPr>
      </p:sp>
      <p:sp>
        <p:nvSpPr>
          <p:cNvPr id="4" name="t134"/>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Model</a:t>
            </a:r>
            <a:endParaRPr lang="en-US" sz="1600" dirty="0"/>
          </a:p>
        </p:txBody>
      </p:sp>
      <p:sp>
        <p:nvSpPr>
          <p:cNvPr id="5" name="t135"/>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weather, budget</a:t>
            </a:r>
            <a:endParaRPr lang="en-US" sz="1800" dirty="0"/>
          </a:p>
        </p:txBody>
      </p:sp>
      <p:sp>
        <p:nvSpPr>
          <p:cNvPr id="6" name="t136"/>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and multi-period best response. Sensitivity analysis on V, h, W and μ. Calendar-based weather from real data. Reformulate the movement budget Fᵢ with considerations for oilers.</a:t>
            </a:r>
            <a:endParaRPr lang="en-US" sz="1500" dirty="0"/>
          </a:p>
        </p:txBody>
      </p:sp>
      <p:sp>
        <p:nvSpPr>
          <p:cNvPr id="7" name="tp137"/>
          <p:cNvSpPr/>
          <p:nvPr/>
        </p:nvSpPr>
        <p:spPr>
          <a:xfrm>
            <a:off x="3520440" y="1691640"/>
            <a:ext cx="457200" cy="457200"/>
          </a:xfrm>
          <a:prstGeom prst="ellipse">
            <a:avLst/>
          </a:prstGeom>
          <a:solidFill>
            <a:schemeClr val="accent1"/>
          </a:solidFill>
          <a:ln/>
        </p:spPr>
      </p:sp>
      <p:sp>
        <p:nvSpPr>
          <p:cNvPr id="8" name="t138"/>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Learning</a:t>
            </a:r>
            <a:endParaRPr lang="en-US" sz="1600" dirty="0"/>
          </a:p>
        </p:txBody>
      </p:sp>
      <p:sp>
        <p:nvSpPr>
          <p:cNvPr id="9" name="t139"/>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 agents</a:t>
            </a:r>
            <a:endParaRPr lang="en-US" sz="1800" dirty="0"/>
          </a:p>
        </p:txBody>
      </p:sp>
      <p:sp>
        <p:nvSpPr>
          <p:cNvPr id="10" name="t140"/>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A Red agent that learns from repeated play, and other learning methods. Do they converge, drift toward restraint, and exploit rule-based Blue?</a:t>
            </a:r>
            <a:endParaRPr lang="en-US" sz="1500" dirty="0"/>
          </a:p>
        </p:txBody>
      </p:sp>
      <p:sp>
        <p:nvSpPr>
          <p:cNvPr id="11" name="tp141"/>
          <p:cNvSpPr/>
          <p:nvPr/>
        </p:nvSpPr>
        <p:spPr>
          <a:xfrm>
            <a:off x="6309360" y="1691640"/>
            <a:ext cx="457200" cy="457200"/>
          </a:xfrm>
          <a:prstGeom prst="ellipse">
            <a:avLst/>
          </a:prstGeom>
          <a:solidFill>
            <a:schemeClr val="accent1"/>
          </a:solidFill>
          <a:ln/>
        </p:spPr>
      </p:sp>
      <p:sp>
        <p:nvSpPr>
          <p:cNvPr id="12" name="t142"/>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Attacks</a:t>
            </a:r>
            <a:endParaRPr lang="en-US" sz="1600" dirty="0"/>
          </a:p>
        </p:txBody>
      </p:sp>
      <p:sp>
        <p:nvSpPr>
          <p:cNvPr id="13" name="t143"/>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Attacks and defenses</a:t>
            </a:r>
            <a:endParaRPr lang="en-US" sz="1800" dirty="0"/>
          </a:p>
        </p:txBody>
      </p:sp>
      <p:sp>
        <p:nvSpPr>
          <p:cNvPr id="14" name="t144"/>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Coast guard blockade at SCB and STS, jamming that halves Blue's detection in one region, and false contacts. A Red attacker that reacts to Blue's posture. Randomized patrols, D1 and D2 as defenses.</a:t>
            </a:r>
            <a:endParaRPr lang="en-US" sz="1500" dirty="0"/>
          </a:p>
        </p:txBody>
      </p:sp>
      <p:sp>
        <p:nvSpPr>
          <p:cNvPr id="15" name="tp145"/>
          <p:cNvSpPr/>
          <p:nvPr/>
        </p:nvSpPr>
        <p:spPr>
          <a:xfrm>
            <a:off x="9098280" y="1691640"/>
            <a:ext cx="457200" cy="457200"/>
          </a:xfrm>
          <a:prstGeom prst="ellipse">
            <a:avLst/>
          </a:prstGeom>
          <a:solidFill>
            <a:schemeClr val="accent1"/>
          </a:solidFill>
          <a:ln/>
        </p:spPr>
      </p:sp>
      <p:sp>
        <p:nvSpPr>
          <p:cNvPr id="16" name="t146"/>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Designs</a:t>
            </a:r>
            <a:endParaRPr lang="en-US" sz="1600" dirty="0"/>
          </a:p>
        </p:txBody>
      </p:sp>
      <p:sp>
        <p:nvSpPr>
          <p:cNvPr id="17" name="t147"/>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Resilient designs</a:t>
            </a:r>
            <a:endParaRPr lang="en-US" sz="1800" dirty="0"/>
          </a:p>
        </p:txBody>
      </p:sp>
      <p:sp>
        <p:nvSpPr>
          <p:cNvPr id="18" name="t148"/>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D0 to D3 and combinations under attack and a long typhoon. A cost for D3.</a:t>
            </a:r>
            <a:endParaRPr lang="en-US" sz="1500" dirty="0"/>
          </a:p>
        </p:txBody>
      </p:sp>
      <p:sp>
        <p:nvSpPr>
          <p:cNvPr id="19" name="tk14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0" name="t15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Workshop 2 adds better beliefs and weather, learning agents, attacks and defenses, and costed designs.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Navy and Gold">
      <a:dk1>
        <a:srgbClr val="1A2233"/>
      </a:dk1>
      <a:lt1>
        <a:srgbClr val="FFFFFF"/>
      </a:lt1>
      <a:dk2>
        <a:srgbClr val="0B1F3A"/>
      </a:dk2>
      <a:lt2>
        <a:srgbClr val="F6F1E2"/>
      </a:lt2>
      <a:accent1>
        <a:srgbClr val="1D3E72"/>
      </a:accent1>
      <a:accent2>
        <a:srgbClr val="A97C14"/>
      </a:accent2>
      <a:accent3>
        <a:srgbClr val="D4AF37"/>
      </a:accent3>
      <a:accent4>
        <a:srgbClr val="B8901E"/>
      </a:accent4>
      <a:accent5>
        <a:srgbClr val="5E6B7D"/>
      </a:accent5>
      <a:accent6>
        <a:srgbClr val="A9B8CC"/>
      </a:accent6>
      <a:hlink>
        <a:srgbClr val="1D3E72"/>
      </a:hlink>
      <a:folHlink>
        <a:srgbClr val="5E6B7D"/>
      </a:folHlink>
    </a:clrScheme>
    <a:fontScheme name="Office">
      <a:majorFont>
        <a:latin typeface="Franklin Gothic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2026-10-27T03:07:49Z</dcterms:created>
  <dcterms:modified xsi:type="dcterms:W3CDTF">2026-10-27T03:07:49Z</dcterms:modified>
</cp:coreProperties>
</file>