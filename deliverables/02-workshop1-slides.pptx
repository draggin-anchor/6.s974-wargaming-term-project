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3c30ed8-a324-04e5-1373-d447df83b2f2}">
          <p14:sldIdLst>
            <p14:sldId id="256"/>
            <p14:sldId id="257"/>
            <p14:sldId id="258"/>
          </p14:sldIdLst>
        </p14:section>
        <p14:section name="Model" id="{b8cc2719-3056-5444-bd12-b84543ae073e}">
          <p14:sldIdLst>
            <p14:sldId id="259"/>
            <p14:sldId id="260"/>
          </p14:sldIdLst>
        </p14:section>
        <p14:section name="Results" id="{609d7283-0c25-4d75-ec84-e01a7bfb4fe8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Next steps" id="{44240eb0-bac6-37ab-e7e1-02a835a1568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545"/>
                </a:solidFill>
                <a:latin typeface="+mn-lt"/>
              </a:rPr>
              <a:t>Blue payoff against its worst Red opponent (higher is better)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Blue payoff vs. its worst Red opponent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8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A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A8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E9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E9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3807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Random moves</c:v>
                  </c:pt>
                  <c:pt idx="1">
                    <c:v>Rule of thumb</c:v>
                  </c:pt>
                  <c:pt idx="2">
                    <c:v>Safety-first plan</c:v>
                  </c:pt>
                  <c:pt idx="3">
                    <c:v>Best response (MIP)</c:v>
                  </c:pt>
                  <c:pt idx="4">
                    <c:v>Quick best response</c:v>
                  </c:pt>
                  <c:pt idx="5">
                    <c:v>Nash equilibrium plan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-319</c:v>
                </c:pt>
                <c:pt idx="1">
                  <c:v>-184</c:v>
                </c:pt>
                <c:pt idx="2">
                  <c:v>-221</c:v>
                </c:pt>
                <c:pt idx="3">
                  <c:v>-144</c:v>
                </c:pt>
                <c:pt idx="4">
                  <c:v>-137</c:v>
                </c:pt>
                <c:pt idx="5">
                  <c:v>-116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350"/>
        </c:scaling>
        <c:delete val="0"/>
        <c:axPos val="b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545"/>
                </a:solidFill>
                <a:latin typeface="+mn-lt"/>
              </a:rPr>
              <a:t>Blue payoff by design over weather scenarios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</c:v>
                </c:pt>
              </c:strCache>
            </c:strRef>
          </c:tx>
          <c:spPr>
            <a:solidFill>
              <a:srgbClr val="1F4E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D0 Baseline</c:v>
                  </c:pt>
                  <c:pt idx="1">
                    <c:v>D1 Extra port</c:v>
                  </c:pt>
                  <c:pt idx="2">
                    <c:v>D2 Extra surveillance</c:v>
                  </c:pt>
                  <c:pt idx="3">
                    <c:v>D3 Crisis hotline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-144</c:v>
                </c:pt>
                <c:pt idx="1">
                  <c:v>-137</c:v>
                </c:pt>
                <c:pt idx="2">
                  <c:v>-162</c:v>
                </c:pt>
                <c:pt idx="3">
                  <c:v>-120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Worst case</c:v>
                </c:pt>
              </c:strCache>
            </c:strRef>
          </c:tx>
          <c:spPr>
            <a:solidFill>
              <a:srgbClr val="B23A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D0 Baseline</c:v>
                  </c:pt>
                  <c:pt idx="1">
                    <c:v>D1 Extra port</c:v>
                  </c:pt>
                  <c:pt idx="2">
                    <c:v>D2 Extra surveillance</c:v>
                  </c:pt>
                  <c:pt idx="3">
                    <c:v>D3 Crisis hotline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-164</c:v>
                </c:pt>
                <c:pt idx="1">
                  <c:v>-153</c:v>
                </c:pt>
                <c:pt idx="2">
                  <c:v>-181</c:v>
                </c:pt>
                <c:pt idx="3">
                  <c:v>-140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20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model day-to-day U.S.-China competition for control of waters inside the First Island Chain, below the threshold of war, as a game on a network. Today: the model, the prototype, and first results on our three research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Squares are home ports, circles are contested zones. The three features that make this a game rather than an optimization: control is relative, escalation risk is shared, and neither side sees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line of instructor feedback maps to a concrete change. The biggest: the model is now fully formal, and the strategy types from the proposal are now values of a risk budget inside a MIP.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timeline is the sequence of play. The three formulas are all the dynamics: control follows the force ratio with smoothing, incidents need contact and grow with assertion and with escalation, and the war penalty is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MIP answers the instructor's comment that Q1 is a feasible region. The template game is small enough to solve exactly with the Lecture 3-4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come from the template game with the dominance-surviving force splits. Lectures 3-6: chicken, correlated equilibrium LP, grim trigger with the one-stage deviation principle.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Python file runs the GUI, batch runs and a per-period trace. A second script regenerates every number in the report. Rule of thumb (Blue) vs quick best response (Red), normal season, turn 12, a storm over the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Blue relaxes its risk budget while Red stays at 0.15. Right: both pick a budget; aggressive is a best response to everything for both, so the equilibrium is worst for the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Blue policy plays against three Red policies (rule-based, MIP best response, equilibrium); the bar is Blue's lowest payoff of the three. 200 games each, standard errors 1 to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Robustness in the Lecture 1 sense: expected payoff over the weather scenarios and worst-case payoff. The hotline also raises Red's payoff, because fewer wars help both sides: it is a joint gain, not a Blue advantage.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about limits. The war rate depends strongly on the hazard, de-escalation and war-penalty values; a sensitivity sweep is planned.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40 configurations of 200 games each. Every new piece is evaluated against the Workshop 1 policies.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Gray-Zone Maritime Control in the First Island Chain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 networked escalation game  |  Workshop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Sean Bowman, Tate Murphy, Matthew Newell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problem: control without war</a:t>
            </a:r>
            <a:endParaRPr lang="en-US" sz="2800" dirty="0"/>
          </a:p>
        </p:txBody>
      </p:sp>
      <p:pic>
        <p:nvPicPr>
          <p:cNvPr id="3" name="img1" descr="/home/claude/snap/slides/../prototype/results/figure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480560" cy="3959352"/>
          </a:xfrm>
          <a:prstGeom prst="rect">
            <a:avLst/>
          </a:prstGeom>
        </p:spPr>
      </p:pic>
      <p:sp>
        <p:nvSpPr>
          <p:cNvPr id="4" name="t2"/>
          <p:cNvSpPr txBox="1"/>
          <p:nvPr/>
        </p:nvSpPr>
        <p:spPr>
          <a:xfrm>
            <a:off x="548640" y="5257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Network of 8 contested zones and 4 home ports</a:t>
            </a:r>
            <a:endParaRPr lang="en-US" sz="1200" dirty="0"/>
          </a:p>
        </p:txBody>
      </p:sp>
      <p:sp>
        <p:nvSpPr>
          <p:cNvPr id="5" name="t3"/>
          <p:cNvSpPr txBox="1"/>
          <p:nvPr/>
        </p:nvSpPr>
        <p:spPr>
          <a:xfrm>
            <a:off x="5486400" y="132588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Players.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Blue: 10 U.S. destroyers. Red: 8 navy ships + 6 coast guard / militia hulls.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Each period (2 days).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Each side chooses where its ships go and whether to patrol (P) or assert (A: shadow, block, water cannon).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Control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of a zone follows the local force ratio, so each side's best move depends on the other's.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2"/>
                </a:solidFill>
              </a:rPr>
              <a:t>Incidents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happen when both are present and someone asserts. Incidents raise an escalation level; at the top is war, which costs both sides.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Fog.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Each side only partly sees the other's ships. Weather (Nature) can close zones.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Research questions and what changed since the proposal</a:t>
            </a:r>
            <a:endParaRPr lang="en-US" sz="2800" dirty="0"/>
          </a:p>
        </p:txBody>
      </p:sp>
      <p:sp>
        <p:nvSpPr>
          <p:cNvPr id="3" name="c4"/>
          <p:cNvSpPr/>
          <p:nvPr/>
        </p:nvSpPr>
        <p:spPr>
          <a:xfrm>
            <a:off x="548640" y="1417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5"/>
          <p:cNvSpPr txBox="1"/>
          <p:nvPr/>
        </p:nvSpPr>
        <p:spPr>
          <a:xfrm>
            <a:off x="54864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RQ1</a:t>
            </a:r>
            <a:endParaRPr lang="en-US" sz="1600" dirty="0"/>
          </a:p>
        </p:txBody>
      </p:sp>
      <p:sp>
        <p:nvSpPr>
          <p:cNvPr id="5" name="t6"/>
          <p:cNvSpPr txBox="1"/>
          <p:nvPr/>
        </p:nvSpPr>
        <p:spPr>
          <a:xfrm>
            <a:off x="1463040" y="13258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Control vs. escalation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much control does a looser escalation-risk budget buy, at what war risk, and what budgets do both sides pick in equilibrium?</a:t>
            </a:r>
            <a:endParaRPr lang="en-US" sz="1700" dirty="0"/>
          </a:p>
        </p:txBody>
      </p:sp>
      <p:sp>
        <p:nvSpPr>
          <p:cNvPr id="6" name="c7"/>
          <p:cNvSpPr/>
          <p:nvPr/>
        </p:nvSpPr>
        <p:spPr>
          <a:xfrm>
            <a:off x="548640" y="2788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8"/>
          <p:cNvSpPr txBox="1"/>
          <p:nvPr/>
        </p:nvSpPr>
        <p:spPr>
          <a:xfrm>
            <a:off x="548640" y="2788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RQ2</a:t>
            </a:r>
            <a:endParaRPr lang="en-US" sz="1600" dirty="0"/>
          </a:p>
        </p:txBody>
      </p:sp>
      <p:sp>
        <p:nvSpPr>
          <p:cNvPr id="8" name="t9"/>
          <p:cNvSpPr txBox="1"/>
          <p:nvPr/>
        </p:nvSpPr>
        <p:spPr>
          <a:xfrm>
            <a:off x="1463040" y="26974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Strategic vs. heuristic play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 equilibrium, maximin and best-response policies beat simple rules, and can mutual restraint be sustained?</a:t>
            </a:r>
            <a:endParaRPr lang="en-US" sz="1700" dirty="0"/>
          </a:p>
        </p:txBody>
      </p:sp>
      <p:sp>
        <p:nvSpPr>
          <p:cNvPr id="9" name="c10"/>
          <p:cNvSpPr/>
          <p:nvPr/>
        </p:nvSpPr>
        <p:spPr>
          <a:xfrm>
            <a:off x="548640" y="41605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11"/>
          <p:cNvSpPr txBox="1"/>
          <p:nvPr/>
        </p:nvSpPr>
        <p:spPr>
          <a:xfrm>
            <a:off x="548640" y="4160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RQ3</a:t>
            </a:r>
            <a:endParaRPr lang="en-US" sz="1600" dirty="0"/>
          </a:p>
        </p:txBody>
      </p:sp>
      <p:sp>
        <p:nvSpPr>
          <p:cNvPr id="11" name="t12"/>
          <p:cNvSpPr txBox="1"/>
          <p:nvPr/>
        </p:nvSpPr>
        <p:spPr>
          <a:xfrm>
            <a:off x="1463040" y="40690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Robustness and redesign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 best policy or design in normal weather also best when weather turns bad (expected and worst case)?</a:t>
            </a:r>
            <a:endParaRPr lang="en-US" sz="1700" dirty="0"/>
          </a:p>
        </p:txBody>
      </p:sp>
      <p:graphicFrame>
        <p:nvGraphicFramePr>
          <p:cNvPr id="4" name="fb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25880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383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Feedback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we did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Model too high level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Full formal game: state, actions, information, dynamics, payoffs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Q1 is a feasible region / MIP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Best response solved as a MIP; aggressive/moderate/conservative = its risk budget 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More ambitious questions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Frontier + budget game, equilibrium play, robustness and redesign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Define the redesign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Three Blue designs: extra port in the Philippines, extra surveillance, crisis hotline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Propose missing values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 values listed and marked as assumptions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Prof. Sapsis: weather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Weather scenarios as Nature's move; expected and worst-case payoff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game, one period at a time</a:t>
            </a:r>
            <a:endParaRPr lang="en-US" sz="2800" dirty="0"/>
          </a:p>
        </p:txBody>
      </p:sp>
      <p:sp>
        <p:nvSpPr>
          <p:cNvPr id="3" name="st14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" name="t15"/>
          <p:cNvSpPr txBox="1"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16"/>
          <p:cNvSpPr txBox="1"/>
          <p:nvPr/>
        </p:nvSpPr>
        <p:spPr>
          <a:xfrm>
            <a:off x="1143000" y="1280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Nature draws the sea state of each region</a:t>
            </a:r>
            <a:endParaRPr lang="en-US" sz="1600" dirty="0"/>
          </a:p>
        </p:txBody>
      </p:sp>
      <p:sp>
        <p:nvSpPr>
          <p:cNvPr id="6" name="st17"/>
          <p:cNvSpPr/>
          <p:nvPr/>
        </p:nvSpPr>
        <p:spPr>
          <a:xfrm>
            <a:off x="548640" y="1883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18"/>
          <p:cNvSpPr txBox="1"/>
          <p:nvPr/>
        </p:nvSpPr>
        <p:spPr>
          <a:xfrm>
            <a:off x="54864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19"/>
          <p:cNvSpPr txBox="1"/>
          <p:nvPr/>
        </p:nvSpPr>
        <p:spPr>
          <a:xfrm>
            <a:off x="1143000" y="188366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side sees its own ships and detects some enemy ships</a:t>
            </a:r>
            <a:endParaRPr lang="en-US" sz="1600" dirty="0"/>
          </a:p>
        </p:txBody>
      </p:sp>
      <p:sp>
        <p:nvSpPr>
          <p:cNvPr id="9" name="st20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21"/>
          <p:cNvSpPr txBox="1"/>
          <p:nvPr/>
        </p:nvSpPr>
        <p:spPr>
          <a:xfrm>
            <a:off x="54864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22"/>
          <p:cNvSpPr txBox="1"/>
          <p:nvPr/>
        </p:nvSpPr>
        <p:spPr>
          <a:xfrm>
            <a:off x="1143000" y="2487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Ships low on endurance head home</a:t>
            </a:r>
            <a:endParaRPr lang="en-US" sz="1600" dirty="0"/>
          </a:p>
        </p:txBody>
      </p:sp>
      <p:sp>
        <p:nvSpPr>
          <p:cNvPr id="12" name="st23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24"/>
          <p:cNvSpPr txBox="1"/>
          <p:nvPr/>
        </p:nvSpPr>
        <p:spPr>
          <a:xfrm>
            <a:off x="548640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25"/>
          <p:cNvSpPr txBox="1"/>
          <p:nvPr/>
        </p:nvSpPr>
        <p:spPr>
          <a:xfrm>
            <a:off x="1143000" y="30906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sides choose moves and postures at the same time</a:t>
            </a:r>
            <a:endParaRPr lang="en-US" sz="1600" dirty="0"/>
          </a:p>
        </p:txBody>
      </p:sp>
      <p:sp>
        <p:nvSpPr>
          <p:cNvPr id="15" name="st26"/>
          <p:cNvSpPr/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27"/>
          <p:cNvSpPr txBox="1"/>
          <p:nvPr/>
        </p:nvSpPr>
        <p:spPr>
          <a:xfrm>
            <a:off x="548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28"/>
          <p:cNvSpPr txBox="1"/>
          <p:nvPr/>
        </p:nvSpPr>
        <p:spPr>
          <a:xfrm>
            <a:off x="1143000" y="36941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Moves happen within fuel budgets</a:t>
            </a:r>
            <a:endParaRPr lang="en-US" sz="1600" dirty="0"/>
          </a:p>
        </p:txBody>
      </p:sp>
      <p:sp>
        <p:nvSpPr>
          <p:cNvPr id="18" name="st29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30"/>
          <p:cNvSpPr txBox="1"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31"/>
          <p:cNvSpPr txBox="1"/>
          <p:nvPr/>
        </p:nvSpPr>
        <p:spPr>
          <a:xfrm>
            <a:off x="1143000" y="4297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Control updates; incidents are drawn; escalation level moves</a:t>
            </a:r>
            <a:endParaRPr lang="en-US" sz="1600" dirty="0"/>
          </a:p>
        </p:txBody>
      </p:sp>
      <p:sp>
        <p:nvSpPr>
          <p:cNvPr id="21" name="st32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33"/>
          <p:cNvSpPr txBox="1"/>
          <p:nvPr/>
        </p:nvSpPr>
        <p:spPr>
          <a:xfrm>
            <a:off x="548640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3" name="t34"/>
          <p:cNvSpPr txBox="1"/>
          <p:nvPr/>
        </p:nvSpPr>
        <p:spPr>
          <a:xfrm>
            <a:off x="1143000" y="49011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Payoffs are paid; stop at war or after 60 periods</a:t>
            </a:r>
            <a:endParaRPr lang="en-US" sz="1600" dirty="0"/>
          </a:p>
        </p:txBody>
      </p:sp>
      <p:sp>
        <p:nvSpPr>
          <p:cNvPr id="24" name="eqbox"/>
          <p:cNvSpPr/>
          <p:nvPr/>
        </p:nvSpPr>
        <p:spPr>
          <a:xfrm>
            <a:off x="6309360" y="1280160"/>
            <a:ext cx="5303520" cy="4160520"/>
          </a:xfrm>
          <a:prstGeom prst="roundRect">
            <a:avLst>
              <a:gd name="adj" fmla="val 175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36"/>
          <p:cNvSpPr txBox="1"/>
          <p:nvPr/>
        </p:nvSpPr>
        <p:spPr>
          <a:xfrm>
            <a:off x="6537960" y="141732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Control of zone 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← 0.7·c + 0.3·φ,   φ = (S_B − S_R) / (S_B + S_R + 1)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Presence builds control slowly; leaving lets it decay.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Incident chance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(h₀ + h_A·[asserts]) · min(S_B, S_R) · (1 + ℓ/2),  ρ = 1 − e^(−h)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Needs both sides present; grows with assertion and with the escalation level ℓ.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Payoff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value × control − move cost − escalation cost − 200·[war]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War hurts both sides, so the game is not zero-sum.</a:t>
            </a:r>
            <a:endParaRPr lang="en-US" sz="1400" dirty="0"/>
          </a:p>
        </p:txBody>
      </p:sp>
      <p:sp>
        <p:nvSpPr>
          <p:cNvPr id="26" name="tk37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38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Takeaway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rule is explicit, so the same game can be played thousands of times by different strategies.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How the players decide</a:t>
            </a:r>
            <a:endParaRPr lang="en-US" sz="2800" dirty="0"/>
          </a:p>
        </p:txBody>
      </p:sp>
      <p:sp>
        <p:nvSpPr>
          <p:cNvPr id="3" name="cd39"/>
          <p:cNvSpPr/>
          <p:nvPr/>
        </p:nvSpPr>
        <p:spPr>
          <a:xfrm>
            <a:off x="548640" y="1280160"/>
            <a:ext cx="3566160" cy="4206240"/>
          </a:xfrm>
          <a:prstGeom prst="rect">
            <a:avLst/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cdh40"/>
          <p:cNvSpPr/>
          <p:nvPr/>
        </p:nvSpPr>
        <p:spPr>
          <a:xfrm>
            <a:off x="548640" y="1280160"/>
            <a:ext cx="3566160" cy="54864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" name="t41"/>
          <p:cNvSpPr txBox="1"/>
          <p:nvPr/>
        </p:nvSpPr>
        <p:spPr>
          <a:xfrm>
            <a:off x="731520" y="12801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Best response as a MIP</a:t>
            </a:r>
            <a:endParaRPr lang="en-US" sz="1800" dirty="0"/>
          </a:p>
        </p:txBody>
      </p:sp>
      <p:sp>
        <p:nvSpPr>
          <p:cNvPr id="6" name="t42"/>
          <p:cNvSpPr txBox="1"/>
          <p:nvPr/>
        </p:nvSpPr>
        <p:spPr>
          <a:xfrm>
            <a:off x="731520" y="196596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period, choose moves and postures to maximize value of control minus costs, subject to fuel, endurance, and an escalation-risk budget: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expected incidents ≤ ε</a:t>
            </a:r>
            <a:endParaRPr lang="en-US" sz="1500" dirty="0"/>
          </a:p>
        </p:txBody>
      </p:sp>
      <p:sp>
        <p:nvSpPr>
          <p:cNvPr id="7" name="t43"/>
          <p:cNvSpPr txBox="1"/>
          <p:nvPr/>
        </p:nvSpPr>
        <p:spPr>
          <a:xfrm>
            <a:off x="731520" y="45262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Conservative / moderate / aggressive = ε of 0.05 / 0.15 / 0.40</a:t>
            </a:r>
            <a:endParaRPr lang="en-US" sz="1300" dirty="0"/>
          </a:p>
        </p:txBody>
      </p:sp>
      <p:sp>
        <p:nvSpPr>
          <p:cNvPr id="8" name="cd44"/>
          <p:cNvSpPr/>
          <p:nvPr/>
        </p:nvSpPr>
        <p:spPr>
          <a:xfrm>
            <a:off x="4297680" y="1280160"/>
            <a:ext cx="3566160" cy="4206240"/>
          </a:xfrm>
          <a:prstGeom prst="rect">
            <a:avLst/>
          </a:prstGeom>
          <a:solidFill>
            <a:schemeClr val="bg2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9" name="cdh45"/>
          <p:cNvSpPr/>
          <p:nvPr/>
        </p:nvSpPr>
        <p:spPr>
          <a:xfrm>
            <a:off x="4297680" y="1280160"/>
            <a:ext cx="3566160" cy="548640"/>
          </a:xfrm>
          <a:prstGeom prst="rect">
            <a:avLst/>
          </a:prstGeom>
          <a:solidFill>
            <a:schemeClr val="accent4"/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0" name="t46"/>
          <p:cNvSpPr txBox="1"/>
          <p:nvPr/>
        </p:nvSpPr>
        <p:spPr>
          <a:xfrm>
            <a:off x="4480560" y="12801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Template game</a:t>
            </a:r>
            <a:endParaRPr lang="en-US" sz="1800" dirty="0"/>
          </a:p>
        </p:txBody>
      </p:sp>
      <p:sp>
        <p:nvSpPr>
          <p:cNvPr id="11" name="t47"/>
          <p:cNvSpPr txBox="1"/>
          <p:nvPr/>
        </p:nvSpPr>
        <p:spPr>
          <a:xfrm>
            <a:off x="4480560" y="196596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Abstract each side to 14 templates: how to split ships North / Center / South, and patrol or assert.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14×14 strategic-form game</a:t>
            </a:r>
            <a:endParaRPr lang="en-US" sz="1500" dirty="0"/>
          </a:p>
        </p:txBody>
      </p:sp>
      <p:sp>
        <p:nvSpPr>
          <p:cNvPr id="12" name="t48"/>
          <p:cNvSpPr txBox="1"/>
          <p:nvPr/>
        </p:nvSpPr>
        <p:spPr>
          <a:xfrm>
            <a:off x="4480560" y="45262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Solved with dominance, Nash equilibrium, maximin LP, correlated-equilibrium LP</a:t>
            </a:r>
            <a:endParaRPr lang="en-US" sz="1300" dirty="0"/>
          </a:p>
        </p:txBody>
      </p:sp>
      <p:sp>
        <p:nvSpPr>
          <p:cNvPr id="13" name="cd49"/>
          <p:cNvSpPr/>
          <p:nvPr/>
        </p:nvSpPr>
        <p:spPr>
          <a:xfrm>
            <a:off x="8046720" y="1280160"/>
            <a:ext cx="3566160" cy="4206240"/>
          </a:xfrm>
          <a:prstGeom prst="rect">
            <a:avLst/>
          </a:prstGeom>
          <a:solidFill>
            <a:schemeClr val="bg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cdh50"/>
          <p:cNvSpPr/>
          <p:nvPr/>
        </p:nvSpPr>
        <p:spPr>
          <a:xfrm>
            <a:off x="8046720" y="1280160"/>
            <a:ext cx="3566160" cy="548640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5" name="t51"/>
          <p:cNvSpPr txBox="1"/>
          <p:nvPr/>
        </p:nvSpPr>
        <p:spPr>
          <a:xfrm>
            <a:off x="8229600" y="12801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Policies we compare</a:t>
            </a:r>
            <a:endParaRPr lang="en-US" sz="1800" dirty="0"/>
          </a:p>
        </p:txBody>
      </p:sp>
      <p:sp>
        <p:nvSpPr>
          <p:cNvPr id="16" name="t52"/>
          <p:cNvSpPr txBox="1"/>
          <p:nvPr/>
        </p:nvSpPr>
        <p:spPr>
          <a:xfrm>
            <a:off x="8229600" y="196596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Random moves  |  Rule of thumb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Quick best response (greedy)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Best response (MIP)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Nash equilibrium plan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Safety-first plan (maximin)</a:t>
            </a:r>
            <a:endParaRPr lang="en-US" sz="1500" dirty="0"/>
          </a:p>
        </p:txBody>
      </p:sp>
      <p:sp>
        <p:nvSpPr>
          <p:cNvPr id="17" name="t53"/>
          <p:cNvSpPr txBox="1"/>
          <p:nvPr/>
        </p:nvSpPr>
        <p:spPr>
          <a:xfrm>
            <a:off x="8229600" y="45262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Same seeds and weather for every policy</a:t>
            </a:r>
            <a:endParaRPr lang="en-US" sz="1300" dirty="0"/>
          </a:p>
        </p:txBody>
      </p:sp>
      <p:sp>
        <p:nvSpPr>
          <p:cNvPr id="18" name="tk54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55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Takeaway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proposal's strategy types are now one number, ε, inside an optimization the course covered (Lecture 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Small example: patrol or assert is a game of chicken</a:t>
            </a:r>
            <a:endParaRPr lang="en-US" sz="2800" dirty="0"/>
          </a:p>
        </p:txBody>
      </p:sp>
      <p:graphicFrame>
        <p:nvGraphicFramePr>
          <p:cNvPr id="7" name="chick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920240"/>
                <a:gridCol w="19202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Blue \ Red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Red patrols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Red asserts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</a:rPr>
                        <a:t>Blue patrols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</a:rPr>
                        <a:t>0 , 0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</a:rPr>
                        <a:t>−9.6 , +1.2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</a:rPr>
                        <a:t>Blue asserts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</a:rPr>
                        <a:t>+0.3 , −10.5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−11.4 , −11.3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57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Payoffs (Blue, Red) in one zone, relative to both patrolling</a:t>
            </a:r>
            <a:endParaRPr lang="en-US" sz="1200" dirty="0"/>
          </a:p>
        </p:txBody>
      </p:sp>
      <p:sp>
        <p:nvSpPr>
          <p:cNvPr id="5" name="t58"/>
          <p:cNvSpPr txBox="1"/>
          <p:nvPr/>
        </p:nvSpPr>
        <p:spPr>
          <a:xfrm>
            <a:off x="6400800" y="1371600"/>
            <a:ext cx="5212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Best reply: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assert if the other patrols, patrol if the other asserts. Two pure equilibria, plus a mixed one with mutual assertion 8% of the time.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A mediator helps: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best correlated equilibrium never recommends (assert, assert). A hotline can play that role.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Repetition helps: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with grim trigger, mutual patrolling is a subgame perfect equilibrium for any discount factor above 0.18. Ours is 0.98.</a:t>
            </a:r>
            <a:endParaRPr lang="en-US" sz="1700" dirty="0"/>
          </a:p>
        </p:txBody>
      </p:sp>
      <p:sp>
        <p:nvSpPr>
          <p:cNvPr id="6" name="tk59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60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Takeaway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Restraint is not stable in a one-shot encounter, but it can be sustained by repeated play or a coordination device.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prototype: watch a game play out</a:t>
            </a:r>
            <a:endParaRPr lang="en-US" sz="2800" dirty="0"/>
          </a:p>
        </p:txBody>
      </p:sp>
      <p:pic>
        <p:nvPicPr>
          <p:cNvPr id="3" name="img61" descr="/home/claude/snap/slides/../prototype/results/figures/gui_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4178808"/>
          </a:xfrm>
          <a:prstGeom prst="rect">
            <a:avLst/>
          </a:prstGeom>
        </p:spPr>
      </p:pic>
      <p:sp>
        <p:nvSpPr>
          <p:cNvPr id="4" name="t62"/>
          <p:cNvSpPr txBox="1"/>
          <p:nvPr/>
        </p:nvSpPr>
        <p:spPr>
          <a:xfrm>
            <a:off x="7406640" y="1325880"/>
            <a:ext cx="4206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Pick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plan for each side, a design and the weather on the right; press New game, then Step or Play. Help explains the map.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Zone color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shows control: blue = Blue, red = 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B / P / C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= destroyers, navy ships, coast guard. Thick outline = asserting.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3"/>
                </a:solidFill>
              </a:rPr>
              <a:t>Orange ring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= incident. Shaded region = rough sea or storm.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Run many games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replays the same setup over many random seeds and reports averages.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RQ1: more risk buys control, up to a point</a:t>
            </a:r>
            <a:endParaRPr lang="en-US" sz="2800" dirty="0"/>
          </a:p>
        </p:txBody>
      </p:sp>
      <p:pic>
        <p:nvPicPr>
          <p:cNvPr id="3" name="img63" descr="/home/claude/snap/slides/../prototype/results/figures/fron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3813048"/>
          </a:xfrm>
          <a:prstGeom prst="rect">
            <a:avLst/>
          </a:prstGeom>
        </p:spPr>
      </p:pic>
      <p:graphicFrame>
        <p:nvGraphicFramePr>
          <p:cNvPr id="9" name="riskgam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28016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Blue \ Red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Conservative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Moderate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Aggressive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Conservative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−194, 199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 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−303, 315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 11%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−308, 318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 12%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Moderate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18, −36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−144, 101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 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−192, 140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 21%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Aggressive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74, −80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 14%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−83, 16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war 25%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−151, 39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war 34%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65"/>
          <p:cNvSpPr txBox="1"/>
          <p:nvPr/>
        </p:nvSpPr>
        <p:spPr>
          <a:xfrm>
            <a:off x="6309360" y="4434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Risk-budget game: payoffs (Blue, Red) and war rate. Red bold = the only equilibrium.</a:t>
            </a:r>
            <a:endParaRPr lang="en-US" sz="1200" dirty="0"/>
          </a:p>
        </p:txBody>
      </p:sp>
      <p:sp>
        <p:nvSpPr>
          <p:cNvPr id="6" name="t66"/>
          <p:cNvSpPr txBox="1"/>
          <p:nvPr/>
        </p:nvSpPr>
        <p:spPr>
          <a:xfrm>
            <a:off x="548640" y="5074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Raising Blue's budget from 0.02 to 0.15 lifts its control a lot; beyond 0.25 it barely moves.</a:t>
            </a:r>
            <a:endParaRPr lang="en-US" sz="1300" dirty="0"/>
          </a:p>
        </p:txBody>
      </p:sp>
      <p:sp>
        <p:nvSpPr>
          <p:cNvPr id="7" name="tk67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68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Takeaway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sides choose aggressive, giving the highest war rate (34%): a prisoner's dilemma.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RQ2: the Nash equilibrium plan is the safest bet against any Red</a:t>
            </a:r>
            <a:endParaRPr lang="en-US" sz="2800" dirty="0"/>
          </a:p>
        </p:txBody>
      </p:sp>
      <p:graphicFrame>
        <p:nvGraphicFramePr>
          <p:cNvPr id="3" name="rq2chart" descr=""/>
          <p:cNvGraphicFramePr/>
          <p:nvPr/>
        </p:nvGraphicFramePr>
        <p:xfrm>
          <a:off x="548640" y="1234440"/>
          <a:ext cx="658368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70"/>
          <p:cNvSpPr txBox="1"/>
          <p:nvPr/>
        </p:nvSpPr>
        <p:spPr>
          <a:xfrm>
            <a:off x="7406640" y="1325880"/>
            <a:ext cx="4206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4"/>
                </a:solidFill>
              </a:rPr>
              <a:t>Nash equilibrium plan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has the best worst case (−116) and half the war rate of the MIP best response against the same opponent (10% vs 20%).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1"/>
                </a:solidFill>
              </a:rPr>
              <a:t>Best responses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(quick and MIP) win against weak opponents but escalate more.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Safety-first plan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is the most cautious (war ≤ 8%) but gives up the most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Quick vs MIP: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quick heuristic matches the MIP 67% of the time but breaks the risk budget 14% of the time.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RQ3: the best strategy holds up in bad weather</a:t>
            </a:r>
            <a:endParaRPr lang="en-US" sz="2800" dirty="0"/>
          </a:p>
        </p:txBody>
      </p:sp>
      <p:pic>
        <p:nvPicPr>
          <p:cNvPr id="3" name="img71" descr="/home/claude/snap/slides/../prototype/results/figures/weat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394960" cy="3593592"/>
          </a:xfrm>
          <a:prstGeom prst="rect">
            <a:avLst/>
          </a:prstGeom>
        </p:spPr>
      </p:pic>
      <p:sp>
        <p:nvSpPr>
          <p:cNvPr id="4" name="t72"/>
          <p:cNvSpPr txBox="1"/>
          <p:nvPr/>
        </p:nvSpPr>
        <p:spPr>
          <a:xfrm>
            <a:off x="548640" y="48920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Rough seas weaken Red's coast guard hulls and storms pause operations, so most policies do slightly worse in calm seas. The top two plans stay on top in every scenario.</a:t>
            </a:r>
            <a:endParaRPr lang="en-US" sz="1300" dirty="0"/>
          </a:p>
        </p:txBody>
      </p:sp>
      <p:graphicFrame>
        <p:nvGraphicFramePr>
          <p:cNvPr id="5" name="rq3chart" descr=""/>
          <p:cNvGraphicFramePr/>
          <p:nvPr/>
        </p:nvGraphicFramePr>
        <p:xfrm>
          <a:off x="6217920" y="123444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74"/>
          <p:cNvSpPr txBox="1"/>
          <p:nvPr/>
        </p:nvSpPr>
        <p:spPr>
          <a:xfrm>
            <a:off x="6217920" y="4572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War rate (normal weather): D0 20%, D1 28%, D2 23%, D3 5%. The hotline was given no cost yet.</a:t>
            </a:r>
            <a:endParaRPr lang="en-US" sz="1300" dirty="0"/>
          </a:p>
        </p:txBody>
      </p:sp>
      <p:sp>
        <p:nvSpPr>
          <p:cNvPr id="7" name="tk75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76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Takeaway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plan that is best on average is also best in the worst weather. The crisis hotline is the best design and cuts war about 4×.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the evidence does and does not show</a:t>
            </a:r>
            <a:endParaRPr lang="en-US" sz="2800" dirty="0"/>
          </a:p>
        </p:txBody>
      </p:sp>
      <p:sp>
        <p:nvSpPr>
          <p:cNvPr id="3" name="cv77"/>
          <p:cNvSpPr/>
          <p:nvPr/>
        </p:nvSpPr>
        <p:spPr>
          <a:xfrm>
            <a:off x="548640" y="1280160"/>
            <a:ext cx="5394960" cy="54864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78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Supported</a:t>
            </a:r>
            <a:endParaRPr lang="en-US" sz="1800" dirty="0"/>
          </a:p>
        </p:txBody>
      </p:sp>
      <p:sp>
        <p:nvSpPr>
          <p:cNvPr id="5" name="t79"/>
          <p:cNvSpPr txBox="1"/>
          <p:nvPr/>
        </p:nvSpPr>
        <p:spPr>
          <a:xfrm>
            <a:off x="640080" y="2011680"/>
            <a:ext cx="5212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Loosening the risk budget has sharply diminishing returns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Left alone, both sides loosen their budgets (prisoner's dilemma)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Restraint can be an equilibrium of the repeated game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Nash equilibrium plan is the most robust Blue policy here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crisis hotline is a joint gain under every weather scenario</a:t>
            </a:r>
            <a:endParaRPr lang="en-US" sz="1600" dirty="0"/>
          </a:p>
        </p:txBody>
      </p:sp>
      <p:sp>
        <p:nvSpPr>
          <p:cNvPr id="6" name="cv80"/>
          <p:cNvSpPr/>
          <p:nvPr/>
        </p:nvSpPr>
        <p:spPr>
          <a:xfrm>
            <a:off x="6217920" y="1280160"/>
            <a:ext cx="5394960" cy="5486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81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 yet shown</a:t>
            </a:r>
            <a:endParaRPr lang="en-US" sz="1800" dirty="0"/>
          </a:p>
        </p:txBody>
      </p:sp>
      <p:sp>
        <p:nvSpPr>
          <p:cNvPr id="8" name="t82"/>
          <p:cNvSpPr txBox="1"/>
          <p:nvPr/>
        </p:nvSpPr>
        <p:spPr>
          <a:xfrm>
            <a:off x="6309360" y="2011680"/>
            <a:ext cx="5212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numbers are assumptions, not calibrated to data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Policies look only one period ahead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War penalty may be too small: the top-payoff policy also has the most wars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hotline has no cost yet, so part of its win is built 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Differences under about 20 payoff points are ties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for Workshop 2</a:t>
            </a:r>
            <a:endParaRPr lang="en-US" sz="2800" dirty="0"/>
          </a:p>
        </p:txBody>
      </p:sp>
      <p:sp>
        <p:nvSpPr>
          <p:cNvPr id="3" name="tl"/>
          <p:cNvSpPr/>
          <p:nvPr/>
        </p:nvSpPr>
        <p:spPr>
          <a:xfrm>
            <a:off x="914400" y="1920240"/>
            <a:ext cx="1033272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</p:sp>
      <p:sp>
        <p:nvSpPr>
          <p:cNvPr id="4" name="tp84"/>
          <p:cNvSpPr/>
          <p:nvPr/>
        </p:nvSpPr>
        <p:spPr>
          <a:xfrm>
            <a:off x="73152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85"/>
          <p:cNvSpPr txBox="1"/>
          <p:nvPr/>
        </p:nvSpPr>
        <p:spPr>
          <a:xfrm>
            <a:off x="548640" y="1234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Nov 3</a:t>
            </a:r>
            <a:endParaRPr lang="en-US" sz="1600" dirty="0"/>
          </a:p>
        </p:txBody>
      </p:sp>
      <p:sp>
        <p:nvSpPr>
          <p:cNvPr id="6" name="t86"/>
          <p:cNvSpPr txBox="1"/>
          <p:nvPr/>
        </p:nvSpPr>
        <p:spPr>
          <a:xfrm>
            <a:off x="54864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Beliefs and attacks</a:t>
            </a:r>
            <a:endParaRPr lang="en-US" sz="1800" dirty="0"/>
          </a:p>
        </p:txBody>
      </p:sp>
      <p:sp>
        <p:nvSpPr>
          <p:cNvPr id="7" name="t87"/>
          <p:cNvSpPr txBox="1"/>
          <p:nvPr/>
        </p:nvSpPr>
        <p:spPr>
          <a:xfrm>
            <a:off x="548640" y="278892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Bayesian beliefs about enemy positions; weather that persists; test the three coded Red attacks (blockade, jamming, false contacts)</a:t>
            </a:r>
            <a:endParaRPr lang="en-US" sz="1500" dirty="0"/>
          </a:p>
        </p:txBody>
      </p:sp>
      <p:sp>
        <p:nvSpPr>
          <p:cNvPr id="8" name="tp88"/>
          <p:cNvSpPr/>
          <p:nvPr/>
        </p:nvSpPr>
        <p:spPr>
          <a:xfrm>
            <a:off x="352044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89"/>
          <p:cNvSpPr txBox="1"/>
          <p:nvPr/>
        </p:nvSpPr>
        <p:spPr>
          <a:xfrm>
            <a:off x="3337560" y="1234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Nov 17</a:t>
            </a:r>
            <a:endParaRPr lang="en-US" sz="1600" dirty="0"/>
          </a:p>
        </p:txBody>
      </p:sp>
      <p:sp>
        <p:nvSpPr>
          <p:cNvPr id="10" name="t90"/>
          <p:cNvSpPr txBox="1"/>
          <p:nvPr/>
        </p:nvSpPr>
        <p:spPr>
          <a:xfrm>
            <a:off x="333756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Learning</a:t>
            </a:r>
            <a:endParaRPr lang="en-US" sz="1800" dirty="0"/>
          </a:p>
        </p:txBody>
      </p:sp>
      <p:sp>
        <p:nvSpPr>
          <p:cNvPr id="11" name="t91"/>
          <p:cNvSpPr txBox="1"/>
          <p:nvPr/>
        </p:nvSpPr>
        <p:spPr>
          <a:xfrm>
            <a:off x="3337560" y="278892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Red agents that learn from experience: do they exploit predictable Blue play? An attacker that moves after seeing Blue</a:t>
            </a:r>
            <a:endParaRPr lang="en-US" sz="1500" dirty="0"/>
          </a:p>
        </p:txBody>
      </p:sp>
      <p:sp>
        <p:nvSpPr>
          <p:cNvPr id="12" name="tp92"/>
          <p:cNvSpPr/>
          <p:nvPr/>
        </p:nvSpPr>
        <p:spPr>
          <a:xfrm>
            <a:off x="630936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93"/>
          <p:cNvSpPr txBox="1"/>
          <p:nvPr/>
        </p:nvSpPr>
        <p:spPr>
          <a:xfrm>
            <a:off x="6126480" y="1234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Dec 1</a:t>
            </a:r>
            <a:endParaRPr lang="en-US" sz="1600" dirty="0"/>
          </a:p>
        </p:txBody>
      </p:sp>
      <p:sp>
        <p:nvSpPr>
          <p:cNvPr id="14" name="t94"/>
          <p:cNvSpPr txBox="1"/>
          <p:nvPr/>
        </p:nvSpPr>
        <p:spPr>
          <a:xfrm>
            <a:off x="612648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Redesign</a:t>
            </a:r>
            <a:endParaRPr lang="en-US" sz="1800" dirty="0"/>
          </a:p>
        </p:txBody>
      </p:sp>
      <p:sp>
        <p:nvSpPr>
          <p:cNvPr id="15" name="t95"/>
          <p:cNvSpPr txBox="1"/>
          <p:nvPr/>
        </p:nvSpPr>
        <p:spPr>
          <a:xfrm>
            <a:off x="6126480" y="278892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Designs and combinations under attacks, persistent weather and a rare long typhoon; hotline as a mediator</a:t>
            </a:r>
            <a:endParaRPr lang="en-US" sz="1500" dirty="0"/>
          </a:p>
        </p:txBody>
      </p:sp>
      <p:sp>
        <p:nvSpPr>
          <p:cNvPr id="16" name="tp96"/>
          <p:cNvSpPr/>
          <p:nvPr/>
        </p:nvSpPr>
        <p:spPr>
          <a:xfrm>
            <a:off x="9098280" y="1691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97"/>
          <p:cNvSpPr txBox="1"/>
          <p:nvPr/>
        </p:nvSpPr>
        <p:spPr>
          <a:xfrm>
            <a:off x="8915400" y="1234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Dec 8</a:t>
            </a:r>
            <a:endParaRPr lang="en-US" sz="1600" dirty="0"/>
          </a:p>
        </p:txBody>
      </p:sp>
      <p:sp>
        <p:nvSpPr>
          <p:cNvPr id="18" name="t98"/>
          <p:cNvSpPr txBox="1"/>
          <p:nvPr/>
        </p:nvSpPr>
        <p:spPr>
          <a:xfrm>
            <a:off x="8915400" y="2331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Report</a:t>
            </a:r>
            <a:endParaRPr lang="en-US" sz="1800" dirty="0"/>
          </a:p>
        </p:txBody>
      </p:sp>
      <p:sp>
        <p:nvSpPr>
          <p:cNvPr id="19" name="t99"/>
          <p:cNvSpPr txBox="1"/>
          <p:nvPr/>
        </p:nvSpPr>
        <p:spPr>
          <a:xfrm>
            <a:off x="8915400" y="278892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Final report and presentation</a:t>
            </a:r>
            <a:endParaRPr lang="en-US" sz="1500" dirty="0"/>
          </a:p>
        </p:txBody>
      </p:sp>
      <p:sp>
        <p:nvSpPr>
          <p:cNvPr id="20" name="tk100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101"/>
          <p:cNvSpPr txBox="1"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Takeaway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step follows the remaining course modules: learning, attacks and defenses, resilient design.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 Zone">
      <a:dk1>
        <a:srgbClr val="1B2430"/>
      </a:dk1>
      <a:lt1>
        <a:srgbClr val="FFFFFF"/>
      </a:lt1>
      <a:dk2>
        <a:srgbClr val="0B2545"/>
      </a:dk2>
      <a:lt2>
        <a:srgbClr val="EEF3F8"/>
      </a:lt2>
      <a:accent1>
        <a:srgbClr val="1F4E9C"/>
      </a:accent1>
      <a:accent2>
        <a:srgbClr val="B23A48"/>
      </a:accent2>
      <a:accent3>
        <a:srgbClr val="E8A33D"/>
      </a:accent3>
      <a:accent4>
        <a:srgbClr val="13807A"/>
      </a:accent4>
      <a:accent5>
        <a:srgbClr val="6B7A8F"/>
      </a:accent5>
      <a:accent6>
        <a:srgbClr val="8DA9C4"/>
      </a:accent6>
      <a:hlink>
        <a:srgbClr val="1F4E9C"/>
      </a:hlink>
      <a:folHlink>
        <a:srgbClr val="6B7A8F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Gray-Zone Maritime Control: Workshop 1</dc:title>
  <dc:subject>PptxGenJS Presentation</dc:subject>
  <dc:creator>Sean Bowman, Tate Murphy, Matthew Newell</dc:creator>
  <cp:lastModifiedBy>Sean Bowman, Tate Murphy, Matthew Newell</cp:lastModifiedBy>
  <cp:revision>1</cp:revision>
  <dcterms:created xsi:type="dcterms:W3CDTF">2026-10-21T21:25:30Z</dcterms:created>
  <dcterms:modified xsi:type="dcterms:W3CDTF">2026-10-21T21:25:30Z</dcterms:modified>
</cp:coreProperties>
</file>