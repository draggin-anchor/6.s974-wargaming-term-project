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da799a5-67a0-4af2-a0fa-d0581d00b8b3}">
          <p14:sldIdLst>
            <p14:sldId id="256"/>
            <p14:sldId id="257"/>
            <p14:sldId id="258"/>
          </p14:sldIdLst>
        </p14:section>
        <p14:section name="Model" id="{2bb7dabf-79f3-0a5b-5a61-a8269a8bcffe}">
          <p14:sldIdLst>
            <p14:sldId id="259"/>
            <p14:sldId id="260"/>
          </p14:sldIdLst>
        </p14:section>
        <p14:section name="Results" id="{65bec3ae-7f8b-a9fe-5d9f-d3cdc5148e70}">
          <p14:sldIdLst>
            <p14:sldId id="261"/>
            <p14:sldId id="262"/>
            <p14:sldId id="263"/>
            <p14:sldId id="264"/>
            <p14:sldId id="265"/>
            <p14:sldId id="266"/>
          </p14:sldIdLst>
        </p14:section>
        <p14:section name="Next steps" id="{2ce56c99-754a-7463-d5af-25e00e80683c}">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c:v>
                  </c:pt>
                  <c:pt idx="2">
                    <c:v>Safety-first plan</c:v>
                  </c:pt>
                  <c:pt idx="3">
                    <c:v>Best response (MIP)</c:v>
                  </c:pt>
                  <c:pt idx="4">
                    <c:v>Quick best response</c:v>
                  </c:pt>
                  <c:pt idx="5">
                    <c:v>Nash equilibrium plan</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what does accepting more escalation risk buy, and what risk levels do both sides choose? RQ2: does game-theoretic play beat simple rules? RQ3, from Prof. Sapsis's comment: does the best strategy stay best when weather turns bad? The table maps each piece of Deliverable 1 feedback to what we changed. The main one: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Nature moves first with the weather,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costs;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Left: each turn a player solves a MIP, the Lecture 2 tool, to pick moves, with a cap on expected incidents, epsilon. This answers the feedback that Q1 is a feasible region. Middle: for equilibrium analysis we shrink each side to 14 templates and solve the 14-by-14 game exactly with the Lecture 3-4 tools. Right: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each side only chooses patrol or assert. Read the table: asserting against a patroller pays a little, but if both assert, both lose more than 11. So the best reply is to do the opposite of the other side, like the shared-compute example in Lecture 3. Two fixes: a correlated equilibrium, which is what a mediator or hotline can implement, never recommends both asserting; and in the repeated game, grim trigger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Blue loosens its risk budget while Red stays moderate. Control rises fast up to about 0.15, then flattens, while war risk keeps rising. Right: both sides choose a budget. Aggressive is the best reply to anything, for both, so the only equilibrium is aggressive-aggressive, with the highest war rate, 34%. That is a prisoner's dilemma, Lecture 3.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within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in the Lecture 1 sense: expected payoff over the four weather scenarios, and worst case. Left: the policy ranking does not change across weather; the top two plans stay on top. Bad weather slightly helps Blue here, because rough seas weaken Red's coast-guard hulls. Right: of the three redesigns, the crisis hotline is best on average and in the worst case, and cuts war about four times. Caveat: we gave it no cost yet, and it also helps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values are assumptions, policies look one turn ahead, the war rate depends heavily on a few parameters, and the hotline result is partly built in. A sensitivity sweep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follows the remaining course modules. First, Bayesian beliefs and the three Red attacks already coded. Then learning agents, once taught: does a learning Red exploit predictable Blue play? Then redesigns under attack and long typhoons, with a cost for the hotline. Final report December 8.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 descr="/home/claude/6.S974-Wargaming-Term-Project/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2"/>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3"/>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Red: 8 navy ships + 6 coast guard / militia hulls.</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shadow, block, water cannon).</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happen when both are present and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Each side only partly sees the other's ships. Weather (Nature)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4"/>
          <p:cNvSpPr/>
          <p:nvPr/>
        </p:nvSpPr>
        <p:spPr>
          <a:xfrm>
            <a:off x="548640" y="1417320"/>
            <a:ext cx="731520" cy="731520"/>
          </a:xfrm>
          <a:prstGeom prst="ellipse">
            <a:avLst/>
          </a:prstGeom>
          <a:solidFill>
            <a:schemeClr val="accent1"/>
          </a:solidFill>
          <a:ln/>
        </p:spPr>
      </p:sp>
      <p:sp>
        <p:nvSpPr>
          <p:cNvPr id="4" name="t5"/>
          <p:cNvSpPr txBox="1"/>
          <p:nvPr/>
        </p:nvSpPr>
        <p:spPr>
          <a:xfrm>
            <a:off x="548640" y="14173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6"/>
          <p:cNvSpPr txBox="1"/>
          <p:nvPr/>
        </p:nvSpPr>
        <p:spPr>
          <a:xfrm>
            <a:off x="1463040" y="1325880"/>
            <a:ext cx="4572000" cy="1188720"/>
          </a:xfrm>
          <a:prstGeom prst="rect">
            <a:avLst/>
          </a:prstGeom>
          <a:noFill/>
          <a:ln/>
        </p:spPr>
        <p:txBody>
          <a:bodyPr wrap="square" lIns="0" tIns="0" rIns="0" bIns="0" rtlCol="0" anchor="t"/>
          <a:lstStyle/>
          <a:p>
            <a:pPr indent="0" marL="0">
              <a:buNone/>
            </a:pPr>
            <a:r>
              <a:rPr lang="en-US" sz="1700" b="1" dirty="0">
                <a:solidFill>
                  <a:schemeClr val="tx1"/>
                </a:solidFill>
              </a:rPr>
              <a:t>Control vs. escalation</a:t>
            </a:r>
            <a:endParaRPr lang="en-US" sz="1700" dirty="0"/>
          </a:p>
          <a:p>
            <a:pPr indent="0" marL="0">
              <a:buNone/>
            </a:pPr>
            <a:r>
              <a:rPr lang="en-US" sz="1400" dirty="0">
                <a:solidFill>
                  <a:schemeClr val="tx1"/>
                </a:solidFill>
              </a:rPr>
              <a:t>How much control does a looser escalation-risk budget buy, at what war risk, and what budgets do both sides pick in equilibrium?</a:t>
            </a:r>
            <a:endParaRPr lang="en-US" sz="1700" dirty="0"/>
          </a:p>
        </p:txBody>
      </p:sp>
      <p:sp>
        <p:nvSpPr>
          <p:cNvPr id="6" name="c7"/>
          <p:cNvSpPr/>
          <p:nvPr/>
        </p:nvSpPr>
        <p:spPr>
          <a:xfrm>
            <a:off x="548640" y="2788920"/>
            <a:ext cx="731520" cy="731520"/>
          </a:xfrm>
          <a:prstGeom prst="ellipse">
            <a:avLst/>
          </a:prstGeom>
          <a:solidFill>
            <a:schemeClr val="accent1"/>
          </a:solidFill>
          <a:ln/>
        </p:spPr>
      </p:sp>
      <p:sp>
        <p:nvSpPr>
          <p:cNvPr id="7" name="t8"/>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9"/>
          <p:cNvSpPr txBox="1"/>
          <p:nvPr/>
        </p:nvSpPr>
        <p:spPr>
          <a:xfrm>
            <a:off x="1463040" y="2697480"/>
            <a:ext cx="4572000" cy="1188720"/>
          </a:xfrm>
          <a:prstGeom prst="rect">
            <a:avLst/>
          </a:prstGeom>
          <a:noFill/>
          <a:ln/>
        </p:spPr>
        <p:txBody>
          <a:bodyPr wrap="square" lIns="0" tIns="0" rIns="0" bIns="0" rtlCol="0" anchor="t"/>
          <a:lstStyle/>
          <a:p>
            <a:pPr indent="0" marL="0">
              <a:buNone/>
            </a:pPr>
            <a:r>
              <a:rPr lang="en-US" sz="1700" b="1" dirty="0">
                <a:solidFill>
                  <a:schemeClr val="tx1"/>
                </a:solidFill>
              </a:rPr>
              <a:t>Strategic vs. heuristic play</a:t>
            </a:r>
            <a:endParaRPr lang="en-US" sz="1700" dirty="0"/>
          </a:p>
          <a:p>
            <a:pPr indent="0" marL="0">
              <a:buNone/>
            </a:pPr>
            <a:r>
              <a:rPr lang="en-US" sz="1400" dirty="0">
                <a:solidFill>
                  <a:schemeClr val="tx1"/>
                </a:solidFill>
              </a:rPr>
              <a:t>Do equilibrium, maximin and best-response policies beat simple rules, and can mutual restraint be sustained?</a:t>
            </a:r>
            <a:endParaRPr lang="en-US" sz="1700" dirty="0"/>
          </a:p>
        </p:txBody>
      </p:sp>
      <p:sp>
        <p:nvSpPr>
          <p:cNvPr id="9" name="c10"/>
          <p:cNvSpPr/>
          <p:nvPr/>
        </p:nvSpPr>
        <p:spPr>
          <a:xfrm>
            <a:off x="548640" y="4160520"/>
            <a:ext cx="731520" cy="731520"/>
          </a:xfrm>
          <a:prstGeom prst="ellipse">
            <a:avLst/>
          </a:prstGeom>
          <a:solidFill>
            <a:schemeClr val="accent1"/>
          </a:solidFill>
          <a:ln/>
        </p:spPr>
      </p:sp>
      <p:sp>
        <p:nvSpPr>
          <p:cNvPr id="10" name="t11"/>
          <p:cNvSpPr txBox="1"/>
          <p:nvPr/>
        </p:nvSpPr>
        <p:spPr>
          <a:xfrm>
            <a:off x="548640" y="41605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12"/>
          <p:cNvSpPr txBox="1"/>
          <p:nvPr/>
        </p:nvSpPr>
        <p:spPr>
          <a:xfrm>
            <a:off x="1463040" y="4069080"/>
            <a:ext cx="4572000" cy="1188720"/>
          </a:xfrm>
          <a:prstGeom prst="rect">
            <a:avLst/>
          </a:prstGeom>
          <a:noFill/>
          <a:ln/>
        </p:spPr>
        <p:txBody>
          <a:bodyPr wrap="square" lIns="0" tIns="0" rIns="0" bIns="0" rtlCol="0" anchor="t"/>
          <a:lstStyle/>
          <a:p>
            <a:pPr indent="0" marL="0">
              <a:buNone/>
            </a:pPr>
            <a:r>
              <a:rPr lang="en-US" sz="1700" b="1" dirty="0">
                <a:solidFill>
                  <a:schemeClr val="tx1"/>
                </a:solidFill>
              </a:rPr>
              <a:t>Robustness and redesign</a:t>
            </a:r>
            <a:endParaRPr lang="en-US" sz="1700" dirty="0"/>
          </a:p>
          <a:p>
            <a:pPr indent="0" marL="0">
              <a:buNone/>
            </a:pPr>
            <a:r>
              <a:rPr lang="en-US" sz="1400" dirty="0">
                <a:solidFill>
                  <a:schemeClr val="tx1"/>
                </a:solidFill>
              </a:rPr>
              <a:t>Is the best policy or design in normal weather also best when weather turns bad (expected and worst case)?</a:t>
            </a:r>
            <a:endParaRPr lang="en-US" sz="1700" dirty="0"/>
          </a:p>
        </p:txBody>
      </p:sp>
      <p:graphicFrame>
        <p:nvGraphicFramePr>
          <p:cNvPr id="4"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66928">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66928">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Full formal game: state, actions, information, dynamics, payoffs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66928">
                <a:tc>
                  <a:txBody>
                    <a:bodyPr/>
                    <a:lstStyle/>
                    <a:p>
                      <a:pPr indent="0" marL="0">
                        <a:buNone/>
                      </a:pPr>
                      <a:r>
                        <a:rPr lang="en-US" sz="1200" dirty="0">
                          <a:solidFill>
                            <a:schemeClr val="tx1"/>
                          </a:solidFill>
                        </a:rPr>
                        <a:t>Q1 is a feasible region /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solved as a MIP; aggressive/moderate/conservative = its risk budget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66928">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Frontier + budget game, equilibrium play, robustness and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66928">
                <a:tc>
                  <a:txBody>
                    <a:bodyPr/>
                    <a:lstStyle/>
                    <a:p>
                      <a:pPr indent="0" marL="0">
                        <a:buNone/>
                      </a:pPr>
                      <a:r>
                        <a:rPr lang="en-US" sz="1200" dirty="0">
                          <a:solidFill>
                            <a:schemeClr val="tx1"/>
                          </a:solidFill>
                        </a:rPr>
                        <a:t>Define the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 extra port in the Philippines, extra surveillance, crisis hotline</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66928">
                <a:tc>
                  <a:txBody>
                    <a:bodyPr/>
                    <a:lstStyle/>
                    <a:p>
                      <a:pPr indent="0" marL="0">
                        <a:buNone/>
                      </a:pPr>
                      <a:r>
                        <a:rPr lang="en-US" sz="1200" dirty="0">
                          <a:solidFill>
                            <a:schemeClr val="tx1"/>
                          </a:solidFill>
                        </a:rPr>
                        <a:t>Propose missing values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All values listed and marked as assumptions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66928">
                <a:tc>
                  <a:txBody>
                    <a:bodyPr/>
                    <a:lstStyle/>
                    <a:p>
                      <a:pPr indent="0" marL="0">
                        <a:buNone/>
                      </a:pPr>
                      <a:r>
                        <a:rPr lang="en-US" sz="1200" dirty="0">
                          <a:solidFill>
                            <a:schemeClr val="tx1"/>
                          </a:solidFill>
                        </a:rPr>
                        <a:t>Prof. Sapsis: weather</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as Nature's move;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14"/>
          <p:cNvSpPr/>
          <p:nvPr/>
        </p:nvSpPr>
        <p:spPr>
          <a:xfrm>
            <a:off x="548640" y="1280160"/>
            <a:ext cx="457200" cy="457200"/>
          </a:xfrm>
          <a:prstGeom prst="ellipse">
            <a:avLst/>
          </a:prstGeom>
          <a:solidFill>
            <a:schemeClr val="accent4"/>
          </a:solidFill>
          <a:ln/>
        </p:spPr>
      </p:sp>
      <p:sp>
        <p:nvSpPr>
          <p:cNvPr id="4" name="t15"/>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16"/>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Nature draws the sea state of each region</a:t>
            </a:r>
            <a:endParaRPr lang="en-US" sz="1600" dirty="0"/>
          </a:p>
        </p:txBody>
      </p:sp>
      <p:sp>
        <p:nvSpPr>
          <p:cNvPr id="6" name="st17"/>
          <p:cNvSpPr/>
          <p:nvPr/>
        </p:nvSpPr>
        <p:spPr>
          <a:xfrm>
            <a:off x="548640" y="1883664"/>
            <a:ext cx="457200" cy="457200"/>
          </a:xfrm>
          <a:prstGeom prst="ellipse">
            <a:avLst/>
          </a:prstGeom>
          <a:solidFill>
            <a:schemeClr val="accent1"/>
          </a:solidFill>
          <a:ln/>
        </p:spPr>
      </p:sp>
      <p:sp>
        <p:nvSpPr>
          <p:cNvPr id="7" name="t18"/>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19"/>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20"/>
          <p:cNvSpPr/>
          <p:nvPr/>
        </p:nvSpPr>
        <p:spPr>
          <a:xfrm>
            <a:off x="548640" y="2487168"/>
            <a:ext cx="457200" cy="457200"/>
          </a:xfrm>
          <a:prstGeom prst="ellipse">
            <a:avLst/>
          </a:prstGeom>
          <a:solidFill>
            <a:schemeClr val="accent1"/>
          </a:solidFill>
          <a:ln/>
        </p:spPr>
      </p:sp>
      <p:sp>
        <p:nvSpPr>
          <p:cNvPr id="10" name="t21"/>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22"/>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23"/>
          <p:cNvSpPr/>
          <p:nvPr/>
        </p:nvSpPr>
        <p:spPr>
          <a:xfrm>
            <a:off x="548640" y="3090672"/>
            <a:ext cx="457200" cy="457200"/>
          </a:xfrm>
          <a:prstGeom prst="ellipse">
            <a:avLst/>
          </a:prstGeom>
          <a:solidFill>
            <a:schemeClr val="accent1"/>
          </a:solidFill>
          <a:ln/>
        </p:spPr>
      </p:sp>
      <p:sp>
        <p:nvSpPr>
          <p:cNvPr id="13" name="t24"/>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25"/>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26"/>
          <p:cNvSpPr/>
          <p:nvPr/>
        </p:nvSpPr>
        <p:spPr>
          <a:xfrm>
            <a:off x="548640" y="3694176"/>
            <a:ext cx="457200" cy="457200"/>
          </a:xfrm>
          <a:prstGeom prst="ellipse">
            <a:avLst/>
          </a:prstGeom>
          <a:solidFill>
            <a:schemeClr val="accent1"/>
          </a:solidFill>
          <a:ln/>
        </p:spPr>
      </p:sp>
      <p:sp>
        <p:nvSpPr>
          <p:cNvPr id="16" name="t27"/>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28"/>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fuel budgets</a:t>
            </a:r>
            <a:endParaRPr lang="en-US" sz="1600" dirty="0"/>
          </a:p>
        </p:txBody>
      </p:sp>
      <p:sp>
        <p:nvSpPr>
          <p:cNvPr id="18" name="st29"/>
          <p:cNvSpPr/>
          <p:nvPr/>
        </p:nvSpPr>
        <p:spPr>
          <a:xfrm>
            <a:off x="548640" y="4297680"/>
            <a:ext cx="457200" cy="457200"/>
          </a:xfrm>
          <a:prstGeom prst="ellipse">
            <a:avLst/>
          </a:prstGeom>
          <a:solidFill>
            <a:schemeClr val="accent2"/>
          </a:solidFill>
          <a:ln/>
        </p:spPr>
      </p:sp>
      <p:sp>
        <p:nvSpPr>
          <p:cNvPr id="19" name="t30"/>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31"/>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escalation level moves</a:t>
            </a:r>
            <a:endParaRPr lang="en-US" sz="1600" dirty="0"/>
          </a:p>
        </p:txBody>
      </p:sp>
      <p:sp>
        <p:nvSpPr>
          <p:cNvPr id="21" name="st32"/>
          <p:cNvSpPr/>
          <p:nvPr/>
        </p:nvSpPr>
        <p:spPr>
          <a:xfrm>
            <a:off x="548640" y="4901184"/>
            <a:ext cx="457200" cy="457200"/>
          </a:xfrm>
          <a:prstGeom prst="ellipse">
            <a:avLst/>
          </a:prstGeom>
          <a:solidFill>
            <a:schemeClr val="accent1"/>
          </a:solidFill>
          <a:ln/>
        </p:spPr>
      </p:sp>
      <p:sp>
        <p:nvSpPr>
          <p:cNvPr id="22" name="t33"/>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34"/>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stop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36"/>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0.7·c + 0.3·φ,   φ = (S_B − S_R) / (S_B + S_R + 1)</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Σ value × control − move cost − escalation cost − 200·[war]</a:t>
            </a:r>
            <a:endParaRPr lang="en-US" sz="1400" dirty="0"/>
          </a:p>
          <a:p>
            <a:pPr indent="0" marL="0">
              <a:buNone/>
            </a:pPr>
            <a:r>
              <a:rPr lang="en-US" sz="1300" dirty="0">
                <a:solidFill>
                  <a:schemeClr val="accent5"/>
                </a:solidFill>
              </a:rPr>
              <a:t>War hurts both sides, so the game is not zero-sum.</a:t>
            </a:r>
            <a:endParaRPr lang="en-US" sz="1400" dirty="0"/>
          </a:p>
        </p:txBody>
      </p:sp>
      <p:sp>
        <p:nvSpPr>
          <p:cNvPr id="26" name="tk3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3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3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4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4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4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fuel,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4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4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4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4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4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how to split ships North / Center / South, and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4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dominance, Nash equilibrium, maximin LP, correlated-equilibrium LP</a:t>
            </a:r>
            <a:endParaRPr lang="en-US" sz="1300" dirty="0"/>
          </a:p>
        </p:txBody>
      </p:sp>
      <p:sp>
        <p:nvSpPr>
          <p:cNvPr id="13" name="cd4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5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5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5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  |  Rule of thumb</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a:t>
            </a:r>
            <a:endParaRPr lang="en-US" sz="1500" dirty="0"/>
          </a:p>
          <a:p>
            <a:pPr indent="0" marL="0">
              <a:buNone/>
            </a:pPr>
            <a:r>
              <a:rPr lang="en-US" sz="1500" dirty="0">
                <a:solidFill>
                  <a:schemeClr val="tx1"/>
                </a:solidFill>
              </a:rPr>
              <a:t>Safety-first plan (maximin)</a:t>
            </a:r>
            <a:endParaRPr lang="en-US" sz="1500" dirty="0"/>
          </a:p>
        </p:txBody>
      </p:sp>
      <p:sp>
        <p:nvSpPr>
          <p:cNvPr id="17" name="t5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seeds and weather for every policy</a:t>
            </a:r>
            <a:endParaRPr lang="en-US" sz="1300" dirty="0"/>
          </a:p>
        </p:txBody>
      </p:sp>
      <p:sp>
        <p:nvSpPr>
          <p:cNvPr id="18"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the course covered (Lecture 2).</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7"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5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5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with grim trigger, mutual patrolling is a subgame perfect equilibrium for any discount factor above 0.18. Ours is 0.98.</a:t>
            </a:r>
            <a:endParaRPr lang="en-US" sz="1700" dirty="0"/>
          </a:p>
        </p:txBody>
      </p:sp>
      <p:sp>
        <p:nvSpPr>
          <p:cNvPr id="6" name="tk5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6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61" descr="/home/claude/6.S974-Wargaming-Term-Project/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6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replays the same setup over many random seeds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63" descr="/home/claude/6.S974-Wargaming-Term-Project/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9"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6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payoffs (Blue, Red) and war rate. Red bold = the only equilibrium.</a:t>
            </a:r>
            <a:endParaRPr lang="en-US" sz="1200" dirty="0"/>
          </a:p>
        </p:txBody>
      </p:sp>
      <p:sp>
        <p:nvSpPr>
          <p:cNvPr id="6" name="t6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6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6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choose aggressive, giving the highest war rate (34%):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7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71" descr="/home/claude/6.S974-Wargaming-Term-Project/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7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7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(normal weather): D0 20%, D1 28%, D2 23%, D3 5%. The hotline was given no cost yet.</a:t>
            </a:r>
            <a:endParaRPr lang="en-US" sz="1300" dirty="0"/>
          </a:p>
        </p:txBody>
      </p:sp>
      <p:sp>
        <p:nvSpPr>
          <p:cNvPr id="7" name="tk7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7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The crisis hotline is the best design and cuts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7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7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7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A crisis hotline is a joint gain under every weather scenario</a:t>
            </a:r>
            <a:endParaRPr lang="en-US" sz="1600" dirty="0"/>
          </a:p>
        </p:txBody>
      </p:sp>
      <p:sp>
        <p:nvSpPr>
          <p:cNvPr id="6" name="cv8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8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8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The hotline has no cost yet, so part of its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l"/>
          <p:cNvSpPr/>
          <p:nvPr/>
        </p:nvSpPr>
        <p:spPr>
          <a:xfrm>
            <a:off x="914400" y="1920240"/>
            <a:ext cx="10332720" cy="0"/>
          </a:xfrm>
          <a:prstGeom prst="line">
            <a:avLst/>
          </a:prstGeom>
          <a:noFill/>
          <a:ln w="38100">
            <a:solidFill>
              <a:schemeClr val="accent6"/>
            </a:solidFill>
            <a:prstDash val="solid"/>
          </a:ln>
        </p:spPr>
      </p:sp>
      <p:sp>
        <p:nvSpPr>
          <p:cNvPr id="4" name="tp84"/>
          <p:cNvSpPr/>
          <p:nvPr/>
        </p:nvSpPr>
        <p:spPr>
          <a:xfrm>
            <a:off x="731520" y="1691640"/>
            <a:ext cx="457200" cy="457200"/>
          </a:xfrm>
          <a:prstGeom prst="ellipse">
            <a:avLst/>
          </a:prstGeom>
          <a:solidFill>
            <a:schemeClr val="accent1"/>
          </a:solidFill>
          <a:ln/>
        </p:spPr>
      </p:sp>
      <p:sp>
        <p:nvSpPr>
          <p:cNvPr id="5" name="t85"/>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3</a:t>
            </a:r>
            <a:endParaRPr lang="en-US" sz="1600" dirty="0"/>
          </a:p>
        </p:txBody>
      </p:sp>
      <p:sp>
        <p:nvSpPr>
          <p:cNvPr id="6" name="t86"/>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and attacks</a:t>
            </a:r>
            <a:endParaRPr lang="en-US" sz="1800" dirty="0"/>
          </a:p>
        </p:txBody>
      </p:sp>
      <p:sp>
        <p:nvSpPr>
          <p:cNvPr id="7" name="t87"/>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about enemy positions; weather that persists; test the three coded Red attacks (blockade, jamming, false contacts)</a:t>
            </a:r>
            <a:endParaRPr lang="en-US" sz="1500" dirty="0"/>
          </a:p>
        </p:txBody>
      </p:sp>
      <p:sp>
        <p:nvSpPr>
          <p:cNvPr id="8" name="tp88"/>
          <p:cNvSpPr/>
          <p:nvPr/>
        </p:nvSpPr>
        <p:spPr>
          <a:xfrm>
            <a:off x="3520440" y="1691640"/>
            <a:ext cx="457200" cy="457200"/>
          </a:xfrm>
          <a:prstGeom prst="ellipse">
            <a:avLst/>
          </a:prstGeom>
          <a:solidFill>
            <a:schemeClr val="accent1"/>
          </a:solidFill>
          <a:ln/>
        </p:spPr>
      </p:sp>
      <p:sp>
        <p:nvSpPr>
          <p:cNvPr id="9" name="t89"/>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17</a:t>
            </a:r>
            <a:endParaRPr lang="en-US" sz="1600" dirty="0"/>
          </a:p>
        </p:txBody>
      </p:sp>
      <p:sp>
        <p:nvSpPr>
          <p:cNvPr id="10" name="t90"/>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a:t>
            </a:r>
            <a:endParaRPr lang="en-US" sz="1800" dirty="0"/>
          </a:p>
        </p:txBody>
      </p:sp>
      <p:sp>
        <p:nvSpPr>
          <p:cNvPr id="11" name="t91"/>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Red agents that learn from experience: do they exploit predictable Blue play? An attacker that moves after seeing Blue</a:t>
            </a:r>
            <a:endParaRPr lang="en-US" sz="1500" dirty="0"/>
          </a:p>
        </p:txBody>
      </p:sp>
      <p:sp>
        <p:nvSpPr>
          <p:cNvPr id="12" name="tp92"/>
          <p:cNvSpPr/>
          <p:nvPr/>
        </p:nvSpPr>
        <p:spPr>
          <a:xfrm>
            <a:off x="6309360" y="1691640"/>
            <a:ext cx="457200" cy="457200"/>
          </a:xfrm>
          <a:prstGeom prst="ellipse">
            <a:avLst/>
          </a:prstGeom>
          <a:solidFill>
            <a:schemeClr val="accent1"/>
          </a:solidFill>
          <a:ln/>
        </p:spPr>
      </p:sp>
      <p:sp>
        <p:nvSpPr>
          <p:cNvPr id="13" name="t93"/>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1</a:t>
            </a:r>
            <a:endParaRPr lang="en-US" sz="1600" dirty="0"/>
          </a:p>
        </p:txBody>
      </p:sp>
      <p:sp>
        <p:nvSpPr>
          <p:cNvPr id="14" name="t94"/>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Redesign</a:t>
            </a:r>
            <a:endParaRPr lang="en-US" sz="1800" dirty="0"/>
          </a:p>
        </p:txBody>
      </p:sp>
      <p:sp>
        <p:nvSpPr>
          <p:cNvPr id="15" name="t95"/>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Designs and combinations under attacks, persistent weather and a rare long typhoon; hotline as a mediator</a:t>
            </a:r>
            <a:endParaRPr lang="en-US" sz="1500" dirty="0"/>
          </a:p>
        </p:txBody>
      </p:sp>
      <p:sp>
        <p:nvSpPr>
          <p:cNvPr id="16" name="tp96"/>
          <p:cNvSpPr/>
          <p:nvPr/>
        </p:nvSpPr>
        <p:spPr>
          <a:xfrm>
            <a:off x="9098280" y="1691640"/>
            <a:ext cx="457200" cy="457200"/>
          </a:xfrm>
          <a:prstGeom prst="ellipse">
            <a:avLst/>
          </a:prstGeom>
          <a:solidFill>
            <a:schemeClr val="accent2"/>
          </a:solidFill>
          <a:ln/>
        </p:spPr>
      </p:sp>
      <p:sp>
        <p:nvSpPr>
          <p:cNvPr id="17" name="t97"/>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8</a:t>
            </a:r>
            <a:endParaRPr lang="en-US" sz="1600" dirty="0"/>
          </a:p>
        </p:txBody>
      </p:sp>
      <p:sp>
        <p:nvSpPr>
          <p:cNvPr id="18" name="t98"/>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Report</a:t>
            </a:r>
            <a:endParaRPr lang="en-US" sz="1800" dirty="0"/>
          </a:p>
        </p:txBody>
      </p:sp>
      <p:sp>
        <p:nvSpPr>
          <p:cNvPr id="19" name="t99"/>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Final report and presentation</a:t>
            </a:r>
            <a:endParaRPr lang="en-US" sz="1500" dirty="0"/>
          </a:p>
        </p:txBody>
      </p:sp>
      <p:sp>
        <p:nvSpPr>
          <p:cNvPr id="20"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Each step follows the remaining course modules: learning, attacks and defenses, resilient design.</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2026-10-21T21:33:13Z</dcterms:created>
  <dcterms:modified xsi:type="dcterms:W3CDTF">2026-10-21T21:33:13Z</dcterms:modified>
</cp:coreProperties>
</file>