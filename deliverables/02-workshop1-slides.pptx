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b385875-f847-6463-b467-7080e2ff82b9}">
          <p14:sldIdLst>
            <p14:sldId id="256"/>
            <p14:sldId id="257"/>
            <p14:sldId id="258"/>
          </p14:sldIdLst>
        </p14:section>
        <p14:section name="Model" id="{d3159dd9-a8a5-7742-9a7e-6409adb29cc9}">
          <p14:sldIdLst>
            <p14:sldId id="259"/>
            <p14:sldId id="260"/>
          </p14:sldIdLst>
        </p14:section>
        <p14:section name="Results" id="{69efdd96-be56-f70d-157b-55f758875db3}">
          <p14:sldIdLst>
            <p14:sldId id="261"/>
            <p14:sldId id="262"/>
            <p14:sldId id="263"/>
            <p14:sldId id="264"/>
            <p14:sldId id="265"/>
            <p14:sldId id="266"/>
          </p14:sldIdLst>
        </p14:section>
        <p14:section name="Next steps" id="{135816a8-073f-f4ca-b68d-af76e9d1bd8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Blue payoff against its worst Red opponent (higher is better)</a:t>
            </a:r>
          </a:p>
        </c:rich>
      </c:tx>
      <c:layout/>
      <c:overlay val="0"/>
    </c:title>
    <c:autoTitleDeleted val="0"/>
    <c:plotArea>
      <c:layout/>
      <c:barChart>
        <c:barDir val="bar"/>
        <c:grouping val="clustered"/>
        <c:varyColors val="0"/>
        <c:ser>
          <c:idx val="0"/>
          <c:order val="0"/>
          <c:tx>
            <c:strRef>
              <c:f>Sheet1!$B$1</c:f>
              <c:strCache>
                <c:ptCount val="1"/>
                <c:pt idx="0">
                  <c:v>Blue payoff vs. its worst Red opponent</c:v>
                </c:pt>
              </c:strCache>
            </c:strRef>
          </c:tx>
          <c:spPr>
            <a:solidFill>
              <a:srgbClr val="6B7A8F"/>
            </a:solidFill>
            <a:effectLst/>
          </c:spPr>
          <c:invertIfNegative val="0"/>
          <c:dLbls>
            <c:numFmt formatCode="#,##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6B7A8F"/>
              </a:solidFill>
              <a:effectLst/>
            </c:spPr>
          </c:dPt>
          <c:dPt>
            <c:idx val="1"/>
            <c:invertIfNegative val="0"/>
            <c:bubble3D val="0"/>
            <c:spPr>
              <a:solidFill>
                <a:srgbClr val="6B7A8F"/>
              </a:solidFill>
              <a:effectLst/>
            </c:spPr>
          </c:dPt>
          <c:dPt>
            <c:idx val="2"/>
            <c:invertIfNegative val="0"/>
            <c:bubble3D val="0"/>
            <c:spPr>
              <a:solidFill>
                <a:srgbClr val="6B7A8F"/>
              </a:solidFill>
              <a:effectLst/>
            </c:spPr>
          </c:dPt>
          <c:dPt>
            <c:idx val="3"/>
            <c:invertIfNegative val="0"/>
            <c:bubble3D val="0"/>
            <c:spPr>
              <a:solidFill>
                <a:srgbClr val="1F4E9C"/>
              </a:solidFill>
              <a:effectLst/>
            </c:spPr>
          </c:dPt>
          <c:dPt>
            <c:idx val="4"/>
            <c:invertIfNegative val="0"/>
            <c:bubble3D val="0"/>
            <c:spPr>
              <a:solidFill>
                <a:srgbClr val="1F4E9C"/>
              </a:solidFill>
              <a:effectLst/>
            </c:spPr>
          </c:dPt>
          <c:dPt>
            <c:idx val="5"/>
            <c:invertIfNegative val="0"/>
            <c:bubble3D val="0"/>
            <c:spPr>
              <a:solidFill>
                <a:srgbClr val="13807A"/>
              </a:solidFill>
              <a:effectLst/>
            </c:spPr>
          </c:dPt>
          <c:cat>
            <c:multiLvlStrRef>
              <c:f>Sheet1!$A$2:$A$7</c:f>
              <c:multiLvlStrCache>
                <c:ptCount val="6"/>
                <c:lvl>
                  <c:pt idx="0">
                    <c:v>Random moves</c:v>
                  </c:pt>
                  <c:pt idx="1">
                    <c:v>Rule of thumb</c:v>
                  </c:pt>
                  <c:pt idx="2">
                    <c:v>Safety-first plan</c:v>
                  </c:pt>
                  <c:pt idx="3">
                    <c:v>Best response (MIP)</c:v>
                  </c:pt>
                  <c:pt idx="4">
                    <c:v>Quick best response</c:v>
                  </c:pt>
                  <c:pt idx="5">
                    <c:v>Nash equilibrium plan</c:v>
                  </c:pt>
                </c:lvl>
              </c:multiLvlStrCache>
            </c:multiLvlStrRef>
          </c:cat>
          <c:val>
            <c:numRef>
              <c:f>Sheet1!$B$2:$B$7</c:f>
              <c:numCache>
                <c:formatCode>General</c:formatCode>
                <c:ptCount val="6"/>
                <c:pt idx="0">
                  <c:v>-319</c:v>
                </c:pt>
                <c:pt idx="1">
                  <c:v>-184</c:v>
                </c:pt>
                <c:pt idx="2">
                  <c:v>-221</c:v>
                </c:pt>
                <c:pt idx="3">
                  <c:v>-144</c:v>
                </c:pt>
                <c:pt idx="4">
                  <c:v>-137</c:v>
                </c:pt>
                <c:pt idx="5">
                  <c:v>-116</c:v>
                </c:pt>
              </c:numCache>
            </c:numRef>
          </c:val>
        </c:ser>
        <c:dLbls>
          <c:numFmt formatCode="#,##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
          <c:min val="-350"/>
        </c:scaling>
        <c:delete val="0"/>
        <c:axPos val="b"/>
        <c:majorGridlines>
          <c:spPr>
            <a:ln w="6350"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Blue payoff by design over weather scenarios</a:t>
            </a:r>
          </a:p>
        </c:rich>
      </c:tx>
      <c:layout/>
      <c:overlay val="0"/>
    </c:title>
    <c:autoTitleDeleted val="0"/>
    <c:plotArea>
      <c:layout/>
      <c:barChart>
        <c:barDir val="col"/>
        <c:grouping val="clustered"/>
        <c:varyColors val="0"/>
        <c:ser>
          <c:idx val="0"/>
          <c:order val="0"/>
          <c:tx>
            <c:strRef>
              <c:f>Sheet1!$B$1</c:f>
              <c:strCache>
                <c:ptCount val="1"/>
                <c:pt idx="0">
                  <c:v>Expected</c:v>
                </c:pt>
              </c:strCache>
            </c:strRef>
          </c:tx>
          <c:spPr>
            <a:solidFill>
              <a:srgbClr val="1F4E9C"/>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D0 Baseline</c:v>
                  </c:pt>
                  <c:pt idx="1">
                    <c:v>D1 Extra port</c:v>
                  </c:pt>
                  <c:pt idx="2">
                    <c:v>D2 Extra surveillance</c:v>
                  </c:pt>
                  <c:pt idx="3">
                    <c:v>D3 Crisis hotline</c:v>
                  </c:pt>
                </c:lvl>
              </c:multiLvlStrCache>
            </c:multiLvlStrRef>
          </c:cat>
          <c:val>
            <c:numRef>
              <c:f>Sheet1!$B$2:$B$5</c:f>
              <c:numCache>
                <c:formatCode>General</c:formatCode>
                <c:ptCount val="4"/>
                <c:pt idx="0">
                  <c:v>-144</c:v>
                </c:pt>
                <c:pt idx="1">
                  <c:v>-137</c:v>
                </c:pt>
                <c:pt idx="2">
                  <c:v>-162</c:v>
                </c:pt>
                <c:pt idx="3">
                  <c:v>-120</c:v>
                </c:pt>
              </c:numCache>
            </c:numRef>
          </c:val>
        </c:ser>
        <c:ser>
          <c:idx val="1"/>
          <c:order val="1"/>
          <c:tx>
            <c:strRef>
              <c:f>Sheet1!$C$1</c:f>
              <c:strCache>
                <c:ptCount val="1"/>
                <c:pt idx="0">
                  <c:v>Worst case</c:v>
                </c:pt>
              </c:strCache>
            </c:strRef>
          </c:tx>
          <c:spPr>
            <a:solidFill>
              <a:srgbClr val="B23A48"/>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D0 Baseline</c:v>
                  </c:pt>
                  <c:pt idx="1">
                    <c:v>D1 Extra port</c:v>
                  </c:pt>
                  <c:pt idx="2">
                    <c:v>D2 Extra surveillance</c:v>
                  </c:pt>
                  <c:pt idx="3">
                    <c:v>D3 Crisis hotline</c:v>
                  </c:pt>
                </c:lvl>
              </c:multiLvlStrCache>
            </c:multiLvlStrRef>
          </c:cat>
          <c:val>
            <c:numRef>
              <c:f>Sheet1!$C$2:$C$5</c:f>
              <c:numCache>
                <c:formatCode>General</c:formatCode>
                <c:ptCount val="4"/>
                <c:pt idx="0">
                  <c:v>-164</c:v>
                </c:pt>
                <c:pt idx="1">
                  <c:v>-153</c:v>
                </c:pt>
                <c:pt idx="2">
                  <c:v>-181</c:v>
                </c:pt>
                <c:pt idx="3">
                  <c:v>-140</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
          <c:min val="-200"/>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We study day-to-day U.S.-China competition for control of the waters inside the First Island Chain, below the threshold of war. We built it as a game on a network. Today: the model, the prototype, and first results on three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China claims most of the South China Sea and contests the Senkakus, pressing those claims with coast guard and militia hulls backed by navy ships; the U.S. keeps the seas open with destroyers on presence and freedom-of-navigation patrols (Helmus 2024; Green 2017). Squares are home ports, circles are the eight contested zones, grouped North, Center, South. Dashed lines are the extra Philippine port, one of our redesigns. Three things make this a game rather than a single optimization: control is relative, so my best move depends on yours; escalation risk is shared, because incidents need both sides present and war costs both; and neither side sees the other's full fleet, only the ships where it also has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Three questions. RQ1: each side caps the incident risk it accepts per period; how much control does more risk buy, how much likelier does war become, and what cap does each side pick when the other is picking too? RQ2: does a side that plans with game theory beat one that follows simple rules, and can both sides stay at patrol over many periods, because asserting once would end the truce and push both into riskier play from then on? RQ3, from Prof. Sapsis's comment: does the best plan or Blue redesign in normal weather stay best across calm, typhoon and extreme weather scenarios, on average and in the worst scenario? The table maps each piece of Deliverable 1 feedback to what we changed. The main one: the model is now fully formal, and the proposal's strategy types are a single risk-budget number inside a MIP.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Walk the timeline top to bottom: this is one two-day turn. The weather is drawn first, then both sides move at the same time without seeing each other's full fleet. The box holds all the dynamics. Control moves 30% of the way toward the local force ratio each turn. Incidents need both sides present, and are likelier when someone asserts and when tensions are already high. Payoff is value of zones held minus fuel, tension, and for Blue the running cost of its redesign, zeta-D; war costs both sides 200, so the game is not zero-sum. If asked: every number is our assumption, listed in Table 1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Two ways to decide. Left: each turn a player solves a MIP, the Lecture 2 tool, to pick moves, with a cap on expected incidents, epsilon. This answers the feedback that Q1 is a feasible region. Middle: for equilibrium analysis we shrink each side to 14 templates and solve the 14-by-14 game exactly with the Lecture 3-4 tools. Right: the six policies we compare. All of them see the same random 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A small example from our own game. Fix where ships go; each side only chooses patrol or assert. Read the table: asserting against a patroller pays a little, but if both assert, both lose more than 11. So the best reply is to do the opposite of the other side, like the shared-compute example in Lecture 3. Two fixes: a correlated equilibrium, which is what a mediator or hotline can implement, never recommends both asserting; and in the repeated game, grim trigger (both patrol; after any assertion, both switch to the mixed equilibrium for good) makes mutual patrolling a subgame perfect equilibrium whenever the discount factor is above 0.18. Ours is 0.98.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or a 60 s live demo) This is the prototype. Pick a plan for each side, a design and the weather, then Step or Play. Zone color is who controls it. Letters count ships. Thick outlines mean asserting, an orange ring is an incident, shading is bad weather. Bottom left is the escalation ladder; level 5 is war. 'Run many games' gives averages. The screenshot is turn 12 with a storm over the North. The same file runs batch experiments; a second script reproduces every number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Left: Blue loosens its risk budget while Red stays moderate. Control rises fast up to about 0.15, then flattens, while war risk keeps rising. Right: both sides choose a budget. Aggressive is the best reply to anything, for both, so the only equilibrium is aggressive-aggressive, with the highest war rate, 34%. That is a prisoner's dilemma, Lecture 3. Restraint has to come from repetition or coordination, as in the previous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Each Blue policy plays three Red policies, 200 games each; the bar is Blue's payoff against its worst opponent. The Nash equilibrium plan has the best worst case, and half the war rate of the MIP best response. Best responses do well against weak opponents but escalate. The safety-first plan is cautious but gives up control. Differences under about 20 points are within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Robustness in the Lecture 1 sense: expected payoff over the four weather scenarios, and worst case. Left: the policy ranking does not change across weather; the top two plans stay on top. Bad weather slightly helps Blue here, because rough seas weaken Red's coast-guard hulls. Right: of the three redesigns, the crisis hotline is best on average and in the worst case, and cuts war about four times. Caveat: we gave it no cost yet, and it also helps Red, so it is a joint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Be direct about limits. Left is what the runs support. Right is what they do not: values are assumptions, policies look one turn ahead, the war rate depends heavily on a few parameters, and the hotline result is partly built in. A sensitivity sweep is the first item for Workshop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Workshop 2 follows the remaining course modules. First, Bayesian beliefs, weather scenarios tied to the calendar with odds from climatology data, and the three Red attacks already coded; we also decide whether to keep the theater-wide movement budget, which stands in for operational requirements and station-keeping. Then learning agents, once taught: does a learning Red exploit predictable Blue play? Then redesigns under attack and long typhoons, with a cost for the hotline. Final report December 8.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703320"/>
            <a:ext cx="10698480" cy="14630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nchor="b"/>
          <a:lstStyle/>
          <a:p>
            <a:pPr indent="0" marL="0">
              <a:buNone/>
            </a:pPr>
            <a:r>
              <a:rPr lang="en-US" sz="4000" b="1" dirty="0">
                <a:solidFill>
                  <a:schemeClr val="bg1"/>
                </a:solidFill>
              </a:rPr>
              <a:t>Gray-Zone Maritime Control in the First Island Chain</a:t>
            </a:r>
            <a:endParaRPr lang="en-US" sz="4000" dirty="0"/>
          </a:p>
        </p:txBody>
      </p:sp>
      <p:sp>
        <p:nvSpPr>
          <p:cNvPr id="3" name="Text 0"/>
          <p:cNvSpPr/>
          <p:nvPr>
            <p:ph idx="101" type="body" hasCustomPrompt="1"/>
          </p:nvPr>
        </p:nvSpPr>
        <p:spPr>
          <a:xfrm>
            <a:off x="731520" y="3703320"/>
            <a:ext cx="10698480" cy="1463040"/>
          </a:xfrm>
          <a:prstGeom prst="rect">
            <a:avLst/>
          </a:prstGeom>
          <a:noFill/>
          <a:ln/>
        </p:spPr>
        <p:txBody>
          <a:bodyPr wrap="square" rtlCol="0" anchor="t"/>
          <a:lstStyle/>
          <a:p>
            <a:pPr indent="0" marL="0">
              <a:buNone/>
            </a:pPr>
            <a:r>
              <a:rPr lang="en-US" sz="1800" dirty="0">
                <a:solidFill>
                  <a:schemeClr val="accent6"/>
                </a:solidFill>
              </a:rPr>
              <a:t>A networked escalation game  |  Workshop 1</a:t>
            </a:r>
            <a:endParaRPr lang="en-US" sz="1800" dirty="0"/>
          </a:p>
          <a:p>
            <a:pPr indent="0" marL="0">
              <a:buNone/>
            </a:pPr>
            <a:r>
              <a:rPr lang="en-US" sz="1800" dirty="0">
                <a:solidFill>
                  <a:schemeClr val="accent6"/>
                </a:solidFill>
              </a:rPr>
              <a:t>Sean Bowman, Tate Murphy, Matthew Newell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The problem: control without war</a:t>
            </a:r>
            <a:endParaRPr lang="en-US" sz="2800" dirty="0"/>
          </a:p>
        </p:txBody>
      </p:sp>
      <p:pic>
        <p:nvPicPr>
          <p:cNvPr id="3" name="img1" descr="/home/claude/6.S974-Wargaming-Term-Project/slides/../prototype/results/figures/network.png">    </p:cNvPr>
          <p:cNvPicPr>
            <a:picLocks noChangeAspect="1"/>
          </p:cNvPicPr>
          <p:nvPr/>
        </p:nvPicPr>
        <p:blipFill>
          <a:blip r:embed="rId1"/>
          <a:stretch>
            <a:fillRect/>
          </a:stretch>
        </p:blipFill>
        <p:spPr>
          <a:xfrm>
            <a:off x="548640" y="1234440"/>
            <a:ext cx="4480560" cy="3959352"/>
          </a:xfrm>
          <a:prstGeom prst="rect">
            <a:avLst/>
          </a:prstGeom>
        </p:spPr>
      </p:pic>
      <p:sp>
        <p:nvSpPr>
          <p:cNvPr id="4" name="t2"/>
          <p:cNvSpPr txBox="1"/>
          <p:nvPr/>
        </p:nvSpPr>
        <p:spPr>
          <a:xfrm>
            <a:off x="548640" y="5257800"/>
            <a:ext cx="4480560" cy="274320"/>
          </a:xfrm>
          <a:prstGeom prst="rect">
            <a:avLst/>
          </a:prstGeom>
          <a:noFill/>
          <a:ln/>
        </p:spPr>
        <p:txBody>
          <a:bodyPr wrap="square" lIns="0" tIns="0" rIns="0" bIns="0" rtlCol="0" anchor="ctr"/>
          <a:lstStyle/>
          <a:p>
            <a:pPr indent="0" marL="0">
              <a:buNone/>
            </a:pPr>
            <a:r>
              <a:rPr lang="en-US" sz="1200" i="1" dirty="0">
                <a:solidFill>
                  <a:schemeClr val="accent5"/>
                </a:solidFill>
              </a:rPr>
              <a:t>Network of 8 contested zones and 4 home ports</a:t>
            </a:r>
            <a:endParaRPr lang="en-US" sz="1200" dirty="0"/>
          </a:p>
        </p:txBody>
      </p:sp>
      <p:sp>
        <p:nvSpPr>
          <p:cNvPr id="5" name="t3"/>
          <p:cNvSpPr txBox="1"/>
          <p:nvPr/>
        </p:nvSpPr>
        <p:spPr>
          <a:xfrm>
            <a:off x="5486400" y="1325880"/>
            <a:ext cx="6126480" cy="42062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chemeClr val="accent1"/>
                </a:solidFill>
              </a:rPr>
              <a:t>Players. </a:t>
            </a:r>
            <a:pPr indent="0" marL="0">
              <a:buNone/>
            </a:pPr>
            <a:r>
              <a:rPr lang="en-US" sz="1800" dirty="0">
                <a:solidFill>
                  <a:schemeClr val="tx1"/>
                </a:solidFill>
              </a:rPr>
              <a:t>Blue: 10 U.S. destroyers (DDG). Red: 8 navy ships (PLAN) + 6 coast guard / militia hulls (CCG).</a:t>
            </a:r>
            <a:endParaRPr lang="en-US" sz="1800" dirty="0"/>
          </a:p>
          <a:p>
            <a:pPr marL="342900" indent="-342900">
              <a:spcAft>
                <a:spcPts val="600"/>
              </a:spcAft>
              <a:buSzPct val="100000"/>
              <a:buChar char="•"/>
            </a:pPr>
            <a:r>
              <a:rPr lang="en-US" sz="1800" b="1" dirty="0">
                <a:solidFill>
                  <a:schemeClr val="tx1"/>
                </a:solidFill>
              </a:rPr>
              <a:t>Each period (2 days). </a:t>
            </a:r>
            <a:pPr indent="0" marL="0">
              <a:buNone/>
            </a:pPr>
            <a:r>
              <a:rPr lang="en-US" sz="1800" dirty="0">
                <a:solidFill>
                  <a:schemeClr val="tx1"/>
                </a:solidFill>
              </a:rPr>
              <a:t>Each side chooses where its ships go and whether to patrol (P) or assert (A: shadowing, close maneuvering, querying and warning; for the U.S. also freedom-of-navigation operations).</a:t>
            </a:r>
            <a:endParaRPr lang="en-US" sz="1800" dirty="0"/>
          </a:p>
          <a:p>
            <a:pPr marL="342900" indent="-342900">
              <a:spcAft>
                <a:spcPts val="600"/>
              </a:spcAft>
              <a:buSzPct val="100000"/>
              <a:buChar char="•"/>
            </a:pPr>
            <a:r>
              <a:rPr lang="en-US" sz="1800" b="1" dirty="0">
                <a:solidFill>
                  <a:schemeClr val="tx1"/>
                </a:solidFill>
              </a:rPr>
              <a:t>Control </a:t>
            </a:r>
            <a:pPr indent="0" marL="0">
              <a:buNone/>
            </a:pPr>
            <a:r>
              <a:rPr lang="en-US" sz="1800" dirty="0">
                <a:solidFill>
                  <a:schemeClr val="tx1"/>
                </a:solidFill>
              </a:rPr>
              <a:t>of a zone follows the local force ratio, so each side's best move depends on the other's.</a:t>
            </a:r>
            <a:endParaRPr lang="en-US" sz="1800" dirty="0"/>
          </a:p>
          <a:p>
            <a:pPr marL="342900" indent="-342900">
              <a:spcAft>
                <a:spcPts val="600"/>
              </a:spcAft>
              <a:buSzPct val="100000"/>
              <a:buChar char="•"/>
            </a:pPr>
            <a:r>
              <a:rPr lang="en-US" sz="1800" b="1" dirty="0">
                <a:solidFill>
                  <a:schemeClr val="accent2"/>
                </a:solidFill>
              </a:rPr>
              <a:t>Incidents </a:t>
            </a:r>
            <a:pPr indent="0" marL="0">
              <a:buNone/>
            </a:pPr>
            <a:r>
              <a:rPr lang="en-US" sz="1800" dirty="0">
                <a:solidFill>
                  <a:schemeClr val="tx1"/>
                </a:solidFill>
              </a:rPr>
              <a:t>can happen when both sides are present, and are likelier if someone asserts. Incidents raise an escalation level; at the top is war, which costs both sides.</a:t>
            </a:r>
            <a:endParaRPr lang="en-US" sz="1800" dirty="0"/>
          </a:p>
          <a:p>
            <a:pPr marL="342900" indent="-342900">
              <a:spcAft>
                <a:spcPts val="600"/>
              </a:spcAft>
              <a:buSzPct val="100000"/>
              <a:buChar char="•"/>
            </a:pPr>
            <a:r>
              <a:rPr lang="en-US" sz="1800" b="1" dirty="0">
                <a:solidFill>
                  <a:schemeClr val="tx1"/>
                </a:solidFill>
              </a:rPr>
              <a:t>Fog. </a:t>
            </a:r>
            <a:pPr indent="0" marL="0">
              <a:buNone/>
            </a:pPr>
            <a:r>
              <a:rPr lang="en-US" sz="1800" dirty="0">
                <a:solidFill>
                  <a:schemeClr val="tx1"/>
                </a:solidFill>
              </a:rPr>
              <a:t>Neither side sees the other's entire fleet disposition; only forces present where they also maintain forces. Storms can close zones.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Research questions and what changed since the proposal</a:t>
            </a:r>
            <a:endParaRPr lang="en-US" sz="2800" dirty="0"/>
          </a:p>
        </p:txBody>
      </p:sp>
      <p:sp>
        <p:nvSpPr>
          <p:cNvPr id="3" name="c4"/>
          <p:cNvSpPr/>
          <p:nvPr/>
        </p:nvSpPr>
        <p:spPr>
          <a:xfrm>
            <a:off x="548640" y="1325880"/>
            <a:ext cx="731520" cy="731520"/>
          </a:xfrm>
          <a:prstGeom prst="ellipse">
            <a:avLst/>
          </a:prstGeom>
          <a:solidFill>
            <a:schemeClr val="accent1"/>
          </a:solidFill>
          <a:ln/>
        </p:spPr>
      </p:sp>
      <p:sp>
        <p:nvSpPr>
          <p:cNvPr id="4" name="t5"/>
          <p:cNvSpPr txBox="1"/>
          <p:nvPr/>
        </p:nvSpPr>
        <p:spPr>
          <a:xfrm>
            <a:off x="548640" y="132588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RQ1</a:t>
            </a:r>
            <a:endParaRPr lang="en-US" sz="1600" dirty="0"/>
          </a:p>
        </p:txBody>
      </p:sp>
      <p:sp>
        <p:nvSpPr>
          <p:cNvPr id="5" name="t6"/>
          <p:cNvSpPr txBox="1"/>
          <p:nvPr/>
        </p:nvSpPr>
        <p:spPr>
          <a:xfrm>
            <a:off x="1463040" y="1234440"/>
            <a:ext cx="4754880" cy="1371600"/>
          </a:xfrm>
          <a:prstGeom prst="rect">
            <a:avLst/>
          </a:prstGeom>
          <a:noFill/>
          <a:ln/>
        </p:spPr>
        <p:txBody>
          <a:bodyPr wrap="square" lIns="0" tIns="0" rIns="0" bIns="0" rtlCol="0" anchor="t"/>
          <a:lstStyle/>
          <a:p>
            <a:pPr indent="0" marL="0">
              <a:buNone/>
            </a:pPr>
            <a:r>
              <a:rPr lang="en-US" sz="1600" b="1" dirty="0">
                <a:solidFill>
                  <a:schemeClr val="tx1"/>
                </a:solidFill>
              </a:rPr>
              <a:t>Control vs. war risk</a:t>
            </a:r>
            <a:endParaRPr lang="en-US" sz="1600" dirty="0"/>
          </a:p>
          <a:p>
            <a:pPr indent="0" marL="0">
              <a:buNone/>
            </a:pPr>
            <a:r>
              <a:rPr lang="en-US" sz="1300" dirty="0">
                <a:solidFill>
                  <a:schemeClr val="tx1"/>
                </a:solidFill>
              </a:rPr>
              <a:t>Each side caps how much incident risk it will accept each period (its risk budget ε). How much more control does a side gain by accepting more risk, how much more likely does war become, and what risk level does each side pick when it knows the other side is picking too?</a:t>
            </a:r>
            <a:endParaRPr lang="en-US" sz="1600" dirty="0"/>
          </a:p>
        </p:txBody>
      </p:sp>
      <p:sp>
        <p:nvSpPr>
          <p:cNvPr id="6" name="c7"/>
          <p:cNvSpPr/>
          <p:nvPr/>
        </p:nvSpPr>
        <p:spPr>
          <a:xfrm>
            <a:off x="548640" y="2788920"/>
            <a:ext cx="731520" cy="731520"/>
          </a:xfrm>
          <a:prstGeom prst="ellipse">
            <a:avLst/>
          </a:prstGeom>
          <a:solidFill>
            <a:schemeClr val="accent1"/>
          </a:solidFill>
          <a:ln/>
        </p:spPr>
      </p:sp>
      <p:sp>
        <p:nvSpPr>
          <p:cNvPr id="7" name="t8"/>
          <p:cNvSpPr txBox="1"/>
          <p:nvPr/>
        </p:nvSpPr>
        <p:spPr>
          <a:xfrm>
            <a:off x="548640" y="278892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RQ2</a:t>
            </a:r>
            <a:endParaRPr lang="en-US" sz="1600" dirty="0"/>
          </a:p>
        </p:txBody>
      </p:sp>
      <p:sp>
        <p:nvSpPr>
          <p:cNvPr id="8" name="t9"/>
          <p:cNvSpPr txBox="1"/>
          <p:nvPr/>
        </p:nvSpPr>
        <p:spPr>
          <a:xfrm>
            <a:off x="1463040" y="2697480"/>
            <a:ext cx="4754880" cy="1371600"/>
          </a:xfrm>
          <a:prstGeom prst="rect">
            <a:avLst/>
          </a:prstGeom>
          <a:noFill/>
          <a:ln/>
        </p:spPr>
        <p:txBody>
          <a:bodyPr wrap="square" lIns="0" tIns="0" rIns="0" bIns="0" rtlCol="0" anchor="t"/>
          <a:lstStyle/>
          <a:p>
            <a:pPr indent="0" marL="0">
              <a:buNone/>
            </a:pPr>
            <a:r>
              <a:rPr lang="en-US" sz="1600" b="1" dirty="0">
                <a:solidFill>
                  <a:schemeClr val="tx1"/>
                </a:solidFill>
              </a:rPr>
              <a:t>Game theory vs. rules of thumb</a:t>
            </a:r>
            <a:endParaRPr lang="en-US" sz="1600" dirty="0"/>
          </a:p>
          <a:p>
            <a:pPr indent="0" marL="0">
              <a:buNone/>
            </a:pPr>
            <a:r>
              <a:rPr lang="en-US" sz="1300" dirty="0">
                <a:solidFill>
                  <a:schemeClr val="tx1"/>
                </a:solidFill>
              </a:rPr>
              <a:t>Does planning with game theory (best responses, equilibrium or maximin plans) beat simple rules or random moves? Can both sides stay at patrol over many periods, because asserting once would end the truce and push both into riskier play from then on?</a:t>
            </a:r>
            <a:endParaRPr lang="en-US" sz="1600" dirty="0"/>
          </a:p>
        </p:txBody>
      </p:sp>
      <p:sp>
        <p:nvSpPr>
          <p:cNvPr id="9" name="c10"/>
          <p:cNvSpPr/>
          <p:nvPr/>
        </p:nvSpPr>
        <p:spPr>
          <a:xfrm>
            <a:off x="548640" y="4251960"/>
            <a:ext cx="731520" cy="731520"/>
          </a:xfrm>
          <a:prstGeom prst="ellipse">
            <a:avLst/>
          </a:prstGeom>
          <a:solidFill>
            <a:schemeClr val="accent1"/>
          </a:solidFill>
          <a:ln/>
        </p:spPr>
      </p:sp>
      <p:sp>
        <p:nvSpPr>
          <p:cNvPr id="10" name="t11"/>
          <p:cNvSpPr txBox="1"/>
          <p:nvPr/>
        </p:nvSpPr>
        <p:spPr>
          <a:xfrm>
            <a:off x="548640" y="42519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RQ3</a:t>
            </a:r>
            <a:endParaRPr lang="en-US" sz="1600" dirty="0"/>
          </a:p>
        </p:txBody>
      </p:sp>
      <p:sp>
        <p:nvSpPr>
          <p:cNvPr id="11" name="t12"/>
          <p:cNvSpPr txBox="1"/>
          <p:nvPr/>
        </p:nvSpPr>
        <p:spPr>
          <a:xfrm>
            <a:off x="1463040" y="4160520"/>
            <a:ext cx="4754880" cy="1371600"/>
          </a:xfrm>
          <a:prstGeom prst="rect">
            <a:avLst/>
          </a:prstGeom>
          <a:noFill/>
          <a:ln/>
        </p:spPr>
        <p:txBody>
          <a:bodyPr wrap="square" lIns="0" tIns="0" rIns="0" bIns="0" rtlCol="0" anchor="t"/>
          <a:lstStyle/>
          <a:p>
            <a:pPr indent="0" marL="0">
              <a:buNone/>
            </a:pPr>
            <a:r>
              <a:rPr lang="en-US" sz="1600" b="1" dirty="0">
                <a:solidFill>
                  <a:schemeClr val="tx1"/>
                </a:solidFill>
              </a:rPr>
              <a:t>Weather and redesign</a:t>
            </a:r>
            <a:endParaRPr lang="en-US" sz="1600" dirty="0"/>
          </a:p>
          <a:p>
            <a:pPr indent="0" marL="0">
              <a:buNone/>
            </a:pPr>
            <a:r>
              <a:rPr lang="en-US" sz="1300" dirty="0">
                <a:solidFill>
                  <a:schemeClr val="tx1"/>
                </a:solidFill>
              </a:rPr>
              <a:t>Does the plan or Blue redesign that works best in normal weather still work best across calm, typhoon and extreme weather scenarios, both on average and in the worst scenario?</a:t>
            </a:r>
            <a:endParaRPr lang="en-US" sz="1600" dirty="0"/>
          </a:p>
        </p:txBody>
      </p:sp>
      <p:graphicFrame>
        <p:nvGraphicFramePr>
          <p:cNvPr id="4" name="fbtable"/>
          <p:cNvGraphicFramePr>
            <a:graphicFrameLocks noGrp="1"/>
          </p:cNvGraphicFramePr>
          <p:nvPr>
            <p:extLst>
              <p:ext uri="{D42A27DB-BD31-4B8C-83A1-F6EECF244321}">
                <p14:modId xmlns:p14="http://schemas.microsoft.com/office/powerpoint/2010/main" val="1579011935"/>
              </p:ext>
            </p:extLst>
          </p:nvPr>
        </p:nvGraphicFramePr>
        <p:xfrm>
          <a:off x="6400800" y="1325880"/>
          <a:ext cx="5212080" cy="914400"/>
        </p:xfrm>
        <a:graphic>
          <a:graphicData uri="http://schemas.openxmlformats.org/drawingml/2006/table">
            <a:tbl>
              <a:tblPr/>
              <a:tblGrid>
                <a:gridCol w="1828800"/>
                <a:gridCol w="3383280"/>
              </a:tblGrid>
              <a:tr h="512064">
                <a:tc>
                  <a:txBody>
                    <a:bodyPr/>
                    <a:lstStyle/>
                    <a:p>
                      <a:pPr indent="0" marL="0">
                        <a:buNone/>
                      </a:pPr>
                      <a:r>
                        <a:rPr lang="en-US" sz="1200" b="1" dirty="0">
                          <a:solidFill>
                            <a:schemeClr val="bg1"/>
                          </a:solidFill>
                        </a:rPr>
                        <a:t>Feedback</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we did</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r>
              <a:tr h="512064">
                <a:tc>
                  <a:txBody>
                    <a:bodyPr/>
                    <a:lstStyle/>
                    <a:p>
                      <a:pPr indent="0" marL="0">
                        <a:buNone/>
                      </a:pPr>
                      <a:r>
                        <a:rPr lang="en-US" sz="1200" dirty="0">
                          <a:solidFill>
                            <a:schemeClr val="tx1"/>
                          </a:solidFill>
                        </a:rPr>
                        <a:t>Model too high level</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Formal game on a graph</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Q1 is a feasible region, use a MIP</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Best response is an exact MIP; commander types become risk budgets ε</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More ambitious questions</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Budget-game equilibrium (RQ1), equilibrium play (RQ2), robustness and redesign (RQ3)</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Define the resilient redesign</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Three Blue designs</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Propose values for missing data</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Assumed values, listed in the report</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Show preliminary results</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Analytical results; 77 setups × 200 simulated games</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512064">
                <a:tc>
                  <a:txBody>
                    <a:bodyPr/>
                    <a:lstStyle/>
                    <a:p>
                      <a:pPr indent="0" marL="0">
                        <a:buNone/>
                      </a:pPr>
                      <a:r>
                        <a:rPr lang="en-US" sz="1200" dirty="0">
                          <a:solidFill>
                            <a:schemeClr val="tx1"/>
                          </a:solidFill>
                        </a:rPr>
                        <a:t>Add weather (Prof. Sapsis)</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indent="0" marL="0">
                        <a:buNone/>
                      </a:pPr>
                      <a:r>
                        <a:rPr lang="en-US" sz="1200" dirty="0">
                          <a:solidFill>
                            <a:schemeClr val="tx1"/>
                          </a:solidFill>
                        </a:rPr>
                        <a:t>Weather scenarios; expected and worst-case payoff</a:t>
                      </a:r>
                      <a:endParaRPr lang="en-US" sz="12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The game, one period at a time</a:t>
            </a:r>
            <a:endParaRPr lang="en-US" sz="2800" dirty="0"/>
          </a:p>
        </p:txBody>
      </p:sp>
      <p:sp>
        <p:nvSpPr>
          <p:cNvPr id="3" name="st14"/>
          <p:cNvSpPr/>
          <p:nvPr/>
        </p:nvSpPr>
        <p:spPr>
          <a:xfrm>
            <a:off x="548640" y="1280160"/>
            <a:ext cx="457200" cy="457200"/>
          </a:xfrm>
          <a:prstGeom prst="ellipse">
            <a:avLst/>
          </a:prstGeom>
          <a:solidFill>
            <a:schemeClr val="accent4"/>
          </a:solidFill>
          <a:ln/>
        </p:spPr>
      </p:sp>
      <p:sp>
        <p:nvSpPr>
          <p:cNvPr id="4" name="t15"/>
          <p:cNvSpPr txBox="1"/>
          <p:nvPr/>
        </p:nvSpPr>
        <p:spPr>
          <a:xfrm>
            <a:off x="548640" y="12801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16"/>
          <p:cNvSpPr txBox="1"/>
          <p:nvPr/>
        </p:nvSpPr>
        <p:spPr>
          <a:xfrm>
            <a:off x="1143000" y="1280160"/>
            <a:ext cx="4754880" cy="457200"/>
          </a:xfrm>
          <a:prstGeom prst="rect">
            <a:avLst/>
          </a:prstGeom>
          <a:noFill/>
          <a:ln/>
        </p:spPr>
        <p:txBody>
          <a:bodyPr wrap="square" lIns="0" tIns="0" rIns="0" bIns="0" rtlCol="0" anchor="ctr"/>
          <a:lstStyle/>
          <a:p>
            <a:pPr indent="0" marL="0">
              <a:buNone/>
            </a:pPr>
            <a:r>
              <a:rPr lang="en-US" sz="1600" dirty="0">
                <a:solidFill>
                  <a:schemeClr val="tx1"/>
                </a:solidFill>
              </a:rPr>
              <a:t>The weather (sea state) of each region is drawn</a:t>
            </a:r>
            <a:endParaRPr lang="en-US" sz="1600" dirty="0"/>
          </a:p>
        </p:txBody>
      </p:sp>
      <p:sp>
        <p:nvSpPr>
          <p:cNvPr id="6" name="st17"/>
          <p:cNvSpPr/>
          <p:nvPr/>
        </p:nvSpPr>
        <p:spPr>
          <a:xfrm>
            <a:off x="548640" y="1883664"/>
            <a:ext cx="457200" cy="457200"/>
          </a:xfrm>
          <a:prstGeom prst="ellipse">
            <a:avLst/>
          </a:prstGeom>
          <a:solidFill>
            <a:schemeClr val="accent1"/>
          </a:solidFill>
          <a:ln/>
        </p:spPr>
      </p:sp>
      <p:sp>
        <p:nvSpPr>
          <p:cNvPr id="7" name="t18"/>
          <p:cNvSpPr txBox="1"/>
          <p:nvPr/>
        </p:nvSpPr>
        <p:spPr>
          <a:xfrm>
            <a:off x="548640" y="188366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19"/>
          <p:cNvSpPr txBox="1"/>
          <p:nvPr/>
        </p:nvSpPr>
        <p:spPr>
          <a:xfrm>
            <a:off x="1143000" y="1883664"/>
            <a:ext cx="4754880" cy="457200"/>
          </a:xfrm>
          <a:prstGeom prst="rect">
            <a:avLst/>
          </a:prstGeom>
          <a:noFill/>
          <a:ln/>
        </p:spPr>
        <p:txBody>
          <a:bodyPr wrap="square" lIns="0" tIns="0" rIns="0" bIns="0" rtlCol="0" anchor="ctr"/>
          <a:lstStyle/>
          <a:p>
            <a:pPr indent="0" marL="0">
              <a:buNone/>
            </a:pPr>
            <a:r>
              <a:rPr lang="en-US" sz="1600" dirty="0">
                <a:solidFill>
                  <a:schemeClr val="tx1"/>
                </a:solidFill>
              </a:rPr>
              <a:t>Each side sees its own ships and detects some enemy ships</a:t>
            </a:r>
            <a:endParaRPr lang="en-US" sz="1600" dirty="0"/>
          </a:p>
        </p:txBody>
      </p:sp>
      <p:sp>
        <p:nvSpPr>
          <p:cNvPr id="9" name="st20"/>
          <p:cNvSpPr/>
          <p:nvPr/>
        </p:nvSpPr>
        <p:spPr>
          <a:xfrm>
            <a:off x="548640" y="2487168"/>
            <a:ext cx="457200" cy="457200"/>
          </a:xfrm>
          <a:prstGeom prst="ellipse">
            <a:avLst/>
          </a:prstGeom>
          <a:solidFill>
            <a:schemeClr val="accent1"/>
          </a:solidFill>
          <a:ln/>
        </p:spPr>
      </p:sp>
      <p:sp>
        <p:nvSpPr>
          <p:cNvPr id="10" name="t21"/>
          <p:cNvSpPr txBox="1"/>
          <p:nvPr/>
        </p:nvSpPr>
        <p:spPr>
          <a:xfrm>
            <a:off x="548640" y="248716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22"/>
          <p:cNvSpPr txBox="1"/>
          <p:nvPr/>
        </p:nvSpPr>
        <p:spPr>
          <a:xfrm>
            <a:off x="1143000" y="2487168"/>
            <a:ext cx="4754880" cy="457200"/>
          </a:xfrm>
          <a:prstGeom prst="rect">
            <a:avLst/>
          </a:prstGeom>
          <a:noFill/>
          <a:ln/>
        </p:spPr>
        <p:txBody>
          <a:bodyPr wrap="square" lIns="0" tIns="0" rIns="0" bIns="0" rtlCol="0" anchor="ctr"/>
          <a:lstStyle/>
          <a:p>
            <a:pPr indent="0" marL="0">
              <a:buNone/>
            </a:pPr>
            <a:r>
              <a:rPr lang="en-US" sz="1600" dirty="0">
                <a:solidFill>
                  <a:schemeClr val="tx1"/>
                </a:solidFill>
              </a:rPr>
              <a:t>Ships low on endurance head home</a:t>
            </a:r>
            <a:endParaRPr lang="en-US" sz="1600" dirty="0"/>
          </a:p>
        </p:txBody>
      </p:sp>
      <p:sp>
        <p:nvSpPr>
          <p:cNvPr id="12" name="st23"/>
          <p:cNvSpPr/>
          <p:nvPr/>
        </p:nvSpPr>
        <p:spPr>
          <a:xfrm>
            <a:off x="548640" y="3090672"/>
            <a:ext cx="457200" cy="457200"/>
          </a:xfrm>
          <a:prstGeom prst="ellipse">
            <a:avLst/>
          </a:prstGeom>
          <a:solidFill>
            <a:schemeClr val="accent1"/>
          </a:solidFill>
          <a:ln/>
        </p:spPr>
      </p:sp>
      <p:sp>
        <p:nvSpPr>
          <p:cNvPr id="13" name="t24"/>
          <p:cNvSpPr txBox="1"/>
          <p:nvPr/>
        </p:nvSpPr>
        <p:spPr>
          <a:xfrm>
            <a:off x="548640" y="30906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25"/>
          <p:cNvSpPr txBox="1"/>
          <p:nvPr/>
        </p:nvSpPr>
        <p:spPr>
          <a:xfrm>
            <a:off x="1143000" y="3090672"/>
            <a:ext cx="4754880" cy="457200"/>
          </a:xfrm>
          <a:prstGeom prst="rect">
            <a:avLst/>
          </a:prstGeom>
          <a:noFill/>
          <a:ln/>
        </p:spPr>
        <p:txBody>
          <a:bodyPr wrap="square" lIns="0" tIns="0" rIns="0" bIns="0" rtlCol="0" anchor="ctr"/>
          <a:lstStyle/>
          <a:p>
            <a:pPr indent="0" marL="0">
              <a:buNone/>
            </a:pPr>
            <a:r>
              <a:rPr lang="en-US" sz="1600" dirty="0">
                <a:solidFill>
                  <a:schemeClr val="tx1"/>
                </a:solidFill>
              </a:rPr>
              <a:t>Both sides choose moves and postures at the same time</a:t>
            </a:r>
            <a:endParaRPr lang="en-US" sz="1600" dirty="0"/>
          </a:p>
        </p:txBody>
      </p:sp>
      <p:sp>
        <p:nvSpPr>
          <p:cNvPr id="15" name="st26"/>
          <p:cNvSpPr/>
          <p:nvPr/>
        </p:nvSpPr>
        <p:spPr>
          <a:xfrm>
            <a:off x="548640" y="3694176"/>
            <a:ext cx="457200" cy="457200"/>
          </a:xfrm>
          <a:prstGeom prst="ellipse">
            <a:avLst/>
          </a:prstGeom>
          <a:solidFill>
            <a:schemeClr val="accent1"/>
          </a:solidFill>
          <a:ln/>
        </p:spPr>
      </p:sp>
      <p:sp>
        <p:nvSpPr>
          <p:cNvPr id="16" name="t27"/>
          <p:cNvSpPr txBox="1"/>
          <p:nvPr/>
        </p:nvSpPr>
        <p:spPr>
          <a:xfrm>
            <a:off x="548640" y="36941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28"/>
          <p:cNvSpPr txBox="1"/>
          <p:nvPr/>
        </p:nvSpPr>
        <p:spPr>
          <a:xfrm>
            <a:off x="1143000" y="3694176"/>
            <a:ext cx="4754880" cy="457200"/>
          </a:xfrm>
          <a:prstGeom prst="rect">
            <a:avLst/>
          </a:prstGeom>
          <a:noFill/>
          <a:ln/>
        </p:spPr>
        <p:txBody>
          <a:bodyPr wrap="square" lIns="0" tIns="0" rIns="0" bIns="0" rtlCol="0" anchor="ctr"/>
          <a:lstStyle/>
          <a:p>
            <a:pPr indent="0" marL="0">
              <a:buNone/>
            </a:pPr>
            <a:r>
              <a:rPr lang="en-US" sz="1600" dirty="0">
                <a:solidFill>
                  <a:schemeClr val="tx1"/>
                </a:solidFill>
              </a:rPr>
              <a:t>Moves happen within movement budgets</a:t>
            </a:r>
            <a:endParaRPr lang="en-US" sz="1600" dirty="0"/>
          </a:p>
        </p:txBody>
      </p:sp>
      <p:sp>
        <p:nvSpPr>
          <p:cNvPr id="18" name="st29"/>
          <p:cNvSpPr/>
          <p:nvPr/>
        </p:nvSpPr>
        <p:spPr>
          <a:xfrm>
            <a:off x="548640" y="4297680"/>
            <a:ext cx="457200" cy="457200"/>
          </a:xfrm>
          <a:prstGeom prst="ellipse">
            <a:avLst/>
          </a:prstGeom>
          <a:solidFill>
            <a:schemeClr val="accent2"/>
          </a:solidFill>
          <a:ln/>
        </p:spPr>
      </p:sp>
      <p:sp>
        <p:nvSpPr>
          <p:cNvPr id="19" name="t30"/>
          <p:cNvSpPr txBox="1"/>
          <p:nvPr/>
        </p:nvSpPr>
        <p:spPr>
          <a:xfrm>
            <a:off x="54864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31"/>
          <p:cNvSpPr txBox="1"/>
          <p:nvPr/>
        </p:nvSpPr>
        <p:spPr>
          <a:xfrm>
            <a:off x="1143000" y="4297680"/>
            <a:ext cx="4754880" cy="457200"/>
          </a:xfrm>
          <a:prstGeom prst="rect">
            <a:avLst/>
          </a:prstGeom>
          <a:noFill/>
          <a:ln/>
        </p:spPr>
        <p:txBody>
          <a:bodyPr wrap="square" lIns="0" tIns="0" rIns="0" bIns="0" rtlCol="0" anchor="ctr"/>
          <a:lstStyle/>
          <a:p>
            <a:pPr indent="0" marL="0">
              <a:buNone/>
            </a:pPr>
            <a:r>
              <a:rPr lang="en-US" sz="1600" dirty="0">
                <a:solidFill>
                  <a:schemeClr val="tx1"/>
                </a:solidFill>
              </a:rPr>
              <a:t>Control updates; incidents are drawn; escalation level moves</a:t>
            </a:r>
            <a:endParaRPr lang="en-US" sz="1600" dirty="0"/>
          </a:p>
        </p:txBody>
      </p:sp>
      <p:sp>
        <p:nvSpPr>
          <p:cNvPr id="21" name="st32"/>
          <p:cNvSpPr/>
          <p:nvPr/>
        </p:nvSpPr>
        <p:spPr>
          <a:xfrm>
            <a:off x="548640" y="4901184"/>
            <a:ext cx="457200" cy="457200"/>
          </a:xfrm>
          <a:prstGeom prst="ellipse">
            <a:avLst/>
          </a:prstGeom>
          <a:solidFill>
            <a:schemeClr val="accent1"/>
          </a:solidFill>
          <a:ln/>
        </p:spPr>
      </p:sp>
      <p:sp>
        <p:nvSpPr>
          <p:cNvPr id="22" name="t33"/>
          <p:cNvSpPr txBox="1"/>
          <p:nvPr/>
        </p:nvSpPr>
        <p:spPr>
          <a:xfrm>
            <a:off x="548640" y="490118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3" name="t34"/>
          <p:cNvSpPr txBox="1"/>
          <p:nvPr/>
        </p:nvSpPr>
        <p:spPr>
          <a:xfrm>
            <a:off x="1143000" y="4901184"/>
            <a:ext cx="4754880" cy="457200"/>
          </a:xfrm>
          <a:prstGeom prst="rect">
            <a:avLst/>
          </a:prstGeom>
          <a:noFill/>
          <a:ln/>
        </p:spPr>
        <p:txBody>
          <a:bodyPr wrap="square" lIns="0" tIns="0" rIns="0" bIns="0" rtlCol="0" anchor="ctr"/>
          <a:lstStyle/>
          <a:p>
            <a:pPr indent="0" marL="0">
              <a:buNone/>
            </a:pPr>
            <a:r>
              <a:rPr lang="en-US" sz="1600" dirty="0">
                <a:solidFill>
                  <a:schemeClr val="tx1"/>
                </a:solidFill>
              </a:rPr>
              <a:t>Payoffs are paid; stop at war or after 60 periods</a:t>
            </a:r>
            <a:endParaRPr lang="en-US" sz="1600" dirty="0"/>
          </a:p>
        </p:txBody>
      </p:sp>
      <p:sp>
        <p:nvSpPr>
          <p:cNvPr id="24" name="eqbox"/>
          <p:cNvSpPr/>
          <p:nvPr/>
        </p:nvSpPr>
        <p:spPr>
          <a:xfrm>
            <a:off x="6309360" y="1280160"/>
            <a:ext cx="5303520" cy="4160520"/>
          </a:xfrm>
          <a:prstGeom prst="roundRect">
            <a:avLst>
              <a:gd name="adj" fmla="val 1758"/>
            </a:avLst>
          </a:prstGeom>
          <a:solidFill>
            <a:schemeClr val="bg2"/>
          </a:solidFill>
          <a:ln w="12700">
            <a:solidFill>
              <a:schemeClr val="accent6"/>
            </a:solidFill>
            <a:prstDash val="solid"/>
          </a:ln>
        </p:spPr>
      </p:sp>
      <p:sp>
        <p:nvSpPr>
          <p:cNvPr id="25" name="t36"/>
          <p:cNvSpPr txBox="1"/>
          <p:nvPr/>
        </p:nvSpPr>
        <p:spPr>
          <a:xfrm>
            <a:off x="6537960" y="1417320"/>
            <a:ext cx="4846320" cy="3931920"/>
          </a:xfrm>
          <a:prstGeom prst="rect">
            <a:avLst/>
          </a:prstGeom>
          <a:noFill/>
          <a:ln/>
        </p:spPr>
        <p:txBody>
          <a:bodyPr wrap="square" lIns="0" tIns="0" rIns="0" bIns="0" rtlCol="0" anchor="t"/>
          <a:lstStyle/>
          <a:p>
            <a:pPr indent="0" marL="0">
              <a:buNone/>
            </a:pPr>
            <a:r>
              <a:rPr lang="en-US" sz="1400" b="1" dirty="0">
                <a:solidFill>
                  <a:schemeClr val="accent1"/>
                </a:solidFill>
              </a:rPr>
              <a:t>Control of zone v</a:t>
            </a:r>
            <a:endParaRPr lang="en-US" sz="1400" dirty="0"/>
          </a:p>
          <a:p>
            <a:pPr indent="0" marL="0">
              <a:buNone/>
            </a:pPr>
            <a:r>
              <a:rPr lang="en-US" sz="1400" dirty="0">
                <a:solidFill>
                  <a:schemeClr val="tx1"/>
                </a:solidFill>
                <a:latin typeface="Cambria" pitchFamily="34" charset="0"/>
                <a:ea typeface="Cambria" pitchFamily="34" charset="-122"/>
                <a:cs typeface="Cambria" pitchFamily="34" charset="-120"/>
              </a:rPr>
              <a:t>c ← (1 − λ)·c + λ·φ,  λ = 0.3,   φ = (S_B − S_R) / (S_B + S_R + κ)</a:t>
            </a:r>
            <a:endParaRPr lang="en-US" sz="1400" dirty="0"/>
          </a:p>
          <a:p>
            <a:pPr indent="0" marL="0">
              <a:buNone/>
            </a:pPr>
            <a:r>
              <a:rPr lang="en-US" sz="1300" dirty="0">
                <a:solidFill>
                  <a:schemeClr val="accent5"/>
                </a:solidFill>
              </a:rPr>
              <a:t>Presence builds control slowly; leaving lets it decay.</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2"/>
                </a:solidFill>
              </a:rPr>
              <a:t>Incident chance</a:t>
            </a:r>
            <a:endParaRPr lang="en-US" sz="1400" dirty="0"/>
          </a:p>
          <a:p>
            <a:pPr indent="0" marL="0">
              <a:buNone/>
            </a:pPr>
            <a:r>
              <a:rPr lang="en-US" sz="1400" dirty="0">
                <a:solidFill>
                  <a:schemeClr val="tx1"/>
                </a:solidFill>
                <a:latin typeface="Cambria" pitchFamily="34" charset="0"/>
                <a:ea typeface="Cambria" pitchFamily="34" charset="-122"/>
                <a:cs typeface="Cambria" pitchFamily="34" charset="-120"/>
              </a:rPr>
              <a:t>h = (h₀ + h_A·[asserts]) · min(S_B, S_R) · (1 + ℓ/2),  ρ = 1 − e^(−h)</a:t>
            </a:r>
            <a:endParaRPr lang="en-US" sz="1400" dirty="0"/>
          </a:p>
          <a:p>
            <a:pPr indent="0" marL="0">
              <a:buNone/>
            </a:pPr>
            <a:r>
              <a:rPr lang="en-US" sz="1300" dirty="0">
                <a:solidFill>
                  <a:schemeClr val="accent5"/>
                </a:solidFill>
              </a:rPr>
              <a:t>Needs both sides present; grows with assertion and with the escalation level ℓ.</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2"/>
                </a:solidFill>
              </a:rPr>
              <a:t>Payoff</a:t>
            </a:r>
            <a:endParaRPr lang="en-US" sz="1400" dirty="0"/>
          </a:p>
          <a:p>
            <a:pPr indent="0" marL="0">
              <a:buNone/>
            </a:pPr>
            <a:r>
              <a:rPr lang="en-US" sz="1400" dirty="0">
                <a:solidFill>
                  <a:schemeClr val="tx1"/>
                </a:solidFill>
                <a:latin typeface="Cambria" pitchFamily="34" charset="0"/>
                <a:ea typeface="Cambria" pitchFamily="34" charset="-122"/>
                <a:cs typeface="Cambria" pitchFamily="34" charset="-120"/>
              </a:rPr>
              <a:t>g = Σ V·c − γ·moves − η·ℓ − ζ_D,   minus W = 200 at war</a:t>
            </a:r>
            <a:endParaRPr lang="en-US" sz="1400" dirty="0"/>
          </a:p>
          <a:p>
            <a:pPr indent="0" marL="0">
              <a:buNone/>
            </a:pPr>
            <a:r>
              <a:rPr lang="en-US" sz="1300" dirty="0">
                <a:solidFill>
                  <a:schemeClr val="accent5"/>
                </a:solidFill>
              </a:rPr>
              <a:t>Value of control minus fuel, tension and Blue's redesign cost ζ_D. War hurts both sides, so the game is not zero-sum.</a:t>
            </a:r>
            <a:endParaRPr lang="en-US" sz="1400" dirty="0"/>
          </a:p>
        </p:txBody>
      </p:sp>
      <p:sp>
        <p:nvSpPr>
          <p:cNvPr id="26" name="tk37"/>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27" name="t3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Every rule is explicit, so the same game can be played thousands of times by different strategies.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How the players decide</a:t>
            </a:r>
            <a:endParaRPr lang="en-US" sz="2800" dirty="0"/>
          </a:p>
        </p:txBody>
      </p:sp>
      <p:sp>
        <p:nvSpPr>
          <p:cNvPr id="3" name="cd39"/>
          <p:cNvSpPr/>
          <p:nvPr/>
        </p:nvSpPr>
        <p:spPr>
          <a:xfrm>
            <a:off x="548640" y="1280160"/>
            <a:ext cx="3566160" cy="4206240"/>
          </a:xfrm>
          <a:prstGeom prst="rect">
            <a:avLst/>
          </a:prstGeom>
          <a:solidFill>
            <a:schemeClr val="bg2"/>
          </a:solidFill>
          <a:ln w="19050">
            <a:solidFill>
              <a:schemeClr val="accent1"/>
            </a:solidFill>
            <a:prstDash val="solid"/>
          </a:ln>
        </p:spPr>
      </p:sp>
      <p:sp>
        <p:nvSpPr>
          <p:cNvPr id="4" name="cdh40"/>
          <p:cNvSpPr/>
          <p:nvPr/>
        </p:nvSpPr>
        <p:spPr>
          <a:xfrm>
            <a:off x="548640" y="1280160"/>
            <a:ext cx="3566160" cy="548640"/>
          </a:xfrm>
          <a:prstGeom prst="rect">
            <a:avLst/>
          </a:prstGeom>
          <a:solidFill>
            <a:schemeClr val="accent1"/>
          </a:solidFill>
          <a:ln w="19050">
            <a:solidFill>
              <a:schemeClr val="accent1"/>
            </a:solidFill>
            <a:prstDash val="solid"/>
          </a:ln>
        </p:spPr>
      </p:sp>
      <p:sp>
        <p:nvSpPr>
          <p:cNvPr id="5" name="t41"/>
          <p:cNvSpPr txBox="1"/>
          <p:nvPr/>
        </p:nvSpPr>
        <p:spPr>
          <a:xfrm>
            <a:off x="731520" y="1280160"/>
            <a:ext cx="3200400" cy="548640"/>
          </a:xfrm>
          <a:prstGeom prst="rect">
            <a:avLst/>
          </a:prstGeom>
          <a:noFill/>
          <a:ln/>
        </p:spPr>
        <p:txBody>
          <a:bodyPr wrap="square" lIns="0" tIns="0" rIns="0" bIns="0" rtlCol="0" anchor="ctr"/>
          <a:lstStyle/>
          <a:p>
            <a:pPr indent="0" marL="0">
              <a:buNone/>
            </a:pPr>
            <a:r>
              <a:rPr lang="en-US" sz="1800" b="1" dirty="0">
                <a:solidFill>
                  <a:schemeClr val="bg1"/>
                </a:solidFill>
              </a:rPr>
              <a:t>Best response as a MIP</a:t>
            </a:r>
            <a:endParaRPr lang="en-US" sz="1800" dirty="0"/>
          </a:p>
        </p:txBody>
      </p:sp>
      <p:sp>
        <p:nvSpPr>
          <p:cNvPr id="6" name="t42"/>
          <p:cNvSpPr txBox="1"/>
          <p:nvPr/>
        </p:nvSpPr>
        <p:spPr>
          <a:xfrm>
            <a:off x="731520" y="1965960"/>
            <a:ext cx="3200400" cy="2468880"/>
          </a:xfrm>
          <a:prstGeom prst="rect">
            <a:avLst/>
          </a:prstGeom>
          <a:noFill/>
          <a:ln/>
        </p:spPr>
        <p:txBody>
          <a:bodyPr wrap="square" lIns="0" tIns="0" rIns="0" bIns="0" rtlCol="0" anchor="t"/>
          <a:lstStyle/>
          <a:p>
            <a:pPr indent="0" marL="0">
              <a:buNone/>
            </a:pPr>
            <a:r>
              <a:rPr lang="en-US" sz="1500" dirty="0">
                <a:solidFill>
                  <a:schemeClr val="tx1"/>
                </a:solidFill>
              </a:rPr>
              <a:t>Each period, choose moves and postures to maximize value of control minus costs, subject to the movement budget, endurance, and an escalation-risk budget:</a:t>
            </a:r>
            <a:endParaRPr lang="en-US" sz="1500" dirty="0"/>
          </a:p>
          <a:p>
            <a:pPr indent="0" marL="0">
              <a:buNone/>
            </a:pPr>
            <a:endParaRPr lang="en-US" sz="1500" dirty="0"/>
          </a:p>
          <a:p>
            <a:pPr indent="0" marL="0">
              <a:buNone/>
            </a:pPr>
            <a:r>
              <a:rPr lang="en-US" sz="1500" dirty="0">
                <a:solidFill>
                  <a:schemeClr val="tx1"/>
                </a:solidFill>
              </a:rPr>
              <a:t>expected incidents ≤ ε</a:t>
            </a:r>
            <a:endParaRPr lang="en-US" sz="1500" dirty="0"/>
          </a:p>
        </p:txBody>
      </p:sp>
      <p:sp>
        <p:nvSpPr>
          <p:cNvPr id="7" name="t43"/>
          <p:cNvSpPr txBox="1"/>
          <p:nvPr/>
        </p:nvSpPr>
        <p:spPr>
          <a:xfrm>
            <a:off x="731520" y="4526280"/>
            <a:ext cx="3200400" cy="822960"/>
          </a:xfrm>
          <a:prstGeom prst="rect">
            <a:avLst/>
          </a:prstGeom>
          <a:noFill/>
          <a:ln/>
        </p:spPr>
        <p:txBody>
          <a:bodyPr wrap="square" lIns="0" tIns="0" rIns="0" bIns="0" rtlCol="0" anchor="t"/>
          <a:lstStyle/>
          <a:p>
            <a:pPr indent="0" marL="0">
              <a:buNone/>
            </a:pPr>
            <a:r>
              <a:rPr lang="en-US" sz="1300" i="1" dirty="0">
                <a:solidFill>
                  <a:schemeClr val="accent5"/>
                </a:solidFill>
              </a:rPr>
              <a:t>Conservative / moderate / aggressive = ε of 0.05 / 0.15 / 0.40</a:t>
            </a:r>
            <a:endParaRPr lang="en-US" sz="1300" dirty="0"/>
          </a:p>
        </p:txBody>
      </p:sp>
      <p:sp>
        <p:nvSpPr>
          <p:cNvPr id="8" name="cd44"/>
          <p:cNvSpPr/>
          <p:nvPr/>
        </p:nvSpPr>
        <p:spPr>
          <a:xfrm>
            <a:off x="4297680" y="1280160"/>
            <a:ext cx="3566160" cy="4206240"/>
          </a:xfrm>
          <a:prstGeom prst="rect">
            <a:avLst/>
          </a:prstGeom>
          <a:solidFill>
            <a:schemeClr val="bg2"/>
          </a:solidFill>
          <a:ln w="19050">
            <a:solidFill>
              <a:schemeClr val="accent4"/>
            </a:solidFill>
            <a:prstDash val="solid"/>
          </a:ln>
        </p:spPr>
      </p:sp>
      <p:sp>
        <p:nvSpPr>
          <p:cNvPr id="9" name="cdh45"/>
          <p:cNvSpPr/>
          <p:nvPr/>
        </p:nvSpPr>
        <p:spPr>
          <a:xfrm>
            <a:off x="4297680" y="1280160"/>
            <a:ext cx="3566160" cy="548640"/>
          </a:xfrm>
          <a:prstGeom prst="rect">
            <a:avLst/>
          </a:prstGeom>
          <a:solidFill>
            <a:schemeClr val="accent4"/>
          </a:solidFill>
          <a:ln w="19050">
            <a:solidFill>
              <a:schemeClr val="accent4"/>
            </a:solidFill>
            <a:prstDash val="solid"/>
          </a:ln>
        </p:spPr>
      </p:sp>
      <p:sp>
        <p:nvSpPr>
          <p:cNvPr id="10" name="t46"/>
          <p:cNvSpPr txBox="1"/>
          <p:nvPr/>
        </p:nvSpPr>
        <p:spPr>
          <a:xfrm>
            <a:off x="4480560" y="1280160"/>
            <a:ext cx="3200400" cy="548640"/>
          </a:xfrm>
          <a:prstGeom prst="rect">
            <a:avLst/>
          </a:prstGeom>
          <a:noFill/>
          <a:ln/>
        </p:spPr>
        <p:txBody>
          <a:bodyPr wrap="square" lIns="0" tIns="0" rIns="0" bIns="0" rtlCol="0" anchor="ctr"/>
          <a:lstStyle/>
          <a:p>
            <a:pPr indent="0" marL="0">
              <a:buNone/>
            </a:pPr>
            <a:r>
              <a:rPr lang="en-US" sz="1800" b="1" dirty="0">
                <a:solidFill>
                  <a:schemeClr val="bg1"/>
                </a:solidFill>
              </a:rPr>
              <a:t>Template game</a:t>
            </a:r>
            <a:endParaRPr lang="en-US" sz="1800" dirty="0"/>
          </a:p>
        </p:txBody>
      </p:sp>
      <p:sp>
        <p:nvSpPr>
          <p:cNvPr id="11" name="t47"/>
          <p:cNvSpPr txBox="1"/>
          <p:nvPr/>
        </p:nvSpPr>
        <p:spPr>
          <a:xfrm>
            <a:off x="4480560" y="1965960"/>
            <a:ext cx="3200400" cy="2468880"/>
          </a:xfrm>
          <a:prstGeom prst="rect">
            <a:avLst/>
          </a:prstGeom>
          <a:noFill/>
          <a:ln/>
        </p:spPr>
        <p:txBody>
          <a:bodyPr wrap="square" lIns="0" tIns="0" rIns="0" bIns="0" rtlCol="0" anchor="t"/>
          <a:lstStyle/>
          <a:p>
            <a:pPr indent="0" marL="0">
              <a:buNone/>
            </a:pPr>
            <a:r>
              <a:rPr lang="en-US" sz="1500" dirty="0">
                <a:solidFill>
                  <a:schemeClr val="tx1"/>
                </a:solidFill>
              </a:rPr>
              <a:t>Abstract each side to 14 templates: how to split ships North / Center / South, and patrol or assert.</a:t>
            </a:r>
            <a:endParaRPr lang="en-US" sz="1500" dirty="0"/>
          </a:p>
          <a:p>
            <a:pPr indent="0" marL="0">
              <a:buNone/>
            </a:pPr>
            <a:endParaRPr lang="en-US" sz="1500" dirty="0"/>
          </a:p>
          <a:p>
            <a:pPr indent="0" marL="0">
              <a:buNone/>
            </a:pPr>
            <a:r>
              <a:rPr lang="en-US" sz="1500" dirty="0">
                <a:solidFill>
                  <a:schemeClr val="tx1"/>
                </a:solidFill>
              </a:rPr>
              <a:t>A 14×14 strategic-form game</a:t>
            </a:r>
            <a:endParaRPr lang="en-US" sz="1500" dirty="0"/>
          </a:p>
        </p:txBody>
      </p:sp>
      <p:sp>
        <p:nvSpPr>
          <p:cNvPr id="12" name="t48"/>
          <p:cNvSpPr txBox="1"/>
          <p:nvPr/>
        </p:nvSpPr>
        <p:spPr>
          <a:xfrm>
            <a:off x="4480560" y="4526280"/>
            <a:ext cx="3200400" cy="822960"/>
          </a:xfrm>
          <a:prstGeom prst="rect">
            <a:avLst/>
          </a:prstGeom>
          <a:noFill/>
          <a:ln/>
        </p:spPr>
        <p:txBody>
          <a:bodyPr wrap="square" lIns="0" tIns="0" rIns="0" bIns="0" rtlCol="0" anchor="t"/>
          <a:lstStyle/>
          <a:p>
            <a:pPr indent="0" marL="0">
              <a:buNone/>
            </a:pPr>
            <a:r>
              <a:rPr lang="en-US" sz="1300" i="1" dirty="0">
                <a:solidFill>
                  <a:schemeClr val="accent5"/>
                </a:solidFill>
              </a:rPr>
              <a:t>Solved with dominance, Nash equilibrium, maximin LP, correlated-equilibrium LP</a:t>
            </a:r>
            <a:endParaRPr lang="en-US" sz="1300" dirty="0"/>
          </a:p>
        </p:txBody>
      </p:sp>
      <p:sp>
        <p:nvSpPr>
          <p:cNvPr id="13" name="cd49"/>
          <p:cNvSpPr/>
          <p:nvPr/>
        </p:nvSpPr>
        <p:spPr>
          <a:xfrm>
            <a:off x="8046720" y="1280160"/>
            <a:ext cx="3566160" cy="4206240"/>
          </a:xfrm>
          <a:prstGeom prst="rect">
            <a:avLst/>
          </a:prstGeom>
          <a:solidFill>
            <a:schemeClr val="bg2"/>
          </a:solidFill>
          <a:ln w="19050">
            <a:solidFill>
              <a:schemeClr val="accent2"/>
            </a:solidFill>
            <a:prstDash val="solid"/>
          </a:ln>
        </p:spPr>
      </p:sp>
      <p:sp>
        <p:nvSpPr>
          <p:cNvPr id="14" name="cdh50"/>
          <p:cNvSpPr/>
          <p:nvPr/>
        </p:nvSpPr>
        <p:spPr>
          <a:xfrm>
            <a:off x="8046720" y="1280160"/>
            <a:ext cx="3566160" cy="548640"/>
          </a:xfrm>
          <a:prstGeom prst="rect">
            <a:avLst/>
          </a:prstGeom>
          <a:solidFill>
            <a:schemeClr val="accent2"/>
          </a:solidFill>
          <a:ln w="19050">
            <a:solidFill>
              <a:schemeClr val="accent2"/>
            </a:solidFill>
            <a:prstDash val="solid"/>
          </a:ln>
        </p:spPr>
      </p:sp>
      <p:sp>
        <p:nvSpPr>
          <p:cNvPr id="15" name="t51"/>
          <p:cNvSpPr txBox="1"/>
          <p:nvPr/>
        </p:nvSpPr>
        <p:spPr>
          <a:xfrm>
            <a:off x="8229600" y="1280160"/>
            <a:ext cx="3200400" cy="548640"/>
          </a:xfrm>
          <a:prstGeom prst="rect">
            <a:avLst/>
          </a:prstGeom>
          <a:noFill/>
          <a:ln/>
        </p:spPr>
        <p:txBody>
          <a:bodyPr wrap="square" lIns="0" tIns="0" rIns="0" bIns="0" rtlCol="0" anchor="ctr"/>
          <a:lstStyle/>
          <a:p>
            <a:pPr indent="0" marL="0">
              <a:buNone/>
            </a:pPr>
            <a:r>
              <a:rPr lang="en-US" sz="1800" b="1" dirty="0">
                <a:solidFill>
                  <a:schemeClr val="bg1"/>
                </a:solidFill>
              </a:rPr>
              <a:t>Policies we compare</a:t>
            </a:r>
            <a:endParaRPr lang="en-US" sz="1800" dirty="0"/>
          </a:p>
        </p:txBody>
      </p:sp>
      <p:sp>
        <p:nvSpPr>
          <p:cNvPr id="16" name="t52"/>
          <p:cNvSpPr txBox="1"/>
          <p:nvPr/>
        </p:nvSpPr>
        <p:spPr>
          <a:xfrm>
            <a:off x="8229600" y="1965960"/>
            <a:ext cx="3200400" cy="2468880"/>
          </a:xfrm>
          <a:prstGeom prst="rect">
            <a:avLst/>
          </a:prstGeom>
          <a:noFill/>
          <a:ln/>
        </p:spPr>
        <p:txBody>
          <a:bodyPr wrap="square" lIns="0" tIns="0" rIns="0" bIns="0" rtlCol="0" anchor="t"/>
          <a:lstStyle/>
          <a:p>
            <a:pPr indent="0" marL="0">
              <a:buNone/>
            </a:pPr>
            <a:r>
              <a:rPr lang="en-US" sz="1500" dirty="0">
                <a:solidFill>
                  <a:schemeClr val="tx1"/>
                </a:solidFill>
              </a:rPr>
              <a:t>Random moves  |  Rule of thumb</a:t>
            </a:r>
            <a:endParaRPr lang="en-US" sz="1500" dirty="0"/>
          </a:p>
          <a:p>
            <a:pPr indent="0" marL="0">
              <a:buNone/>
            </a:pPr>
            <a:r>
              <a:rPr lang="en-US" sz="1500" dirty="0">
                <a:solidFill>
                  <a:schemeClr val="tx1"/>
                </a:solidFill>
              </a:rPr>
              <a:t>Quick best response (greedy)</a:t>
            </a:r>
            <a:endParaRPr lang="en-US" sz="1500" dirty="0"/>
          </a:p>
          <a:p>
            <a:pPr indent="0" marL="0">
              <a:buNone/>
            </a:pPr>
            <a:r>
              <a:rPr lang="en-US" sz="1500" dirty="0">
                <a:solidFill>
                  <a:schemeClr val="tx1"/>
                </a:solidFill>
              </a:rPr>
              <a:t>Best response (MIP)</a:t>
            </a:r>
            <a:endParaRPr lang="en-US" sz="1500" dirty="0"/>
          </a:p>
          <a:p>
            <a:pPr indent="0" marL="0">
              <a:buNone/>
            </a:pPr>
            <a:r>
              <a:rPr lang="en-US" sz="1500" dirty="0">
                <a:solidFill>
                  <a:schemeClr val="tx1"/>
                </a:solidFill>
              </a:rPr>
              <a:t>Nash equilibrium plan</a:t>
            </a:r>
            <a:endParaRPr lang="en-US" sz="1500" dirty="0"/>
          </a:p>
          <a:p>
            <a:pPr indent="0" marL="0">
              <a:buNone/>
            </a:pPr>
            <a:r>
              <a:rPr lang="en-US" sz="1500" dirty="0">
                <a:solidFill>
                  <a:schemeClr val="tx1"/>
                </a:solidFill>
              </a:rPr>
              <a:t>Safety-first plan (maximin)</a:t>
            </a:r>
            <a:endParaRPr lang="en-US" sz="1500" dirty="0"/>
          </a:p>
        </p:txBody>
      </p:sp>
      <p:sp>
        <p:nvSpPr>
          <p:cNvPr id="17" name="t53"/>
          <p:cNvSpPr txBox="1"/>
          <p:nvPr/>
        </p:nvSpPr>
        <p:spPr>
          <a:xfrm>
            <a:off x="8229600" y="4526280"/>
            <a:ext cx="3200400" cy="822960"/>
          </a:xfrm>
          <a:prstGeom prst="rect">
            <a:avLst/>
          </a:prstGeom>
          <a:noFill/>
          <a:ln/>
        </p:spPr>
        <p:txBody>
          <a:bodyPr wrap="square" lIns="0" tIns="0" rIns="0" bIns="0" rtlCol="0" anchor="t"/>
          <a:lstStyle/>
          <a:p>
            <a:pPr indent="0" marL="0">
              <a:buNone/>
            </a:pPr>
            <a:r>
              <a:rPr lang="en-US" sz="1300" i="1" dirty="0">
                <a:solidFill>
                  <a:schemeClr val="accent5"/>
                </a:solidFill>
              </a:rPr>
              <a:t>Same random draws and weather for every policy</a:t>
            </a:r>
            <a:endParaRPr lang="en-US" sz="1300" dirty="0"/>
          </a:p>
        </p:txBody>
      </p:sp>
      <p:sp>
        <p:nvSpPr>
          <p:cNvPr id="18" name="tk54"/>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19" name="t55"/>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The proposal's strategy types are now one number, ε, inside an optimization the course covered (Lecture 2).</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Small example: when does it pay to assert?</a:t>
            </a:r>
            <a:endParaRPr lang="en-US" sz="2800" dirty="0"/>
          </a:p>
        </p:txBody>
      </p:sp>
      <p:graphicFrame>
        <p:nvGraphicFramePr>
          <p:cNvPr id="7" name="chicken"/>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1645920"/>
                <a:gridCol w="1920240"/>
                <a:gridCol w="1920240"/>
              </a:tblGrid>
              <a:tr h="685800">
                <a:tc>
                  <a:txBody>
                    <a:bodyPr/>
                    <a:lstStyle/>
                    <a:p>
                      <a:pPr algn="ctr" indent="0" marL="0">
                        <a:buNone/>
                      </a:pPr>
                      <a:r>
                        <a:rPr lang="en-US" sz="1800" b="1" dirty="0">
                          <a:solidFill>
                            <a:schemeClr val="bg1"/>
                          </a:solidFill>
                        </a:rPr>
                        <a:t>Blue \ Red</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algn="ctr" indent="0" marL="0">
                        <a:buNone/>
                      </a:pPr>
                      <a:r>
                        <a:rPr lang="en-US" sz="1800" b="1" dirty="0">
                          <a:solidFill>
                            <a:schemeClr val="bg1"/>
                          </a:solidFill>
                        </a:rPr>
                        <a:t>Red patrols</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c>
                  <a:txBody>
                    <a:bodyPr/>
                    <a:lstStyle/>
                    <a:p>
                      <a:pPr algn="ctr" indent="0" marL="0">
                        <a:buNone/>
                      </a:pPr>
                      <a:r>
                        <a:rPr lang="en-US" sz="1800" b="1" dirty="0">
                          <a:solidFill>
                            <a:schemeClr val="bg1"/>
                          </a:solidFill>
                        </a:rPr>
                        <a:t>Red asserts</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solidFill>
                      <a:schemeClr val="tx2"/>
                    </a:solidFill>
                  </a:tcPr>
                </a:tc>
              </a:tr>
              <a:tr h="685800">
                <a:tc>
                  <a:txBody>
                    <a:bodyPr/>
                    <a:lstStyle/>
                    <a:p>
                      <a:pPr indent="0" marL="0">
                        <a:buNone/>
                      </a:pPr>
                      <a:r>
                        <a:rPr lang="en-US" sz="1800" b="1" dirty="0">
                          <a:solidFill>
                            <a:srgbClr val="000000"/>
                          </a:solidFill>
                        </a:rPr>
                        <a:t>Blue patrols</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algn="ctr" indent="0" marL="0">
                        <a:buNone/>
                      </a:pPr>
                      <a:r>
                        <a:rPr lang="en-US" sz="1800" dirty="0">
                          <a:solidFill>
                            <a:srgbClr val="000000"/>
                          </a:solidFill>
                        </a:rPr>
                        <a:t>0 , 0</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algn="ctr" indent="0" marL="0">
                        <a:buNone/>
                      </a:pPr>
                      <a:r>
                        <a:rPr lang="en-US" sz="1800" dirty="0">
                          <a:solidFill>
                            <a:srgbClr val="000000"/>
                          </a:solidFill>
                        </a:rPr>
                        <a:t>−9.6 , +1.2</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r h="685800">
                <a:tc>
                  <a:txBody>
                    <a:bodyPr/>
                    <a:lstStyle/>
                    <a:p>
                      <a:pPr indent="0" marL="0">
                        <a:buNone/>
                      </a:pPr>
                      <a:r>
                        <a:rPr lang="en-US" sz="1800" b="1" dirty="0">
                          <a:solidFill>
                            <a:srgbClr val="000000"/>
                          </a:solidFill>
                        </a:rPr>
                        <a:t>Blue asserts</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algn="ctr" indent="0" marL="0">
                        <a:buNone/>
                      </a:pPr>
                      <a:r>
                        <a:rPr lang="en-US" sz="1800" dirty="0">
                          <a:solidFill>
                            <a:srgbClr val="000000"/>
                          </a:solidFill>
                        </a:rPr>
                        <a:t>+0.3 , −10.5</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c>
                  <a:txBody>
                    <a:bodyPr/>
                    <a:lstStyle/>
                    <a:p>
                      <a:pPr algn="ctr" indent="0" marL="0">
                        <a:buNone/>
                      </a:pPr>
                      <a:r>
                        <a:rPr lang="en-US" sz="1800" b="1" dirty="0">
                          <a:solidFill>
                            <a:schemeClr val="accent2"/>
                          </a:solidFill>
                        </a:rPr>
                        <a:t>−11.4 , −11.3</a:t>
                      </a:r>
                      <a:endParaRPr lang="en-US" sz="1800" dirty="0"/>
                    </a:p>
                  </a:txBody>
                  <a:tcPr marL="91440" marR="91440" marT="45720" marB="45720" anchor="ctr">
                    <a:lnL w="9525" cap="flat" cmpd="sng" algn="ctr">
                      <a:solidFill>
                        <a:srgbClr val="8DA9C4"/>
                      </a:solidFill>
                      <a:prstDash val="solid"/>
                      <a:round/>
                      <a:headEnd type="none" w="med" len="med"/>
                      <a:tailEnd type="none" w="med" len="med"/>
                    </a:lnL>
                    <a:lnR w="9525" cap="flat" cmpd="sng" algn="ctr">
                      <a:solidFill>
                        <a:srgbClr val="8DA9C4"/>
                      </a:solidFill>
                      <a:prstDash val="solid"/>
                      <a:round/>
                      <a:headEnd type="none" w="med" len="med"/>
                      <a:tailEnd type="none" w="med" len="med"/>
                    </a:lnR>
                    <a:lnT w="9525" cap="flat" cmpd="sng" algn="ctr">
                      <a:solidFill>
                        <a:srgbClr val="8DA9C4"/>
                      </a:solidFill>
                      <a:prstDash val="solid"/>
                      <a:round/>
                      <a:headEnd type="none" w="med" len="med"/>
                      <a:tailEnd type="none" w="med" len="med"/>
                    </a:lnT>
                    <a:lnB w="9525" cap="flat" cmpd="sng" algn="ctr">
                      <a:solidFill>
                        <a:srgbClr val="8DA9C4"/>
                      </a:solidFill>
                      <a:prstDash val="solid"/>
                      <a:round/>
                      <a:headEnd type="none" w="med" len="med"/>
                      <a:tailEnd type="none" w="med" len="med"/>
                    </a:lnB>
                  </a:tcPr>
                </a:tc>
              </a:tr>
            </a:tbl>
          </a:graphicData>
        </a:graphic>
      </p:graphicFrame>
      <p:sp>
        <p:nvSpPr>
          <p:cNvPr id="4" name="t57"/>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200" i="1" dirty="0">
                <a:solidFill>
                  <a:schemeClr val="accent5"/>
                </a:solidFill>
              </a:rPr>
              <a:t>Payoffs (Blue, Red) with force splits fixed, relative to both patrolling</a:t>
            </a:r>
            <a:endParaRPr lang="en-US" sz="1200" dirty="0"/>
          </a:p>
        </p:txBody>
      </p:sp>
      <p:sp>
        <p:nvSpPr>
          <p:cNvPr id="5" name="t58"/>
          <p:cNvSpPr txBox="1"/>
          <p:nvPr/>
        </p:nvSpPr>
        <p:spPr>
          <a:xfrm>
            <a:off x="6400800" y="1371600"/>
            <a:ext cx="5212080" cy="41148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Best reply: </a:t>
            </a:r>
            <a:pPr indent="0" marL="0">
              <a:buNone/>
            </a:pPr>
            <a:r>
              <a:rPr lang="en-US" sz="1700" dirty="0">
                <a:solidFill>
                  <a:schemeClr val="tx1"/>
                </a:solidFill>
              </a:rPr>
              <a:t>assert if the other patrols, patrol if the other asserts. Two pure equilibria, plus a mixed one with mutual assertion 8% of the time.</a:t>
            </a:r>
            <a:endParaRPr lang="en-US" sz="1700" dirty="0"/>
          </a:p>
          <a:p>
            <a:pPr marL="342900" indent="-342900">
              <a:spcAft>
                <a:spcPts val="600"/>
              </a:spcAft>
              <a:buSzPct val="100000"/>
              <a:buChar char="•"/>
            </a:pPr>
            <a:r>
              <a:rPr lang="en-US" sz="1700" b="1" dirty="0">
                <a:solidFill>
                  <a:schemeClr val="tx1"/>
                </a:solidFill>
              </a:rPr>
              <a:t>A mediator helps: </a:t>
            </a:r>
            <a:pPr indent="0" marL="0">
              <a:buNone/>
            </a:pPr>
            <a:r>
              <a:rPr lang="en-US" sz="1700" dirty="0">
                <a:solidFill>
                  <a:schemeClr val="tx1"/>
                </a:solidFill>
              </a:rPr>
              <a:t>the best correlated equilibrium never recommends (assert, assert). A hotline can play that role.</a:t>
            </a:r>
            <a:endParaRPr lang="en-US" sz="1700" dirty="0"/>
          </a:p>
          <a:p>
            <a:pPr marL="342900" indent="-342900">
              <a:spcAft>
                <a:spcPts val="600"/>
              </a:spcAft>
              <a:buSzPct val="100000"/>
              <a:buChar char="•"/>
            </a:pPr>
            <a:r>
              <a:rPr lang="en-US" sz="1700" b="1" dirty="0">
                <a:solidFill>
                  <a:schemeClr val="tx1"/>
                </a:solidFill>
              </a:rPr>
              <a:t>Repetition helps: </a:t>
            </a:r>
            <a:pPr indent="0" marL="0">
              <a:buNone/>
            </a:pPr>
            <a:r>
              <a:rPr lang="en-US" sz="1700" dirty="0">
                <a:solidFill>
                  <a:schemeClr val="tx1"/>
                </a:solidFill>
              </a:rPr>
              <a:t>with grim trigger, mutual patrolling is a subgame perfect equilibrium for any discount factor above 0.18. Ours is 0.98.</a:t>
            </a:r>
            <a:endParaRPr lang="en-US" sz="1700" dirty="0"/>
          </a:p>
        </p:txBody>
      </p:sp>
      <p:sp>
        <p:nvSpPr>
          <p:cNvPr id="6" name="tk59"/>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7" name="t6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Restraint is not stable in a one-shot encounter, but it can be sustained by repeated play or a coordination device.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The prototype: watch a game play out</a:t>
            </a:r>
            <a:endParaRPr lang="en-US" sz="2800" dirty="0"/>
          </a:p>
        </p:txBody>
      </p:sp>
      <p:pic>
        <p:nvPicPr>
          <p:cNvPr id="3" name="img61" descr="/home/claude/6.S974-Wargaming-Term-Project/slides/../prototype/results/figures/gui_screenshot.png">    </p:cNvPr>
          <p:cNvPicPr>
            <a:picLocks noChangeAspect="1"/>
          </p:cNvPicPr>
          <p:nvPr/>
        </p:nvPicPr>
        <p:blipFill>
          <a:blip r:embed="rId1"/>
          <a:stretch>
            <a:fillRect/>
          </a:stretch>
        </p:blipFill>
        <p:spPr>
          <a:xfrm>
            <a:off x="548640" y="1325880"/>
            <a:ext cx="6583680" cy="4178808"/>
          </a:xfrm>
          <a:prstGeom prst="rect">
            <a:avLst/>
          </a:prstGeom>
        </p:spPr>
      </p:pic>
      <p:sp>
        <p:nvSpPr>
          <p:cNvPr id="4" name="t62"/>
          <p:cNvSpPr txBox="1"/>
          <p:nvPr/>
        </p:nvSpPr>
        <p:spPr>
          <a:xfrm>
            <a:off x="7406640" y="1325880"/>
            <a:ext cx="4206240" cy="4297680"/>
          </a:xfrm>
          <a:prstGeom prst="rect">
            <a:avLst/>
          </a:prstGeom>
          <a:noFill/>
          <a:ln/>
        </p:spPr>
        <p:txBody>
          <a:bodyPr wrap="square" lIns="0" tIns="0" rIns="0" bIns="0" rtlCol="0" anchor="t"/>
          <a:lstStyle/>
          <a:p>
            <a:pPr marL="342900" indent="-342900">
              <a:spcAft>
                <a:spcPts val="600"/>
              </a:spcAft>
              <a:buSzPct val="100000"/>
              <a:buChar char="•"/>
            </a:pPr>
            <a:r>
              <a:rPr lang="en-US" sz="1600" b="1" dirty="0">
                <a:solidFill>
                  <a:schemeClr val="tx1"/>
                </a:solidFill>
              </a:rPr>
              <a:t>Pick </a:t>
            </a:r>
            <a:pPr indent="0" marL="0">
              <a:buNone/>
            </a:pPr>
            <a:r>
              <a:rPr lang="en-US" sz="1600" dirty="0">
                <a:solidFill>
                  <a:schemeClr val="tx1"/>
                </a:solidFill>
              </a:rPr>
              <a:t>a plan for each side, a design and the weather on the right; press New game, then Step or Play. Help explains the map.</a:t>
            </a:r>
            <a:endParaRPr lang="en-US" sz="1600" dirty="0"/>
          </a:p>
          <a:p>
            <a:pPr marL="342900" indent="-342900">
              <a:spcAft>
                <a:spcPts val="600"/>
              </a:spcAft>
              <a:buSzPct val="100000"/>
              <a:buChar char="•"/>
            </a:pPr>
            <a:r>
              <a:rPr lang="en-US" sz="1600" b="1" dirty="0">
                <a:solidFill>
                  <a:schemeClr val="tx1"/>
                </a:solidFill>
              </a:rPr>
              <a:t>Zone color </a:t>
            </a:r>
            <a:pPr indent="0" marL="0">
              <a:buNone/>
            </a:pPr>
            <a:r>
              <a:rPr lang="en-US" sz="1600" dirty="0">
                <a:solidFill>
                  <a:schemeClr val="tx1"/>
                </a:solidFill>
              </a:rPr>
              <a:t>shows control: blue = Blue, red = Red.</a:t>
            </a:r>
            <a:endParaRPr lang="en-US" sz="1600" dirty="0"/>
          </a:p>
          <a:p>
            <a:pPr marL="342900" indent="-342900">
              <a:spcAft>
                <a:spcPts val="600"/>
              </a:spcAft>
              <a:buSzPct val="100000"/>
              <a:buChar char="•"/>
            </a:pPr>
            <a:r>
              <a:rPr lang="en-US" sz="1600" b="1" dirty="0">
                <a:solidFill>
                  <a:schemeClr val="tx1"/>
                </a:solidFill>
              </a:rPr>
              <a:t>B / P / C </a:t>
            </a:r>
            <a:pPr indent="0" marL="0">
              <a:buNone/>
            </a:pPr>
            <a:r>
              <a:rPr lang="en-US" sz="1600" dirty="0">
                <a:solidFill>
                  <a:schemeClr val="tx1"/>
                </a:solidFill>
              </a:rPr>
              <a:t>= destroyers, navy ships, coast guard. Thick outline = asserting.</a:t>
            </a:r>
            <a:endParaRPr lang="en-US" sz="1600" dirty="0"/>
          </a:p>
          <a:p>
            <a:pPr marL="342900" indent="-342900">
              <a:spcAft>
                <a:spcPts val="600"/>
              </a:spcAft>
              <a:buSzPct val="100000"/>
              <a:buChar char="•"/>
            </a:pPr>
            <a:r>
              <a:rPr lang="en-US" sz="1600" b="1" dirty="0">
                <a:solidFill>
                  <a:schemeClr val="accent3"/>
                </a:solidFill>
              </a:rPr>
              <a:t>Orange ring </a:t>
            </a:r>
            <a:pPr indent="0" marL="0">
              <a:buNone/>
            </a:pPr>
            <a:r>
              <a:rPr lang="en-US" sz="1600" dirty="0">
                <a:solidFill>
                  <a:schemeClr val="tx1"/>
                </a:solidFill>
              </a:rPr>
              <a:t>= incident. Shaded region = rough sea or storm.</a:t>
            </a:r>
            <a:endParaRPr lang="en-US" sz="1600" dirty="0"/>
          </a:p>
          <a:p>
            <a:pPr marL="342900" indent="-342900">
              <a:spcAft>
                <a:spcPts val="600"/>
              </a:spcAft>
              <a:buSzPct val="100000"/>
              <a:buChar char="•"/>
            </a:pPr>
            <a:r>
              <a:rPr lang="en-US" sz="1600" b="1" dirty="0">
                <a:solidFill>
                  <a:schemeClr val="tx1"/>
                </a:solidFill>
              </a:rPr>
              <a:t>Run many games </a:t>
            </a:r>
            <a:pPr indent="0" marL="0">
              <a:buNone/>
            </a:pPr>
            <a:r>
              <a:rPr lang="en-US" sz="1600" dirty="0">
                <a:solidFill>
                  <a:schemeClr val="tx1"/>
                </a:solidFill>
              </a:rPr>
              <a:t>plays the same setup as many simulated games and reports averages.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RQ1: more risk buys control, up to a point</a:t>
            </a:r>
            <a:endParaRPr lang="en-US" sz="2800" dirty="0"/>
          </a:p>
        </p:txBody>
      </p:sp>
      <p:pic>
        <p:nvPicPr>
          <p:cNvPr id="3" name="img63" descr="/home/claude/6.S974-Wargaming-Term-Project/slides/../prototype/results/figures/frontier.png">    </p:cNvPr>
          <p:cNvPicPr>
            <a:picLocks noChangeAspect="1"/>
          </p:cNvPicPr>
          <p:nvPr/>
        </p:nvPicPr>
        <p:blipFill>
          <a:blip r:embed="rId1"/>
          <a:stretch>
            <a:fillRect/>
          </a:stretch>
        </p:blipFill>
        <p:spPr>
          <a:xfrm>
            <a:off x="548640" y="1234440"/>
            <a:ext cx="5486400" cy="3813048"/>
          </a:xfrm>
          <a:prstGeom prst="rect">
            <a:avLst/>
          </a:prstGeom>
        </p:spPr>
      </p:pic>
      <p:graphicFrame>
        <p:nvGraphicFramePr>
          <p:cNvPr id="9" name="riskgame"/>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1463040"/>
                <a:gridCol w="1280160"/>
                <a:gridCol w="1280160"/>
                <a:gridCol w="1280160"/>
              </a:tblGrid>
              <a:tr h="731520">
                <a:tc>
                  <a:txBody>
                    <a:bodyPr/>
                    <a:lstStyle/>
                    <a:p>
                      <a:pPr algn="ctr" indent="0" marL="0">
                        <a:buNone/>
                      </a:pPr>
                      <a:r>
                        <a:rPr lang="en-US" sz="1300" b="1" dirty="0">
                          <a:solidFill>
                            <a:schemeClr val="bg1"/>
                          </a:solidFill>
                        </a:rPr>
                        <a:t>Blue \ Red</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Conservative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Moderate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Aggressive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solidFill>
                      <a:schemeClr val="tx2"/>
                    </a:solidFill>
                  </a:tcPr>
                </a:tc>
              </a:tr>
              <a:tr h="731520">
                <a:tc>
                  <a:txBody>
                    <a:bodyPr/>
                    <a:lstStyle/>
                    <a:p>
                      <a:pPr indent="0" marL="0">
                        <a:buNone/>
                      </a:pPr>
                      <a:r>
                        <a:rPr lang="en-US" sz="1300" b="1" dirty="0">
                          <a:solidFill>
                            <a:srgbClr val="000000"/>
                          </a:solidFill>
                        </a:rPr>
                        <a:t>Conservative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−194, 199</a:t>
                      </a:r>
                      <a:endParaRPr lang="en-US" sz="1300" dirty="0"/>
                    </a:p>
                    <a:p>
                      <a:pPr algn="ctr" indent="0" marL="0">
                        <a:buNone/>
                      </a:pPr>
                      <a:r>
                        <a:rPr lang="en-US" sz="1300" dirty="0">
                          <a:solidFill>
                            <a:schemeClr val="tx1"/>
                          </a:solidFill>
                        </a:rPr>
                        <a:t>war 10%</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−303, 315</a:t>
                      </a:r>
                      <a:endParaRPr lang="en-US" sz="1300" dirty="0"/>
                    </a:p>
                    <a:p>
                      <a:pPr algn="ctr" indent="0" marL="0">
                        <a:buNone/>
                      </a:pPr>
                      <a:r>
                        <a:rPr lang="en-US" sz="1300" dirty="0">
                          <a:solidFill>
                            <a:schemeClr val="tx1"/>
                          </a:solidFill>
                        </a:rPr>
                        <a:t>war 11%</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−308, 318</a:t>
                      </a:r>
                      <a:endParaRPr lang="en-US" sz="1300" dirty="0"/>
                    </a:p>
                    <a:p>
                      <a:pPr algn="ctr" indent="0" marL="0">
                        <a:buNone/>
                      </a:pPr>
                      <a:r>
                        <a:rPr lang="en-US" sz="1300" dirty="0">
                          <a:solidFill>
                            <a:schemeClr val="tx1"/>
                          </a:solidFill>
                        </a:rPr>
                        <a:t>war 12%</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731520">
                <a:tc>
                  <a:txBody>
                    <a:bodyPr/>
                    <a:lstStyle/>
                    <a:p>
                      <a:pPr indent="0" marL="0">
                        <a:buNone/>
                      </a:pPr>
                      <a:r>
                        <a:rPr lang="en-US" sz="1300" b="1" dirty="0">
                          <a:solidFill>
                            <a:srgbClr val="000000"/>
                          </a:solidFill>
                        </a:rPr>
                        <a:t>Moderate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18, −36</a:t>
                      </a:r>
                      <a:endParaRPr lang="en-US" sz="1300" dirty="0"/>
                    </a:p>
                    <a:p>
                      <a:pPr algn="ctr" indent="0" marL="0">
                        <a:buNone/>
                      </a:pPr>
                      <a:r>
                        <a:rPr lang="en-US" sz="1300" dirty="0">
                          <a:solidFill>
                            <a:schemeClr val="tx1"/>
                          </a:solidFill>
                        </a:rPr>
                        <a:t>war 15%</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−144, 101</a:t>
                      </a:r>
                      <a:endParaRPr lang="en-US" sz="1300" dirty="0"/>
                    </a:p>
                    <a:p>
                      <a:pPr algn="ctr" indent="0" marL="0">
                        <a:buNone/>
                      </a:pPr>
                      <a:r>
                        <a:rPr lang="en-US" sz="1300" dirty="0">
                          <a:solidFill>
                            <a:schemeClr val="tx1"/>
                          </a:solidFill>
                        </a:rPr>
                        <a:t>war 20%</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−192, 140</a:t>
                      </a:r>
                      <a:endParaRPr lang="en-US" sz="1300" dirty="0"/>
                    </a:p>
                    <a:p>
                      <a:pPr algn="ctr" indent="0" marL="0">
                        <a:buNone/>
                      </a:pPr>
                      <a:r>
                        <a:rPr lang="en-US" sz="1300" dirty="0">
                          <a:solidFill>
                            <a:schemeClr val="tx1"/>
                          </a:solidFill>
                        </a:rPr>
                        <a:t>war 21%</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r h="731520">
                <a:tc>
                  <a:txBody>
                    <a:bodyPr/>
                    <a:lstStyle/>
                    <a:p>
                      <a:pPr indent="0" marL="0">
                        <a:buNone/>
                      </a:pPr>
                      <a:r>
                        <a:rPr lang="en-US" sz="1300" b="1" dirty="0">
                          <a:solidFill>
                            <a:srgbClr val="000000"/>
                          </a:solidFill>
                        </a:rPr>
                        <a:t>Aggressive</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74, −80</a:t>
                      </a:r>
                      <a:endParaRPr lang="en-US" sz="1300" dirty="0"/>
                    </a:p>
                    <a:p>
                      <a:pPr algn="ctr" indent="0" marL="0">
                        <a:buNone/>
                      </a:pPr>
                      <a:r>
                        <a:rPr lang="en-US" sz="1300" dirty="0">
                          <a:solidFill>
                            <a:schemeClr val="tx1"/>
                          </a:solidFill>
                        </a:rPr>
                        <a:t>war 14%</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dirty="0">
                          <a:solidFill>
                            <a:schemeClr val="tx1"/>
                          </a:solidFill>
                        </a:rPr>
                        <a:t>−83, 16</a:t>
                      </a:r>
                      <a:endParaRPr lang="en-US" sz="1300" dirty="0"/>
                    </a:p>
                    <a:p>
                      <a:pPr algn="ctr" indent="0" marL="0">
                        <a:buNone/>
                      </a:pPr>
                      <a:r>
                        <a:rPr lang="en-US" sz="1300" dirty="0">
                          <a:solidFill>
                            <a:schemeClr val="tx1"/>
                          </a:solidFill>
                        </a:rPr>
                        <a:t>war 25%</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c>
                  <a:txBody>
                    <a:bodyPr/>
                    <a:lstStyle/>
                    <a:p>
                      <a:pPr algn="ctr" indent="0" marL="0">
                        <a:buNone/>
                      </a:pPr>
                      <a:r>
                        <a:rPr lang="en-US" sz="1300" b="1" dirty="0">
                          <a:solidFill>
                            <a:schemeClr val="accent2"/>
                          </a:solidFill>
                        </a:rPr>
                        <a:t>−151, 39</a:t>
                      </a:r>
                      <a:endParaRPr lang="en-US" sz="1300" dirty="0"/>
                    </a:p>
                    <a:p>
                      <a:pPr algn="ctr" indent="0" marL="0">
                        <a:buNone/>
                      </a:pPr>
                      <a:r>
                        <a:rPr lang="en-US" sz="1300" b="1" dirty="0">
                          <a:solidFill>
                            <a:schemeClr val="accent2"/>
                          </a:solidFill>
                        </a:rPr>
                        <a:t>war 34%</a:t>
                      </a:r>
                      <a:endParaRPr lang="en-US" sz="1300" dirty="0"/>
                    </a:p>
                  </a:txBody>
                  <a:tcPr marL="91440" marR="91440" marT="45720" marB="45720" anchor="ctr">
                    <a:lnL w="6350" cap="flat" cmpd="sng" algn="ctr">
                      <a:solidFill>
                        <a:srgbClr val="8DA9C4"/>
                      </a:solidFill>
                      <a:prstDash val="solid"/>
                      <a:round/>
                      <a:headEnd type="none" w="med" len="med"/>
                      <a:tailEnd type="none" w="med" len="med"/>
                    </a:lnL>
                    <a:lnR w="6350" cap="flat" cmpd="sng" algn="ctr">
                      <a:solidFill>
                        <a:srgbClr val="8DA9C4"/>
                      </a:solidFill>
                      <a:prstDash val="solid"/>
                      <a:round/>
                      <a:headEnd type="none" w="med" len="med"/>
                      <a:tailEnd type="none" w="med" len="med"/>
                    </a:lnR>
                    <a:lnT w="6350" cap="flat" cmpd="sng" algn="ctr">
                      <a:solidFill>
                        <a:srgbClr val="8DA9C4"/>
                      </a:solidFill>
                      <a:prstDash val="solid"/>
                      <a:round/>
                      <a:headEnd type="none" w="med" len="med"/>
                      <a:tailEnd type="none" w="med" len="med"/>
                    </a:lnT>
                    <a:lnB w="6350" cap="flat" cmpd="sng" algn="ctr">
                      <a:solidFill>
                        <a:srgbClr val="8DA9C4"/>
                      </a:solidFill>
                      <a:prstDash val="solid"/>
                      <a:round/>
                      <a:headEnd type="none" w="med" len="med"/>
                      <a:tailEnd type="none" w="med" len="med"/>
                    </a:lnB>
                  </a:tcPr>
                </a:tc>
              </a:tr>
            </a:tbl>
          </a:graphicData>
        </a:graphic>
      </p:graphicFrame>
      <p:sp>
        <p:nvSpPr>
          <p:cNvPr id="5" name="t65"/>
          <p:cNvSpPr txBox="1"/>
          <p:nvPr/>
        </p:nvSpPr>
        <p:spPr>
          <a:xfrm>
            <a:off x="6309360" y="4434840"/>
            <a:ext cx="5303520" cy="457200"/>
          </a:xfrm>
          <a:prstGeom prst="rect">
            <a:avLst/>
          </a:prstGeom>
          <a:noFill/>
          <a:ln/>
        </p:spPr>
        <p:txBody>
          <a:bodyPr wrap="square" lIns="0" tIns="0" rIns="0" bIns="0" rtlCol="0" anchor="ctr"/>
          <a:lstStyle/>
          <a:p>
            <a:pPr indent="0" marL="0">
              <a:buNone/>
            </a:pPr>
            <a:r>
              <a:rPr lang="en-US" sz="1200" i="1" dirty="0">
                <a:solidFill>
                  <a:schemeClr val="accent5"/>
                </a:solidFill>
              </a:rPr>
              <a:t>Risk-budget game: payoffs (Blue, Red) and war rate. Red bold = the only equilibrium.</a:t>
            </a:r>
            <a:endParaRPr lang="en-US" sz="1200" dirty="0"/>
          </a:p>
        </p:txBody>
      </p:sp>
      <p:sp>
        <p:nvSpPr>
          <p:cNvPr id="6" name="t66"/>
          <p:cNvSpPr txBox="1"/>
          <p:nvPr/>
        </p:nvSpPr>
        <p:spPr>
          <a:xfrm>
            <a:off x="548640" y="5074920"/>
            <a:ext cx="5486400" cy="457200"/>
          </a:xfrm>
          <a:prstGeom prst="rect">
            <a:avLst/>
          </a:prstGeom>
          <a:noFill/>
          <a:ln/>
        </p:spPr>
        <p:txBody>
          <a:bodyPr wrap="square" lIns="0" tIns="0" rIns="0" bIns="0" rtlCol="0" anchor="ctr"/>
          <a:lstStyle/>
          <a:p>
            <a:pPr indent="0" marL="0">
              <a:buNone/>
            </a:pPr>
            <a:r>
              <a:rPr lang="en-US" sz="1300" dirty="0">
                <a:solidFill>
                  <a:schemeClr val="accent5"/>
                </a:solidFill>
              </a:rPr>
              <a:t>Raising Blue's budget from 0.02 to 0.15 lifts its control a lot; beyond 0.25 it barely moves.</a:t>
            </a:r>
            <a:endParaRPr lang="en-US" sz="1300" dirty="0"/>
          </a:p>
        </p:txBody>
      </p:sp>
      <p:sp>
        <p:nvSpPr>
          <p:cNvPr id="7" name="tk67"/>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8" name="t6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Both sides choose aggressive, giving the highest war rate (34%): a prisoner's dilemma.</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RQ2: the Nash equilibrium plan is the safest bet against any Red</a:t>
            </a:r>
            <a:endParaRPr lang="en-US" sz="2800" dirty="0"/>
          </a:p>
        </p:txBody>
      </p:sp>
      <p:graphicFrame>
        <p:nvGraphicFramePr>
          <p:cNvPr id="3" name="rq2chart" descr=""/>
          <p:cNvGraphicFramePr/>
          <p:nvPr/>
        </p:nvGraphicFramePr>
        <p:xfrm>
          <a:off x="548640" y="123444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4" name="t70"/>
          <p:cNvSpPr txBox="1"/>
          <p:nvPr/>
        </p:nvSpPr>
        <p:spPr>
          <a:xfrm>
            <a:off x="7406640" y="1325880"/>
            <a:ext cx="4206240" cy="4297680"/>
          </a:xfrm>
          <a:prstGeom prst="rect">
            <a:avLst/>
          </a:prstGeom>
          <a:noFill/>
          <a:ln/>
        </p:spPr>
        <p:txBody>
          <a:bodyPr wrap="square" lIns="0" tIns="0" rIns="0" bIns="0" rtlCol="0" anchor="t"/>
          <a:lstStyle/>
          <a:p>
            <a:pPr marL="342900" indent="-342900">
              <a:spcAft>
                <a:spcPts val="600"/>
              </a:spcAft>
              <a:buSzPct val="100000"/>
              <a:buChar char="•"/>
            </a:pPr>
            <a:r>
              <a:rPr lang="en-US" sz="1600" b="1" dirty="0">
                <a:solidFill>
                  <a:schemeClr val="accent4"/>
                </a:solidFill>
              </a:rPr>
              <a:t>Nash equilibrium plan </a:t>
            </a:r>
            <a:pPr indent="0" marL="0">
              <a:buNone/>
            </a:pPr>
            <a:r>
              <a:rPr lang="en-US" sz="1600" dirty="0">
                <a:solidFill>
                  <a:schemeClr val="tx1"/>
                </a:solidFill>
              </a:rPr>
              <a:t>has the best worst case (−116) and half the war rate of the MIP best response against the same opponent (10% vs 20%).</a:t>
            </a:r>
            <a:endParaRPr lang="en-US" sz="1600" dirty="0"/>
          </a:p>
          <a:p>
            <a:pPr marL="342900" indent="-342900">
              <a:spcAft>
                <a:spcPts val="600"/>
              </a:spcAft>
              <a:buSzPct val="100000"/>
              <a:buChar char="•"/>
            </a:pPr>
            <a:r>
              <a:rPr lang="en-US" sz="1600" b="1" dirty="0">
                <a:solidFill>
                  <a:schemeClr val="accent1"/>
                </a:solidFill>
              </a:rPr>
              <a:t>Best responses </a:t>
            </a:r>
            <a:pPr indent="0" marL="0">
              <a:buNone/>
            </a:pPr>
            <a:r>
              <a:rPr lang="en-US" sz="1600" dirty="0">
                <a:solidFill>
                  <a:schemeClr val="tx1"/>
                </a:solidFill>
              </a:rPr>
              <a:t>(quick and MIP) win against weak opponents but escalate more.</a:t>
            </a:r>
            <a:endParaRPr lang="en-US" sz="1600" dirty="0"/>
          </a:p>
          <a:p>
            <a:pPr marL="342900" indent="-342900">
              <a:spcAft>
                <a:spcPts val="600"/>
              </a:spcAft>
              <a:buSzPct val="100000"/>
              <a:buChar char="•"/>
            </a:pPr>
            <a:r>
              <a:rPr lang="en-US" sz="1600" b="1" dirty="0">
                <a:solidFill>
                  <a:schemeClr val="tx1"/>
                </a:solidFill>
              </a:rPr>
              <a:t>Safety-first plan </a:t>
            </a:r>
            <a:pPr indent="0" marL="0">
              <a:buNone/>
            </a:pPr>
            <a:r>
              <a:rPr lang="en-US" sz="1600" dirty="0">
                <a:solidFill>
                  <a:schemeClr val="tx1"/>
                </a:solidFill>
              </a:rPr>
              <a:t>is the most cautious (war ≤ 8%) but gives up the most control.</a:t>
            </a:r>
            <a:endParaRPr lang="en-US" sz="1600" dirty="0"/>
          </a:p>
          <a:p>
            <a:pPr marL="342900" indent="-342900">
              <a:spcAft>
                <a:spcPts val="600"/>
              </a:spcAft>
              <a:buSzPct val="100000"/>
              <a:buChar char="•"/>
            </a:pPr>
            <a:r>
              <a:rPr lang="en-US" sz="1600" b="1" dirty="0">
                <a:solidFill>
                  <a:schemeClr val="tx1"/>
                </a:solidFill>
              </a:rPr>
              <a:t>Quick vs MIP: </a:t>
            </a:r>
            <a:pPr indent="0" marL="0">
              <a:buNone/>
            </a:pPr>
            <a:r>
              <a:rPr lang="en-US" sz="1600" dirty="0">
                <a:solidFill>
                  <a:schemeClr val="tx1"/>
                </a:solidFill>
              </a:rPr>
              <a:t>the quick heuristic matches the MIP 67% of the time but breaks the risk budget 14% of the time.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RQ3: the best strategy holds up in bad weather</a:t>
            </a:r>
            <a:endParaRPr lang="en-US" sz="2800" dirty="0"/>
          </a:p>
        </p:txBody>
      </p:sp>
      <p:pic>
        <p:nvPicPr>
          <p:cNvPr id="3" name="img71" descr="/home/claude/6.S974-Wargaming-Term-Project/slides/../prototype/results/figures/weather.png">    </p:cNvPr>
          <p:cNvPicPr>
            <a:picLocks noChangeAspect="1"/>
          </p:cNvPicPr>
          <p:nvPr/>
        </p:nvPicPr>
        <p:blipFill>
          <a:blip r:embed="rId1"/>
          <a:stretch>
            <a:fillRect/>
          </a:stretch>
        </p:blipFill>
        <p:spPr>
          <a:xfrm>
            <a:off x="548640" y="1234440"/>
            <a:ext cx="5394960" cy="3593592"/>
          </a:xfrm>
          <a:prstGeom prst="rect">
            <a:avLst/>
          </a:prstGeom>
        </p:spPr>
      </p:pic>
      <p:sp>
        <p:nvSpPr>
          <p:cNvPr id="4" name="t72"/>
          <p:cNvSpPr txBox="1"/>
          <p:nvPr/>
        </p:nvSpPr>
        <p:spPr>
          <a:xfrm>
            <a:off x="548640" y="4892040"/>
            <a:ext cx="5394960" cy="685800"/>
          </a:xfrm>
          <a:prstGeom prst="rect">
            <a:avLst/>
          </a:prstGeom>
          <a:noFill/>
          <a:ln/>
        </p:spPr>
        <p:txBody>
          <a:bodyPr wrap="square" lIns="0" tIns="0" rIns="0" bIns="0" rtlCol="0" anchor="ctr"/>
          <a:lstStyle/>
          <a:p>
            <a:pPr indent="0" marL="0">
              <a:buNone/>
            </a:pPr>
            <a:r>
              <a:rPr lang="en-US" sz="1300" dirty="0">
                <a:solidFill>
                  <a:schemeClr val="accent5"/>
                </a:solidFill>
              </a:rPr>
              <a:t>Rough seas weaken Red's coast guard hulls and storms pause operations, so most policies do slightly worse in calm seas. The top two plans stay on top in every scenario.</a:t>
            </a:r>
            <a:endParaRPr lang="en-US" sz="1300" dirty="0"/>
          </a:p>
        </p:txBody>
      </p:sp>
      <p:graphicFrame>
        <p:nvGraphicFramePr>
          <p:cNvPr id="5" name="rq3chart" descr=""/>
          <p:cNvGraphicFramePr/>
          <p:nvPr/>
        </p:nvGraphicFramePr>
        <p:xfrm>
          <a:off x="6217920" y="1234440"/>
          <a:ext cx="5394960" cy="3291840"/>
        </p:xfrm>
        <a:graphic xmlns:a="http://schemas.openxmlformats.org/drawingml/2006/main">
          <a:graphicData uri="http://schemas.openxmlformats.org/drawingml/2006/chart">
            <c:chart xmlns:c="http://schemas.openxmlformats.org/drawingml/2006/chart" r:id="rId2"/>
          </a:graphicData>
        </a:graphic>
      </p:graphicFrame>
      <p:sp>
        <p:nvSpPr>
          <p:cNvPr id="6" name="t74"/>
          <p:cNvSpPr txBox="1"/>
          <p:nvPr/>
        </p:nvSpPr>
        <p:spPr>
          <a:xfrm>
            <a:off x="6217920" y="4572000"/>
            <a:ext cx="5394960" cy="365760"/>
          </a:xfrm>
          <a:prstGeom prst="rect">
            <a:avLst/>
          </a:prstGeom>
          <a:noFill/>
          <a:ln/>
        </p:spPr>
        <p:txBody>
          <a:bodyPr wrap="square" lIns="0" tIns="0" rIns="0" bIns="0" rtlCol="0" anchor="ctr"/>
          <a:lstStyle/>
          <a:p>
            <a:pPr indent="0" marL="0">
              <a:buNone/>
            </a:pPr>
            <a:r>
              <a:rPr lang="en-US" sz="1300" dirty="0">
                <a:solidFill>
                  <a:schemeClr val="accent5"/>
                </a:solidFill>
              </a:rPr>
              <a:t>War rate (normal weather): D0 20%, D1 28%, D2 23%, D3 5%. The hotline was given no cost yet.</a:t>
            </a:r>
            <a:endParaRPr lang="en-US" sz="1300" dirty="0"/>
          </a:p>
        </p:txBody>
      </p:sp>
      <p:sp>
        <p:nvSpPr>
          <p:cNvPr id="7" name="tk75"/>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8" name="t76"/>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The plan that is best on average is also best in the worst weather. The crisis hotline is the best design and cuts war about 4×.</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What the evidence does and does not show</a:t>
            </a:r>
            <a:endParaRPr lang="en-US" sz="2800" dirty="0"/>
          </a:p>
        </p:txBody>
      </p:sp>
      <p:sp>
        <p:nvSpPr>
          <p:cNvPr id="3" name="cv77"/>
          <p:cNvSpPr/>
          <p:nvPr/>
        </p:nvSpPr>
        <p:spPr>
          <a:xfrm>
            <a:off x="548640" y="1280160"/>
            <a:ext cx="5394960" cy="548640"/>
          </a:xfrm>
          <a:prstGeom prst="rect">
            <a:avLst/>
          </a:prstGeom>
          <a:solidFill>
            <a:schemeClr val="accent4"/>
          </a:solidFill>
          <a:ln w="12700">
            <a:solidFill>
              <a:schemeClr val="accent4"/>
            </a:solidFill>
            <a:prstDash val="solid"/>
          </a:ln>
        </p:spPr>
      </p:sp>
      <p:sp>
        <p:nvSpPr>
          <p:cNvPr id="4" name="t78"/>
          <p:cNvSpPr txBox="1"/>
          <p:nvPr/>
        </p:nvSpPr>
        <p:spPr>
          <a:xfrm>
            <a:off x="731520" y="1280160"/>
            <a:ext cx="5029200" cy="548640"/>
          </a:xfrm>
          <a:prstGeom prst="rect">
            <a:avLst/>
          </a:prstGeom>
          <a:noFill/>
          <a:ln/>
        </p:spPr>
        <p:txBody>
          <a:bodyPr wrap="square" lIns="0" tIns="0" rIns="0" bIns="0" rtlCol="0" anchor="ctr"/>
          <a:lstStyle/>
          <a:p>
            <a:pPr indent="0" marL="0">
              <a:buNone/>
            </a:pPr>
            <a:r>
              <a:rPr lang="en-US" sz="1800" b="1" dirty="0">
                <a:solidFill>
                  <a:schemeClr val="bg1"/>
                </a:solidFill>
              </a:rPr>
              <a:t>Supported</a:t>
            </a:r>
            <a:endParaRPr lang="en-US" sz="1800" dirty="0"/>
          </a:p>
        </p:txBody>
      </p:sp>
      <p:sp>
        <p:nvSpPr>
          <p:cNvPr id="5" name="t79"/>
          <p:cNvSpPr txBox="1"/>
          <p:nvPr/>
        </p:nvSpPr>
        <p:spPr>
          <a:xfrm>
            <a:off x="640080" y="2011680"/>
            <a:ext cx="521208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Loosening the risk budget has sharply diminishing returns</a:t>
            </a:r>
            <a:endParaRPr lang="en-US" sz="1600" dirty="0"/>
          </a:p>
          <a:p>
            <a:pPr marL="342900" indent="-342900">
              <a:spcAft>
                <a:spcPts val="600"/>
              </a:spcAft>
              <a:buSzPct val="100000"/>
              <a:buChar char="•"/>
            </a:pPr>
            <a:r>
              <a:rPr lang="en-US" sz="1600" dirty="0">
                <a:solidFill>
                  <a:schemeClr val="tx1"/>
                </a:solidFill>
              </a:rPr>
              <a:t>Left alone, both sides loosen their budgets (prisoner's dilemma)</a:t>
            </a:r>
            <a:endParaRPr lang="en-US" sz="1600" dirty="0"/>
          </a:p>
          <a:p>
            <a:pPr marL="342900" indent="-342900">
              <a:spcAft>
                <a:spcPts val="600"/>
              </a:spcAft>
              <a:buSzPct val="100000"/>
              <a:buChar char="•"/>
            </a:pPr>
            <a:r>
              <a:rPr lang="en-US" sz="1600" dirty="0">
                <a:solidFill>
                  <a:schemeClr val="tx1"/>
                </a:solidFill>
              </a:rPr>
              <a:t>Restraint can be an equilibrium of the repeated game</a:t>
            </a:r>
            <a:endParaRPr lang="en-US" sz="1600" dirty="0"/>
          </a:p>
          <a:p>
            <a:pPr marL="342900" indent="-342900">
              <a:spcAft>
                <a:spcPts val="600"/>
              </a:spcAft>
              <a:buSzPct val="100000"/>
              <a:buChar char="•"/>
            </a:pPr>
            <a:r>
              <a:rPr lang="en-US" sz="1600" dirty="0">
                <a:solidFill>
                  <a:schemeClr val="tx1"/>
                </a:solidFill>
              </a:rPr>
              <a:t>The Nash equilibrium plan is the most robust Blue policy here</a:t>
            </a:r>
            <a:endParaRPr lang="en-US" sz="1600" dirty="0"/>
          </a:p>
          <a:p>
            <a:pPr marL="342900" indent="-342900">
              <a:spcAft>
                <a:spcPts val="600"/>
              </a:spcAft>
              <a:buSzPct val="100000"/>
              <a:buChar char="•"/>
            </a:pPr>
            <a:r>
              <a:rPr lang="en-US" sz="1600" dirty="0">
                <a:solidFill>
                  <a:schemeClr val="tx1"/>
                </a:solidFill>
              </a:rPr>
              <a:t>A crisis hotline is a joint gain under every weather scenario</a:t>
            </a:r>
            <a:endParaRPr lang="en-US" sz="1600" dirty="0"/>
          </a:p>
        </p:txBody>
      </p:sp>
      <p:sp>
        <p:nvSpPr>
          <p:cNvPr id="6" name="cv80"/>
          <p:cNvSpPr/>
          <p:nvPr/>
        </p:nvSpPr>
        <p:spPr>
          <a:xfrm>
            <a:off x="6217920" y="1280160"/>
            <a:ext cx="5394960" cy="548640"/>
          </a:xfrm>
          <a:prstGeom prst="rect">
            <a:avLst/>
          </a:prstGeom>
          <a:solidFill>
            <a:schemeClr val="accent2"/>
          </a:solidFill>
          <a:ln w="12700">
            <a:solidFill>
              <a:schemeClr val="accent2"/>
            </a:solidFill>
            <a:prstDash val="solid"/>
          </a:ln>
        </p:spPr>
      </p:sp>
      <p:sp>
        <p:nvSpPr>
          <p:cNvPr id="7" name="t81"/>
          <p:cNvSpPr txBox="1"/>
          <p:nvPr/>
        </p:nvSpPr>
        <p:spPr>
          <a:xfrm>
            <a:off x="6400800" y="1280160"/>
            <a:ext cx="5029200" cy="548640"/>
          </a:xfrm>
          <a:prstGeom prst="rect">
            <a:avLst/>
          </a:prstGeom>
          <a:noFill/>
          <a:ln/>
        </p:spPr>
        <p:txBody>
          <a:bodyPr wrap="square" lIns="0" tIns="0" rIns="0" bIns="0" rtlCol="0" anchor="ctr"/>
          <a:lstStyle/>
          <a:p>
            <a:pPr indent="0" marL="0">
              <a:buNone/>
            </a:pPr>
            <a:r>
              <a:rPr lang="en-US" sz="1800" b="1" dirty="0">
                <a:solidFill>
                  <a:schemeClr val="bg1"/>
                </a:solidFill>
              </a:rPr>
              <a:t>Not yet shown</a:t>
            </a:r>
            <a:endParaRPr lang="en-US" sz="1800" dirty="0"/>
          </a:p>
        </p:txBody>
      </p:sp>
      <p:sp>
        <p:nvSpPr>
          <p:cNvPr id="8" name="t82"/>
          <p:cNvSpPr txBox="1"/>
          <p:nvPr/>
        </p:nvSpPr>
        <p:spPr>
          <a:xfrm>
            <a:off x="6309360" y="2011680"/>
            <a:ext cx="521208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All numbers are assumptions, not calibrated to data</a:t>
            </a:r>
            <a:endParaRPr lang="en-US" sz="1600" dirty="0"/>
          </a:p>
          <a:p>
            <a:pPr marL="342900" indent="-342900">
              <a:spcAft>
                <a:spcPts val="600"/>
              </a:spcAft>
              <a:buSzPct val="100000"/>
              <a:buChar char="•"/>
            </a:pPr>
            <a:r>
              <a:rPr lang="en-US" sz="1600" dirty="0">
                <a:solidFill>
                  <a:schemeClr val="tx1"/>
                </a:solidFill>
              </a:rPr>
              <a:t>Policies look only one period ahead</a:t>
            </a:r>
            <a:endParaRPr lang="en-US" sz="1600" dirty="0"/>
          </a:p>
          <a:p>
            <a:pPr marL="342900" indent="-342900">
              <a:spcAft>
                <a:spcPts val="600"/>
              </a:spcAft>
              <a:buSzPct val="100000"/>
              <a:buChar char="•"/>
            </a:pPr>
            <a:r>
              <a:rPr lang="en-US" sz="1600" dirty="0">
                <a:solidFill>
                  <a:schemeClr val="tx1"/>
                </a:solidFill>
              </a:rPr>
              <a:t>War penalty may be too small: the top-payoff policy also has the most wars</a:t>
            </a:r>
            <a:endParaRPr lang="en-US" sz="1600" dirty="0"/>
          </a:p>
          <a:p>
            <a:pPr marL="342900" indent="-342900">
              <a:spcAft>
                <a:spcPts val="600"/>
              </a:spcAft>
              <a:buSzPct val="100000"/>
              <a:buChar char="•"/>
            </a:pPr>
            <a:r>
              <a:rPr lang="en-US" sz="1600" dirty="0">
                <a:solidFill>
                  <a:schemeClr val="tx1"/>
                </a:solidFill>
              </a:rPr>
              <a:t>The hotline has no cost yet, so part of its win is built in</a:t>
            </a:r>
            <a:endParaRPr lang="en-US" sz="1600" dirty="0"/>
          </a:p>
          <a:p>
            <a:pPr marL="342900" indent="-342900">
              <a:spcAft>
                <a:spcPts val="600"/>
              </a:spcAft>
              <a:buSzPct val="100000"/>
              <a:buChar char="•"/>
            </a:pPr>
            <a:r>
              <a:rPr lang="en-US" sz="1600" dirty="0">
                <a:solidFill>
                  <a:schemeClr val="tx1"/>
                </a:solidFill>
              </a:rPr>
              <a:t>Differences under about 20 payoff points are ties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2800" b="1" dirty="0">
                <a:solidFill>
                  <a:schemeClr val="tx2"/>
                </a:solidFill>
              </a:rPr>
              <a:t>Plan for Workshop 2</a:t>
            </a:r>
            <a:endParaRPr lang="en-US" sz="2800" dirty="0"/>
          </a:p>
        </p:txBody>
      </p:sp>
      <p:sp>
        <p:nvSpPr>
          <p:cNvPr id="3" name="tl"/>
          <p:cNvSpPr/>
          <p:nvPr/>
        </p:nvSpPr>
        <p:spPr>
          <a:xfrm>
            <a:off x="914400" y="1920240"/>
            <a:ext cx="10332720" cy="0"/>
          </a:xfrm>
          <a:prstGeom prst="line">
            <a:avLst/>
          </a:prstGeom>
          <a:noFill/>
          <a:ln w="38100">
            <a:solidFill>
              <a:schemeClr val="accent6"/>
            </a:solidFill>
            <a:prstDash val="solid"/>
          </a:ln>
        </p:spPr>
      </p:sp>
      <p:sp>
        <p:nvSpPr>
          <p:cNvPr id="4" name="tp84"/>
          <p:cNvSpPr/>
          <p:nvPr/>
        </p:nvSpPr>
        <p:spPr>
          <a:xfrm>
            <a:off x="731520" y="1691640"/>
            <a:ext cx="457200" cy="457200"/>
          </a:xfrm>
          <a:prstGeom prst="ellipse">
            <a:avLst/>
          </a:prstGeom>
          <a:solidFill>
            <a:schemeClr val="accent1"/>
          </a:solidFill>
          <a:ln/>
        </p:spPr>
      </p:sp>
      <p:sp>
        <p:nvSpPr>
          <p:cNvPr id="5" name="t85"/>
          <p:cNvSpPr txBox="1"/>
          <p:nvPr/>
        </p:nvSpPr>
        <p:spPr>
          <a:xfrm>
            <a:off x="548640" y="1234440"/>
            <a:ext cx="2560320" cy="365760"/>
          </a:xfrm>
          <a:prstGeom prst="rect">
            <a:avLst/>
          </a:prstGeom>
          <a:noFill/>
          <a:ln/>
        </p:spPr>
        <p:txBody>
          <a:bodyPr wrap="square" lIns="0" tIns="0" rIns="0" bIns="0" rtlCol="0" anchor="ctr"/>
          <a:lstStyle/>
          <a:p>
            <a:pPr indent="0" marL="0">
              <a:buNone/>
            </a:pPr>
            <a:r>
              <a:rPr lang="en-US" sz="1600" b="1" dirty="0">
                <a:solidFill>
                  <a:schemeClr val="accent1"/>
                </a:solidFill>
              </a:rPr>
              <a:t>Nov 3</a:t>
            </a:r>
            <a:endParaRPr lang="en-US" sz="1600" dirty="0"/>
          </a:p>
        </p:txBody>
      </p:sp>
      <p:sp>
        <p:nvSpPr>
          <p:cNvPr id="6" name="t86"/>
          <p:cNvSpPr txBox="1"/>
          <p:nvPr/>
        </p:nvSpPr>
        <p:spPr>
          <a:xfrm>
            <a:off x="548640" y="2331720"/>
            <a:ext cx="2560320" cy="411480"/>
          </a:xfrm>
          <a:prstGeom prst="rect">
            <a:avLst/>
          </a:prstGeom>
          <a:noFill/>
          <a:ln/>
        </p:spPr>
        <p:txBody>
          <a:bodyPr wrap="square" lIns="0" tIns="0" rIns="0" bIns="0" rtlCol="0" anchor="ctr"/>
          <a:lstStyle/>
          <a:p>
            <a:pPr indent="0" marL="0">
              <a:buNone/>
            </a:pPr>
            <a:r>
              <a:rPr lang="en-US" sz="1800" b="1" dirty="0">
                <a:solidFill>
                  <a:schemeClr val="tx2"/>
                </a:solidFill>
              </a:rPr>
              <a:t>Beliefs and attacks</a:t>
            </a:r>
            <a:endParaRPr lang="en-US" sz="1800" dirty="0"/>
          </a:p>
        </p:txBody>
      </p:sp>
      <p:sp>
        <p:nvSpPr>
          <p:cNvPr id="7" name="t87"/>
          <p:cNvSpPr txBox="1"/>
          <p:nvPr/>
        </p:nvSpPr>
        <p:spPr>
          <a:xfrm>
            <a:off x="548640" y="2788920"/>
            <a:ext cx="2560320" cy="2560320"/>
          </a:xfrm>
          <a:prstGeom prst="rect">
            <a:avLst/>
          </a:prstGeom>
          <a:noFill/>
          <a:ln/>
        </p:spPr>
        <p:txBody>
          <a:bodyPr wrap="square" lIns="0" tIns="0" rIns="0" bIns="0" rtlCol="0" anchor="t"/>
          <a:lstStyle/>
          <a:p>
            <a:pPr indent="0" marL="0">
              <a:buNone/>
            </a:pPr>
            <a:r>
              <a:rPr lang="en-US" sz="1500" dirty="0">
                <a:solidFill>
                  <a:schemeClr val="tx1"/>
                </a:solidFill>
              </a:rPr>
              <a:t>Bayesian beliefs about enemy positions; weather tied to the calendar (typhoon season, winter monsoon) with odds from climatology data; test the three coded Red attacks (blockade, jamming, false contacts); decide whether to keep the movement budget or drop it</a:t>
            </a:r>
            <a:endParaRPr lang="en-US" sz="1500" dirty="0"/>
          </a:p>
        </p:txBody>
      </p:sp>
      <p:sp>
        <p:nvSpPr>
          <p:cNvPr id="8" name="tp88"/>
          <p:cNvSpPr/>
          <p:nvPr/>
        </p:nvSpPr>
        <p:spPr>
          <a:xfrm>
            <a:off x="3520440" y="1691640"/>
            <a:ext cx="457200" cy="457200"/>
          </a:xfrm>
          <a:prstGeom prst="ellipse">
            <a:avLst/>
          </a:prstGeom>
          <a:solidFill>
            <a:schemeClr val="accent1"/>
          </a:solidFill>
          <a:ln/>
        </p:spPr>
      </p:sp>
      <p:sp>
        <p:nvSpPr>
          <p:cNvPr id="9" name="t89"/>
          <p:cNvSpPr txBox="1"/>
          <p:nvPr/>
        </p:nvSpPr>
        <p:spPr>
          <a:xfrm>
            <a:off x="3337560" y="1234440"/>
            <a:ext cx="2560320" cy="365760"/>
          </a:xfrm>
          <a:prstGeom prst="rect">
            <a:avLst/>
          </a:prstGeom>
          <a:noFill/>
          <a:ln/>
        </p:spPr>
        <p:txBody>
          <a:bodyPr wrap="square" lIns="0" tIns="0" rIns="0" bIns="0" rtlCol="0" anchor="ctr"/>
          <a:lstStyle/>
          <a:p>
            <a:pPr indent="0" marL="0">
              <a:buNone/>
            </a:pPr>
            <a:r>
              <a:rPr lang="en-US" sz="1600" b="1" dirty="0">
                <a:solidFill>
                  <a:schemeClr val="accent1"/>
                </a:solidFill>
              </a:rPr>
              <a:t>Nov 17</a:t>
            </a:r>
            <a:endParaRPr lang="en-US" sz="1600" dirty="0"/>
          </a:p>
        </p:txBody>
      </p:sp>
      <p:sp>
        <p:nvSpPr>
          <p:cNvPr id="10" name="t90"/>
          <p:cNvSpPr txBox="1"/>
          <p:nvPr/>
        </p:nvSpPr>
        <p:spPr>
          <a:xfrm>
            <a:off x="3337560" y="2331720"/>
            <a:ext cx="2560320" cy="411480"/>
          </a:xfrm>
          <a:prstGeom prst="rect">
            <a:avLst/>
          </a:prstGeom>
          <a:noFill/>
          <a:ln/>
        </p:spPr>
        <p:txBody>
          <a:bodyPr wrap="square" lIns="0" tIns="0" rIns="0" bIns="0" rtlCol="0" anchor="ctr"/>
          <a:lstStyle/>
          <a:p>
            <a:pPr indent="0" marL="0">
              <a:buNone/>
            </a:pPr>
            <a:r>
              <a:rPr lang="en-US" sz="1800" b="1" dirty="0">
                <a:solidFill>
                  <a:schemeClr val="tx2"/>
                </a:solidFill>
              </a:rPr>
              <a:t>Learning</a:t>
            </a:r>
            <a:endParaRPr lang="en-US" sz="1800" dirty="0"/>
          </a:p>
        </p:txBody>
      </p:sp>
      <p:sp>
        <p:nvSpPr>
          <p:cNvPr id="11" name="t91"/>
          <p:cNvSpPr txBox="1"/>
          <p:nvPr/>
        </p:nvSpPr>
        <p:spPr>
          <a:xfrm>
            <a:off x="3337560" y="2788920"/>
            <a:ext cx="2560320" cy="2560320"/>
          </a:xfrm>
          <a:prstGeom prst="rect">
            <a:avLst/>
          </a:prstGeom>
          <a:noFill/>
          <a:ln/>
        </p:spPr>
        <p:txBody>
          <a:bodyPr wrap="square" lIns="0" tIns="0" rIns="0" bIns="0" rtlCol="0" anchor="t"/>
          <a:lstStyle/>
          <a:p>
            <a:pPr indent="0" marL="0">
              <a:buNone/>
            </a:pPr>
            <a:r>
              <a:rPr lang="en-US" sz="1500" dirty="0">
                <a:solidFill>
                  <a:schemeClr val="tx1"/>
                </a:solidFill>
              </a:rPr>
              <a:t>Red agents that learn from experience: do they exploit predictable Blue play? An attacker that moves after seeing Blue</a:t>
            </a:r>
            <a:endParaRPr lang="en-US" sz="1500" dirty="0"/>
          </a:p>
        </p:txBody>
      </p:sp>
      <p:sp>
        <p:nvSpPr>
          <p:cNvPr id="12" name="tp92"/>
          <p:cNvSpPr/>
          <p:nvPr/>
        </p:nvSpPr>
        <p:spPr>
          <a:xfrm>
            <a:off x="6309360" y="1691640"/>
            <a:ext cx="457200" cy="457200"/>
          </a:xfrm>
          <a:prstGeom prst="ellipse">
            <a:avLst/>
          </a:prstGeom>
          <a:solidFill>
            <a:schemeClr val="accent1"/>
          </a:solidFill>
          <a:ln/>
        </p:spPr>
      </p:sp>
      <p:sp>
        <p:nvSpPr>
          <p:cNvPr id="13" name="t93"/>
          <p:cNvSpPr txBox="1"/>
          <p:nvPr/>
        </p:nvSpPr>
        <p:spPr>
          <a:xfrm>
            <a:off x="6126480" y="1234440"/>
            <a:ext cx="2560320" cy="365760"/>
          </a:xfrm>
          <a:prstGeom prst="rect">
            <a:avLst/>
          </a:prstGeom>
          <a:noFill/>
          <a:ln/>
        </p:spPr>
        <p:txBody>
          <a:bodyPr wrap="square" lIns="0" tIns="0" rIns="0" bIns="0" rtlCol="0" anchor="ctr"/>
          <a:lstStyle/>
          <a:p>
            <a:pPr indent="0" marL="0">
              <a:buNone/>
            </a:pPr>
            <a:r>
              <a:rPr lang="en-US" sz="1600" b="1" dirty="0">
                <a:solidFill>
                  <a:schemeClr val="accent1"/>
                </a:solidFill>
              </a:rPr>
              <a:t>Dec 1</a:t>
            </a:r>
            <a:endParaRPr lang="en-US" sz="1600" dirty="0"/>
          </a:p>
        </p:txBody>
      </p:sp>
      <p:sp>
        <p:nvSpPr>
          <p:cNvPr id="14" name="t94"/>
          <p:cNvSpPr txBox="1"/>
          <p:nvPr/>
        </p:nvSpPr>
        <p:spPr>
          <a:xfrm>
            <a:off x="6126480" y="2331720"/>
            <a:ext cx="2560320" cy="411480"/>
          </a:xfrm>
          <a:prstGeom prst="rect">
            <a:avLst/>
          </a:prstGeom>
          <a:noFill/>
          <a:ln/>
        </p:spPr>
        <p:txBody>
          <a:bodyPr wrap="square" lIns="0" tIns="0" rIns="0" bIns="0" rtlCol="0" anchor="ctr"/>
          <a:lstStyle/>
          <a:p>
            <a:pPr indent="0" marL="0">
              <a:buNone/>
            </a:pPr>
            <a:r>
              <a:rPr lang="en-US" sz="1800" b="1" dirty="0">
                <a:solidFill>
                  <a:schemeClr val="tx2"/>
                </a:solidFill>
              </a:rPr>
              <a:t>Redesign</a:t>
            </a:r>
            <a:endParaRPr lang="en-US" sz="1800" dirty="0"/>
          </a:p>
        </p:txBody>
      </p:sp>
      <p:sp>
        <p:nvSpPr>
          <p:cNvPr id="15" name="t95"/>
          <p:cNvSpPr txBox="1"/>
          <p:nvPr/>
        </p:nvSpPr>
        <p:spPr>
          <a:xfrm>
            <a:off x="6126480" y="2788920"/>
            <a:ext cx="2560320" cy="2560320"/>
          </a:xfrm>
          <a:prstGeom prst="rect">
            <a:avLst/>
          </a:prstGeom>
          <a:noFill/>
          <a:ln/>
        </p:spPr>
        <p:txBody>
          <a:bodyPr wrap="square" lIns="0" tIns="0" rIns="0" bIns="0" rtlCol="0" anchor="t"/>
          <a:lstStyle/>
          <a:p>
            <a:pPr indent="0" marL="0">
              <a:buNone/>
            </a:pPr>
            <a:r>
              <a:rPr lang="en-US" sz="1500" dirty="0">
                <a:solidFill>
                  <a:schemeClr val="tx1"/>
                </a:solidFill>
              </a:rPr>
              <a:t>Designs and combinations under attacks, persistent weather and a rare long typhoon; hotline as a mediator</a:t>
            </a:r>
            <a:endParaRPr lang="en-US" sz="1500" dirty="0"/>
          </a:p>
        </p:txBody>
      </p:sp>
      <p:sp>
        <p:nvSpPr>
          <p:cNvPr id="16" name="tp96"/>
          <p:cNvSpPr/>
          <p:nvPr/>
        </p:nvSpPr>
        <p:spPr>
          <a:xfrm>
            <a:off x="9098280" y="1691640"/>
            <a:ext cx="457200" cy="457200"/>
          </a:xfrm>
          <a:prstGeom prst="ellipse">
            <a:avLst/>
          </a:prstGeom>
          <a:solidFill>
            <a:schemeClr val="accent2"/>
          </a:solidFill>
          <a:ln/>
        </p:spPr>
      </p:sp>
      <p:sp>
        <p:nvSpPr>
          <p:cNvPr id="17" name="t97"/>
          <p:cNvSpPr txBox="1"/>
          <p:nvPr/>
        </p:nvSpPr>
        <p:spPr>
          <a:xfrm>
            <a:off x="8915400" y="1234440"/>
            <a:ext cx="2560320" cy="365760"/>
          </a:xfrm>
          <a:prstGeom prst="rect">
            <a:avLst/>
          </a:prstGeom>
          <a:noFill/>
          <a:ln/>
        </p:spPr>
        <p:txBody>
          <a:bodyPr wrap="square" lIns="0" tIns="0" rIns="0" bIns="0" rtlCol="0" anchor="ctr"/>
          <a:lstStyle/>
          <a:p>
            <a:pPr indent="0" marL="0">
              <a:buNone/>
            </a:pPr>
            <a:r>
              <a:rPr lang="en-US" sz="1600" b="1" dirty="0">
                <a:solidFill>
                  <a:schemeClr val="accent1"/>
                </a:solidFill>
              </a:rPr>
              <a:t>Dec 8</a:t>
            </a:r>
            <a:endParaRPr lang="en-US" sz="1600" dirty="0"/>
          </a:p>
        </p:txBody>
      </p:sp>
      <p:sp>
        <p:nvSpPr>
          <p:cNvPr id="18" name="t98"/>
          <p:cNvSpPr txBox="1"/>
          <p:nvPr/>
        </p:nvSpPr>
        <p:spPr>
          <a:xfrm>
            <a:off x="8915400" y="2331720"/>
            <a:ext cx="2560320" cy="411480"/>
          </a:xfrm>
          <a:prstGeom prst="rect">
            <a:avLst/>
          </a:prstGeom>
          <a:noFill/>
          <a:ln/>
        </p:spPr>
        <p:txBody>
          <a:bodyPr wrap="square" lIns="0" tIns="0" rIns="0" bIns="0" rtlCol="0" anchor="ctr"/>
          <a:lstStyle/>
          <a:p>
            <a:pPr indent="0" marL="0">
              <a:buNone/>
            </a:pPr>
            <a:r>
              <a:rPr lang="en-US" sz="1800" b="1" dirty="0">
                <a:solidFill>
                  <a:schemeClr val="tx2"/>
                </a:solidFill>
              </a:rPr>
              <a:t>Report</a:t>
            </a:r>
            <a:endParaRPr lang="en-US" sz="1800" dirty="0"/>
          </a:p>
        </p:txBody>
      </p:sp>
      <p:sp>
        <p:nvSpPr>
          <p:cNvPr id="19" name="t99"/>
          <p:cNvSpPr txBox="1"/>
          <p:nvPr/>
        </p:nvSpPr>
        <p:spPr>
          <a:xfrm>
            <a:off x="8915400" y="2788920"/>
            <a:ext cx="2560320" cy="2560320"/>
          </a:xfrm>
          <a:prstGeom prst="rect">
            <a:avLst/>
          </a:prstGeom>
          <a:noFill/>
          <a:ln/>
        </p:spPr>
        <p:txBody>
          <a:bodyPr wrap="square" lIns="0" tIns="0" rIns="0" bIns="0" rtlCol="0" anchor="t"/>
          <a:lstStyle/>
          <a:p>
            <a:pPr indent="0" marL="0">
              <a:buNone/>
            </a:pPr>
            <a:r>
              <a:rPr lang="en-US" sz="1500" dirty="0">
                <a:solidFill>
                  <a:schemeClr val="tx1"/>
                </a:solidFill>
              </a:rPr>
              <a:t>Final report and presentation</a:t>
            </a:r>
            <a:endParaRPr lang="en-US" sz="1500" dirty="0"/>
          </a:p>
        </p:txBody>
      </p:sp>
      <p:sp>
        <p:nvSpPr>
          <p:cNvPr id="20" name="tk100"/>
          <p:cNvSpPr/>
          <p:nvPr/>
        </p:nvSpPr>
        <p:spPr>
          <a:xfrm>
            <a:off x="548640" y="5715000"/>
            <a:ext cx="11064240" cy="594360"/>
          </a:xfrm>
          <a:prstGeom prst="roundRect">
            <a:avLst>
              <a:gd name="adj" fmla="val 12308"/>
            </a:avLst>
          </a:prstGeom>
          <a:solidFill>
            <a:schemeClr val="bg2"/>
          </a:solidFill>
          <a:ln w="12700">
            <a:solidFill>
              <a:schemeClr val="accent1"/>
            </a:solidFill>
            <a:prstDash val="solid"/>
          </a:ln>
        </p:spPr>
      </p:sp>
      <p:sp>
        <p:nvSpPr>
          <p:cNvPr id="21" name="t101"/>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600" b="1" dirty="0">
                <a:solidFill>
                  <a:schemeClr val="accent1"/>
                </a:solidFill>
              </a:rPr>
              <a:t>Takeaway  </a:t>
            </a:r>
            <a:pPr indent="0" marL="0">
              <a:buNone/>
            </a:pPr>
            <a:r>
              <a:rPr lang="en-US" sz="1600" dirty="0">
                <a:solidFill>
                  <a:schemeClr val="tx1"/>
                </a:solidFill>
              </a:rPr>
              <a:t>Each step follows the remaining course modules: learning, attacks and defenses, resilient design.</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Gray Zone">
      <a:dk1>
        <a:srgbClr val="1B2430"/>
      </a:dk1>
      <a:lt1>
        <a:srgbClr val="FFFFFF"/>
      </a:lt1>
      <a:dk2>
        <a:srgbClr val="0B2545"/>
      </a:dk2>
      <a:lt2>
        <a:srgbClr val="EEF3F8"/>
      </a:lt2>
      <a:accent1>
        <a:srgbClr val="1F4E9C"/>
      </a:accent1>
      <a:accent2>
        <a:srgbClr val="B23A48"/>
      </a:accent2>
      <a:accent3>
        <a:srgbClr val="E8A33D"/>
      </a:accent3>
      <a:accent4>
        <a:srgbClr val="13807A"/>
      </a:accent4>
      <a:accent5>
        <a:srgbClr val="6B7A8F"/>
      </a:accent5>
      <a:accent6>
        <a:srgbClr val="8DA9C4"/>
      </a:accent6>
      <a:hlink>
        <a:srgbClr val="1F4E9C"/>
      </a:hlink>
      <a:folHlink>
        <a:srgbClr val="6B7A8F"/>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Gray-Zone Maritime Control: Workshop 1</dc:title>
  <dc:subject>PptxGenJS Presentation</dc:subject>
  <dc:creator>Sean Bowman, Tate Murphy, Matthew Newell</dc:creator>
  <cp:lastModifiedBy>Sean Bowman, Tate Murphy, Matthew Newell</cp:lastModifiedBy>
  <cp:revision>1</cp:revision>
  <dcterms:created xsi:type="dcterms:W3CDTF">2026-10-26T19:55:34Z</dcterms:created>
  <dcterms:modified xsi:type="dcterms:W3CDTF">2026-10-26T19:55:34Z</dcterms:modified>
</cp:coreProperties>
</file>