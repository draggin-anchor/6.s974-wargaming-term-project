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1ef6113-83bf-6503-2c8f-85fd2393a233}">
          <p14:sldIdLst>
            <p14:sldId id="256"/>
            <p14:sldId id="257"/>
            <p14:sldId id="258"/>
            <p14:sldId id="259"/>
          </p14:sldIdLst>
        </p14:section>
        <p14:section name="Model" id="{5a821b01-8e63-e16a-d204-7677d013c3f2}">
          <p14:sldIdLst>
            <p14:sldId id="260"/>
            <p14:sldId id="261"/>
            <p14:sldId id="262"/>
            <p14:sldId id="263"/>
          </p14:sldIdLst>
        </p14:section>
        <p14:section name="Results" id="{c337b3ff-b6de-2ca6-ee66-ecf029f13b0d}">
          <p14:sldIdLst>
            <p14:sldId id="264"/>
            <p14:sldId id="265"/>
            <p14:sldId id="266"/>
            <p14:sldId id="267"/>
            <p14:sldId id="268"/>
            <p14:sldId id="269"/>
            <p14:sldId id="270"/>
          </p14:sldIdLst>
        </p14:section>
        <p14:section name="Next steps" id="{38be4ed2-ee5e-7eaa-55bd-6965fcf7d359}">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5E6B7D"/>
            </a:solidFill>
            <a:effectLst/>
          </c:spPr>
          <c:invertIfNegative val="0"/>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dPt>
            <c:idx val="0"/>
            <c:invertIfNegative val="0"/>
            <c:bubble3D val="0"/>
            <c:spPr>
              <a:solidFill>
                <a:srgbClr val="5E6B7D"/>
              </a:solidFill>
              <a:effectLst/>
            </c:spPr>
          </c:dPt>
          <c:dPt>
            <c:idx val="1"/>
            <c:invertIfNegative val="0"/>
            <c:bubble3D val="0"/>
            <c:spPr>
              <a:solidFill>
                <a:srgbClr val="5E6B7D"/>
              </a:solidFill>
              <a:effectLst/>
            </c:spPr>
          </c:dPt>
          <c:dPt>
            <c:idx val="2"/>
            <c:invertIfNegative val="0"/>
            <c:bubble3D val="0"/>
            <c:spPr>
              <a:solidFill>
                <a:srgbClr val="5E6B7D"/>
              </a:solidFill>
              <a:effectLst/>
            </c:spPr>
          </c:dPt>
          <c:dPt>
            <c:idx val="3"/>
            <c:invertIfNegative val="0"/>
            <c:bubble3D val="0"/>
            <c:spPr>
              <a:solidFill>
                <a:srgbClr val="1D3E72"/>
              </a:solidFill>
              <a:effectLst/>
            </c:spPr>
          </c:dPt>
          <c:dPt>
            <c:idx val="4"/>
            <c:invertIfNegative val="0"/>
            <c:bubble3D val="0"/>
            <c:spPr>
              <a:solidFill>
                <a:srgbClr val="1D3E72"/>
              </a:solidFill>
              <a:effectLst/>
            </c:spPr>
          </c:dPt>
          <c:dPt>
            <c:idx val="5"/>
            <c:invertIfNegative val="0"/>
            <c:bubble3D val="0"/>
            <c:spPr>
              <a:solidFill>
                <a:srgbClr val="B8901E"/>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A"/>
                </a:solidFill>
                <a:latin typeface="+mn-lt"/>
              </a:defRPr>
            </a:pPr>
            <a:r>
              <a:rPr sz="1400" b="0" i="0" u="none" strike="noStrike">
                <a:solidFill>
                  <a:srgbClr val="0B1F3A"/>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D3E72"/>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A97C14"/>
            </a:solidFill>
            <a:effectLst/>
          </c:spPr>
          <c:invertIfNegative val="0"/>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A22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233"/>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7D"/>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Why we built this. The South China Sea is a major trade route and a contested region. The U.S. operates there to uphold navigational rights and challenge excessive claims, while China works to turn its claims into sustained control with coast guard and militia hulls backed by navy ships. Most of this happens below the threshold of war. A recent example: on October 20, China said it tracked USS Charleston near Sabina Shoal and accused it of entering without permission, while the U.S. called it routine operations in international waters. Our game captures the tradeoff between presence, control and escalation, with two players, Blue and Red. Real encounters cannot be rerun, so a wargame lets us test strategies safely. Existing models each capture a piece, and we combine them in one general-sum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full formulation behind the timeline. The state is ships by type and node, each ship's endurance, the control index of each zone, the escalation level and the sea state of each region. Ships move along edges of the network, with no ships created or lost, and each side gets a fixed number of moves per period. Local strength weights hulls by type and multiplies by 1.5 when a side asserts. Each incident raises the escalation level by one, and a quiet period lowers it by one with probability mu. If it reaches 5, that is war and the game ends. Each side's payoff is its discounted stage payoffs minus 200 at war, paid by both sides, so the game is general-sum.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This is the decision rule behind most of our results, solved with Gurobi every period. The binary y sends each free ship to a node. Because control and incident risk are nonlinear in ship counts, we list every option for each zone, a hull count and a posture, and compute its value and risk in advance. That keeps the program linear. The objective is control value minus incident cost minus fuel. The key constraint is the last one. Expected incidents this period must stay under the risk budget epsilon, which shrinks to zero as the escalation level nears war. Conservative, moderate and aggressive commanders are budgets of 0.05, 0.15 and 0.40. The slack xi only covers risk from ships forced home through occupied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of a typhoon-weather game, Nash equilibrium plan against the MIP best response, with rough seas over the Center.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of the prototype. Switch to the GUI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001000" y="1097280"/>
            <a:ext cx="3886200" cy="28346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001000" y="4343400"/>
            <a:ext cx="3886200" cy="1463040"/>
          </a:xfrm>
          <a:prstGeom prst="rect">
            <a:avLst/>
          </a:prstGeom>
          <a:noFill/>
          <a:ln/>
        </p:spPr>
        <p:txBody>
          <a:bodyPr wrap="square" rtlCol="0"/>
          <a:lstStyle>
            <a:lvl1pPr algn="l" indent="0" marL="0">
              <a:buNone/>
              <a:defRPr lang="en-US" sz="1600" dirty="0">
                <a:solidFill>
                  <a:schemeClr val="accent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0B1F3A"/>
          </a:solidFill>
          <a:ln/>
        </p:spPr>
      </p:sp>
      <p:sp>
        <p:nvSpPr>
          <p:cNvPr id="3" name="Shape 1"/>
          <p:cNvSpPr/>
          <p:nvPr/>
        </p:nvSpPr>
        <p:spPr>
          <a:xfrm>
            <a:off x="0" y="128016"/>
            <a:ext cx="12191695" cy="36576"/>
          </a:xfrm>
          <a:prstGeom prst="rect">
            <a:avLst/>
          </a:prstGeom>
          <a:solidFill>
            <a:srgbClr val="D4AF37"/>
          </a:solidFill>
          <a:ln/>
        </p:spPr>
      </p:sp>
      <p:sp>
        <p:nvSpPr>
          <p:cNvPr id="4" name="Shape 2"/>
          <p:cNvSpPr/>
          <p:nvPr/>
        </p:nvSpPr>
        <p:spPr>
          <a:xfrm>
            <a:off x="5593385" y="1069848"/>
            <a:ext cx="1005840" cy="45720"/>
          </a:xfrm>
          <a:prstGeom prst="rect">
            <a:avLst/>
          </a:prstGeom>
          <a:solidFill>
            <a:srgbClr val="D4AF37"/>
          </a:solidFill>
          <a:ln/>
        </p:spPr>
      </p:sp>
      <p:sp>
        <p:nvSpPr>
          <p:cNvPr id="5" name="Text 3"/>
          <p:cNvSpPr/>
          <p:nvPr>
            <p:ph idx="103"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4-1.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g1" descr="/Users/seanbowman/Documents/MIT/Fall26/6.s974/repo/slides/assets/title_chafee.jpg">    </p:cNvPr>
          <p:cNvPicPr>
            <a:picLocks noChangeAspect="1"/>
          </p:cNvPicPr>
          <p:nvPr/>
        </p:nvPicPr>
        <p:blipFill>
          <a:blip r:embed="rId1"/>
          <a:stretch>
            <a:fillRect/>
          </a:stretch>
        </p:blipFill>
        <p:spPr>
          <a:xfrm>
            <a:off x="0" y="0"/>
            <a:ext cx="12191695" cy="6858000"/>
          </a:xfrm>
          <a:prstGeom prst="rect">
            <a:avLst/>
          </a:prstGeom>
        </p:spPr>
      </p:pic>
      <p:sp>
        <p:nvSpPr>
          <p:cNvPr id="3" name="gold2"/>
          <p:cNvSpPr/>
          <p:nvPr/>
        </p:nvSpPr>
        <p:spPr>
          <a:xfrm>
            <a:off x="8001000" y="4069080"/>
            <a:ext cx="1463040" cy="64008"/>
          </a:xfrm>
          <a:prstGeom prst="rect">
            <a:avLst/>
          </a:prstGeom>
          <a:solidFill>
            <a:schemeClr val="accent3"/>
          </a:solidFill>
          <a:ln w="12700">
            <a:solidFill>
              <a:schemeClr val="accent3"/>
            </a:solidFill>
            <a:prstDash val="solid"/>
          </a:ln>
        </p:spPr>
      </p:sp>
      <p:sp>
        <p:nvSpPr>
          <p:cNvPr id="4" name="t3"/>
          <p:cNvSpPr txBox="1"/>
          <p:nvPr/>
        </p:nvSpPr>
        <p:spPr>
          <a:xfrm>
            <a:off x="8778240" y="6510528"/>
            <a:ext cx="3200400" cy="228600"/>
          </a:xfrm>
          <a:prstGeom prst="rect">
            <a:avLst/>
          </a:prstGeom>
          <a:noFill/>
          <a:ln/>
        </p:spPr>
        <p:txBody>
          <a:bodyPr wrap="square" lIns="0" tIns="0" rIns="0" bIns="0" rtlCol="0" anchor="ctr"/>
          <a:lstStyle/>
          <a:p>
            <a:pPr algn="r" indent="0" marL="0">
              <a:buNone/>
            </a:pPr>
            <a:r>
              <a:rPr lang="en-US" sz="900" dirty="0">
                <a:solidFill>
                  <a:schemeClr val="bg1"/>
                </a:solidFill>
              </a:rPr>
              <a:t>USS Chafee (DDG 90). U.S. Navy photo</a:t>
            </a:r>
            <a:endParaRPr lang="en-US" sz="900" dirty="0"/>
          </a:p>
        </p:txBody>
      </p:sp>
      <p:sp>
        <p:nvSpPr>
          <p:cNvPr id="5" name="Text 0"/>
          <p:cNvSpPr/>
          <p:nvPr>
            <p:ph idx="100" type="title" hasCustomPrompt="1"/>
          </p:nvPr>
        </p:nvSpPr>
        <p:spPr>
          <a:xfrm>
            <a:off x="8001000" y="1097280"/>
            <a:ext cx="3886200" cy="2834640"/>
          </a:xfrm>
          <a:prstGeom prst="rect">
            <a:avLst/>
          </a:prstGeom>
          <a:noFill/>
          <a:ln/>
        </p:spPr>
        <p:txBody>
          <a:bodyPr wrap="square" rtlCol="0" anchor="b"/>
          <a:lstStyle/>
          <a:p>
            <a:pPr algn="l" indent="0" marL="0">
              <a:buNone/>
            </a:pPr>
            <a:r>
              <a:rPr lang="en-US" sz="3200" b="1" dirty="0">
                <a:solidFill>
                  <a:schemeClr val="bg1"/>
                </a:solidFill>
              </a:rPr>
              <a:t>Gray-Zone Maritime Control in the First Island Chain</a:t>
            </a:r>
            <a:endParaRPr lang="en-US" sz="3200" dirty="0"/>
          </a:p>
        </p:txBody>
      </p:sp>
      <p:sp>
        <p:nvSpPr>
          <p:cNvPr id="6" name="Text 0"/>
          <p:cNvSpPr/>
          <p:nvPr>
            <p:ph idx="101" type="body" hasCustomPrompt="1"/>
          </p:nvPr>
        </p:nvSpPr>
        <p:spPr>
          <a:xfrm>
            <a:off x="8001000" y="4343400"/>
            <a:ext cx="3886200" cy="1463040"/>
          </a:xfrm>
          <a:prstGeom prst="rect">
            <a:avLst/>
          </a:prstGeom>
          <a:noFill/>
          <a:ln/>
        </p:spPr>
        <p:txBody>
          <a:bodyPr wrap="square" rtlCol="0" anchor="t"/>
          <a:lstStyle/>
          <a:p>
            <a:pPr algn="l" indent="0" marL="0">
              <a:buNone/>
            </a:pPr>
            <a:r>
              <a:rPr lang="en-US" sz="1600" dirty="0">
                <a:solidFill>
                  <a:schemeClr val="accent3"/>
                </a:solidFill>
              </a:rPr>
              <a:t>A networked escalation game</a:t>
            </a:r>
            <a:endParaRPr lang="en-US" sz="1600" dirty="0"/>
          </a:p>
          <a:p>
            <a:pPr algn="l" indent="0" marL="0">
              <a:buNone/>
            </a:pPr>
            <a:r>
              <a:rPr lang="en-US" sz="1600" dirty="0">
                <a:solidFill>
                  <a:schemeClr val="accent3"/>
                </a:solidFill>
              </a:rPr>
              <a:t>Workshop 1</a:t>
            </a:r>
            <a:endParaRPr lang="en-US" sz="1600" dirty="0"/>
          </a:p>
          <a:p>
            <a:pPr algn="l" indent="0" marL="0">
              <a:buNone/>
            </a:pPr>
            <a:r>
              <a:rPr lang="en-US" sz="1600" dirty="0">
                <a:solidFill>
                  <a:schemeClr val="accent3"/>
                </a:solidFill>
              </a:rPr>
              <a:t>Sean Bowman, Tate Murphy,</a:t>
            </a:r>
            <a:endParaRPr lang="en-US" sz="1600" dirty="0"/>
          </a:p>
          <a:p>
            <a:pPr algn="l" indent="0" marL="0">
              <a:buNone/>
            </a:pPr>
            <a:r>
              <a:rPr lang="en-US" sz="1600" dirty="0">
                <a:solidFill>
                  <a:schemeClr val="accent3"/>
                </a:solidFill>
              </a:rPr>
              <a:t>Matthew Newell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t4"/>
          <p:cNvSpPr txBox="1"/>
          <p:nvPr/>
        </p:nvSpPr>
        <p:spPr>
          <a:xfrm>
            <a:off x="548640" y="1280160"/>
            <a:ext cx="6766560" cy="365760"/>
          </a:xfrm>
          <a:prstGeom prst="rect">
            <a:avLst/>
          </a:prstGeom>
          <a:noFill/>
          <a:ln/>
        </p:spPr>
        <p:txBody>
          <a:bodyPr wrap="square" lIns="0" tIns="0" rIns="0" bIns="0" rtlCol="0" anchor="ctr"/>
          <a:lstStyle/>
          <a:p>
            <a:pPr indent="0" marL="0">
              <a:buNone/>
            </a:pPr>
            <a:r>
              <a:rPr lang="en-US" sz="1800" b="1" dirty="0">
                <a:solidFill>
                  <a:schemeClr val="tx2"/>
                </a:solidFill>
              </a:rPr>
              <a:t>Strategic context</a:t>
            </a:r>
            <a:endParaRPr lang="en-US" sz="1800" dirty="0"/>
          </a:p>
        </p:txBody>
      </p:sp>
      <p:sp>
        <p:nvSpPr>
          <p:cNvPr id="4" name="t5"/>
          <p:cNvSpPr txBox="1"/>
          <p:nvPr/>
        </p:nvSpPr>
        <p:spPr>
          <a:xfrm>
            <a:off x="548640" y="1691640"/>
            <a:ext cx="6766560" cy="3886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The South China Sea is a major maritime trade route and a contested strategic region.</a:t>
            </a:r>
            <a:endParaRPr lang="en-US" sz="1350" dirty="0"/>
          </a:p>
          <a:p>
            <a:pPr marL="342900" indent="-342900">
              <a:spcAft>
                <a:spcPts val="600"/>
              </a:spcAft>
              <a:buSzPct val="100000"/>
              <a:buChar char="•"/>
            </a:pPr>
            <a:r>
              <a:rPr lang="en-US" sz="1350" dirty="0">
                <a:solidFill>
                  <a:schemeClr val="tx1"/>
                </a:solidFill>
              </a:rPr>
              <a:t>The United States conducts naval operations to uphold navigational rights and challenge excessive maritime claims.</a:t>
            </a:r>
            <a:endParaRPr lang="en-US" sz="1350" dirty="0"/>
          </a:p>
          <a:p>
            <a:pPr marL="342900" indent="-342900">
              <a:spcAft>
                <a:spcPts val="600"/>
              </a:spcAft>
              <a:buSzPct val="100000"/>
              <a:buChar char="•"/>
            </a:pPr>
            <a:r>
              <a:rPr lang="en-US" sz="1350" dirty="0">
                <a:solidFill>
                  <a:schemeClr val="tx1"/>
                </a:solidFill>
              </a:rPr>
              <a:t>China seeks to turn its maritime claims into sustained control, with persistent coast guard and militia presence backed by navy ships.</a:t>
            </a:r>
            <a:endParaRPr lang="en-US" sz="1350" dirty="0"/>
          </a:p>
          <a:p>
            <a:pPr marL="342900" indent="-342900">
              <a:spcAft>
                <a:spcPts val="600"/>
              </a:spcAft>
              <a:buSzPct val="100000"/>
              <a:buChar char="•"/>
            </a:pPr>
            <a:r>
              <a:rPr lang="en-US" sz="1350" dirty="0">
                <a:solidFill>
                  <a:schemeClr val="tx1"/>
                </a:solidFill>
              </a:rPr>
              <a:t>Much of this competition takes place below the threshold of war.</a:t>
            </a:r>
            <a:endParaRPr lang="en-US" sz="1350" dirty="0"/>
          </a:p>
          <a:p>
            <a:pPr marL="342900" indent="-342900">
              <a:spcAft>
                <a:spcPts val="600"/>
              </a:spcAft>
              <a:buSzPct val="100000"/>
              <a:buChar char="•"/>
            </a:pPr>
            <a:r>
              <a:rPr lang="en-US" sz="1350" b="1" dirty="0">
                <a:solidFill>
                  <a:schemeClr val="accent2"/>
                </a:solidFill>
              </a:rPr>
              <a:t>Recent example. </a:t>
            </a:r>
            <a:pPr indent="0" marL="0">
              <a:buNone/>
            </a:pPr>
            <a:r>
              <a:rPr lang="en-US" sz="1350" dirty="0">
                <a:solidFill>
                  <a:schemeClr val="tx1"/>
                </a:solidFill>
              </a:rPr>
              <a:t>On October 20, China reported monitoring USS Charleston near Sabina Shoal and accused it of entering without authorization. The U.S. described the activity as routine operations in international waters (Reuters).</a:t>
            </a:r>
            <a:endParaRPr lang="en-US" sz="1350" dirty="0"/>
          </a:p>
          <a:p>
            <a:pPr marL="342900" indent="-342900">
              <a:spcAft>
                <a:spcPts val="600"/>
              </a:spcAft>
              <a:buSzPct val="100000"/>
              <a:buChar char="•"/>
            </a:pPr>
            <a:r>
              <a:rPr lang="en-US" sz="1350" dirty="0">
                <a:solidFill>
                  <a:schemeClr val="tx1"/>
                </a:solidFill>
              </a:rPr>
              <a:t>The game captures the resulting tradeoff between presence, control and escalation. Players allocate ships and choose whether to patrol or assert. Stronger presence can improve local control, while confrontational encounters can produce incidents that raise tension across the theater. The model simplifies this regional competition into two players, Blue and Red.</a:t>
            </a:r>
            <a:endParaRPr lang="en-US" sz="1350" dirty="0"/>
          </a:p>
        </p:txBody>
      </p:sp>
      <p:sp>
        <p:nvSpPr>
          <p:cNvPr id="5" name="wb6"/>
          <p:cNvSpPr/>
          <p:nvPr/>
        </p:nvSpPr>
        <p:spPr>
          <a:xfrm>
            <a:off x="7680960" y="1280160"/>
            <a:ext cx="64008" cy="1298448"/>
          </a:xfrm>
          <a:prstGeom prst="rect">
            <a:avLst/>
          </a:prstGeom>
          <a:solidFill>
            <a:schemeClr val="accent1"/>
          </a:solidFill>
          <a:ln w="12700">
            <a:solidFill>
              <a:schemeClr val="accent1"/>
            </a:solidFill>
            <a:prstDash val="solid"/>
          </a:ln>
        </p:spPr>
      </p:sp>
      <p:sp>
        <p:nvSpPr>
          <p:cNvPr id="6" name="t7"/>
          <p:cNvSpPr txBox="1"/>
          <p:nvPr/>
        </p:nvSpPr>
        <p:spPr>
          <a:xfrm>
            <a:off x="7909560" y="1280160"/>
            <a:ext cx="3703320" cy="1325880"/>
          </a:xfrm>
          <a:prstGeom prst="rect">
            <a:avLst/>
          </a:prstGeom>
          <a:noFill/>
          <a:ln/>
        </p:spPr>
        <p:txBody>
          <a:bodyPr wrap="square" lIns="0" tIns="0" rIns="0" bIns="0" rtlCol="0" anchor="t"/>
          <a:lstStyle/>
          <a:p>
            <a:pPr indent="0" marL="0">
              <a:buNone/>
            </a:pPr>
            <a:r>
              <a:rPr lang="en-US" sz="1500" b="1" dirty="0">
                <a:solidFill>
                  <a:schemeClr val="tx2"/>
                </a:solidFill>
              </a:rPr>
              <a:t>Why a wargame</a:t>
            </a:r>
            <a:endParaRPr lang="en-US" sz="1600" dirty="0"/>
          </a:p>
          <a:p>
            <a:pPr indent="0" marL="0">
              <a:buNone/>
            </a:pPr>
            <a:r>
              <a:rPr lang="en-US" sz="1250" dirty="0">
                <a:solidFill>
                  <a:schemeClr val="tx1"/>
                </a:solidFill>
              </a:rPr>
              <a:t>Each side's best move depends on the other's, and the risk of war is shared. Real encounters cannot be rerun or varied on purpose, so a wargame lets us test strategies and force designs without real risk.</a:t>
            </a:r>
            <a:endParaRPr lang="en-US" sz="1600" dirty="0"/>
          </a:p>
        </p:txBody>
      </p:sp>
      <p:sp>
        <p:nvSpPr>
          <p:cNvPr id="7" name="wb8"/>
          <p:cNvSpPr/>
          <p:nvPr/>
        </p:nvSpPr>
        <p:spPr>
          <a:xfrm>
            <a:off x="7680960" y="2743200"/>
            <a:ext cx="64008" cy="1298448"/>
          </a:xfrm>
          <a:prstGeom prst="rect">
            <a:avLst/>
          </a:prstGeom>
          <a:solidFill>
            <a:schemeClr val="accent1"/>
          </a:solidFill>
          <a:ln w="12700">
            <a:solidFill>
              <a:schemeClr val="accent1"/>
            </a:solidFill>
            <a:prstDash val="solid"/>
          </a:ln>
        </p:spPr>
      </p:sp>
      <p:sp>
        <p:nvSpPr>
          <p:cNvPr id="8" name="t9"/>
          <p:cNvSpPr txBox="1"/>
          <p:nvPr/>
        </p:nvSpPr>
        <p:spPr>
          <a:xfrm>
            <a:off x="7909560" y="2743200"/>
            <a:ext cx="3703320" cy="1325880"/>
          </a:xfrm>
          <a:prstGeom prst="rect">
            <a:avLst/>
          </a:prstGeom>
          <a:noFill/>
          <a:ln/>
        </p:spPr>
        <p:txBody>
          <a:bodyPr wrap="square" lIns="0" tIns="0" rIns="0" bIns="0" rtlCol="0" anchor="t"/>
          <a:lstStyle/>
          <a:p>
            <a:pPr indent="0" marL="0">
              <a:buNone/>
            </a:pPr>
            <a:r>
              <a:rPr lang="en-US" sz="1500" b="1" dirty="0">
                <a:solidFill>
                  <a:schemeClr val="tx2"/>
                </a:solidFill>
              </a:rPr>
              <a:t>What models exist</a:t>
            </a:r>
            <a:endParaRPr lang="en-US" sz="1600" dirty="0"/>
          </a:p>
          <a:p>
            <a:pPr indent="0" marL="0">
              <a:buNone/>
            </a:pPr>
            <a:r>
              <a:rPr lang="en-US" sz="1250" dirty="0">
                <a:solidFill>
                  <a:schemeClr val="tx1"/>
                </a:solidFill>
              </a:rPr>
              <a:t>Gray-zone games with probabilistic adjudication (Wasser 2019), randomized patrols (Shieh 2012), network interdiction (Washburn 1995), and escalation as a shared risk (Schelling 1966).</a:t>
            </a:r>
            <a:endParaRPr lang="en-US" sz="1600" dirty="0"/>
          </a:p>
        </p:txBody>
      </p:sp>
      <p:sp>
        <p:nvSpPr>
          <p:cNvPr id="9" name="wb10"/>
          <p:cNvSpPr/>
          <p:nvPr/>
        </p:nvSpPr>
        <p:spPr>
          <a:xfrm>
            <a:off x="7680960" y="4206240"/>
            <a:ext cx="64008" cy="1298448"/>
          </a:xfrm>
          <a:prstGeom prst="rect">
            <a:avLst/>
          </a:prstGeom>
          <a:solidFill>
            <a:schemeClr val="accent3"/>
          </a:solidFill>
          <a:ln w="12700">
            <a:solidFill>
              <a:schemeClr val="accent3"/>
            </a:solidFill>
            <a:prstDash val="solid"/>
          </a:ln>
        </p:spPr>
      </p:sp>
      <p:sp>
        <p:nvSpPr>
          <p:cNvPr id="10" name="t11"/>
          <p:cNvSpPr txBox="1"/>
          <p:nvPr/>
        </p:nvSpPr>
        <p:spPr>
          <a:xfrm>
            <a:off x="7909560" y="4206240"/>
            <a:ext cx="3703320" cy="1325880"/>
          </a:xfrm>
          <a:prstGeom prst="rect">
            <a:avLst/>
          </a:prstGeom>
          <a:noFill/>
          <a:ln/>
        </p:spPr>
        <p:txBody>
          <a:bodyPr wrap="square" lIns="0" tIns="0" rIns="0" bIns="0" rtlCol="0" anchor="t"/>
          <a:lstStyle/>
          <a:p>
            <a:pPr indent="0" marL="0">
              <a:buNone/>
            </a:pPr>
            <a:r>
              <a:rPr lang="en-US" sz="1500" b="1" dirty="0">
                <a:solidFill>
                  <a:schemeClr val="tx2"/>
                </a:solidFill>
              </a:rPr>
              <a:t>What we add</a:t>
            </a:r>
            <a:endParaRPr lang="en-US" sz="1600" dirty="0"/>
          </a:p>
          <a:p>
            <a:pPr indent="0" marL="0">
              <a:buNone/>
            </a:pPr>
            <a:r>
              <a:rPr lang="en-US" sz="1250" dirty="0">
                <a:solidFill>
                  <a:schemeClr val="tx1"/>
                </a:solidFill>
              </a:rPr>
              <a:t>Maritime allocation, evolving control and shared escalation risk in one general-sum game, with computational rules so we can compare strategies and designs across thousands of games.</a:t>
            </a:r>
            <a:endParaRPr lang="en-US" sz="1600" dirty="0"/>
          </a:p>
        </p:txBody>
      </p:sp>
      <p:sp>
        <p:nvSpPr>
          <p:cNvPr id="11" name="tk12"/>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2" name="t13"/>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4"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5"/>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16"/>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17"/>
          <p:cNvSpPr/>
          <p:nvPr/>
        </p:nvSpPr>
        <p:spPr>
          <a:xfrm>
            <a:off x="548640" y="1325880"/>
            <a:ext cx="731520" cy="731520"/>
          </a:xfrm>
          <a:prstGeom prst="ellipse">
            <a:avLst/>
          </a:prstGeom>
          <a:solidFill>
            <a:schemeClr val="accent1"/>
          </a:solidFill>
          <a:ln/>
        </p:spPr>
      </p:sp>
      <p:sp>
        <p:nvSpPr>
          <p:cNvPr id="4" name="t18"/>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19"/>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0"/>
          <p:cNvSpPr/>
          <p:nvPr/>
        </p:nvSpPr>
        <p:spPr>
          <a:xfrm>
            <a:off x="548640" y="2788920"/>
            <a:ext cx="731520" cy="731520"/>
          </a:xfrm>
          <a:prstGeom prst="ellipse">
            <a:avLst/>
          </a:prstGeom>
          <a:solidFill>
            <a:schemeClr val="accent1"/>
          </a:solidFill>
          <a:ln/>
        </p:spPr>
      </p:sp>
      <p:sp>
        <p:nvSpPr>
          <p:cNvPr id="7" name="t21"/>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2"/>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3"/>
          <p:cNvSpPr/>
          <p:nvPr/>
        </p:nvSpPr>
        <p:spPr>
          <a:xfrm>
            <a:off x="548640" y="4251960"/>
            <a:ext cx="731520" cy="731520"/>
          </a:xfrm>
          <a:prstGeom prst="ellipse">
            <a:avLst/>
          </a:prstGeom>
          <a:solidFill>
            <a:schemeClr val="accent1"/>
          </a:solidFill>
          <a:ln/>
        </p:spPr>
      </p:sp>
      <p:sp>
        <p:nvSpPr>
          <p:cNvPr id="10" name="t24"/>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5"/>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27"/>
          <p:cNvSpPr/>
          <p:nvPr/>
        </p:nvSpPr>
        <p:spPr>
          <a:xfrm>
            <a:off x="548640" y="1280160"/>
            <a:ext cx="457200" cy="457200"/>
          </a:xfrm>
          <a:prstGeom prst="ellipse">
            <a:avLst/>
          </a:prstGeom>
          <a:solidFill>
            <a:schemeClr val="accent4"/>
          </a:solidFill>
          <a:ln/>
        </p:spPr>
      </p:sp>
      <p:sp>
        <p:nvSpPr>
          <p:cNvPr id="4" name="t28"/>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29"/>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0"/>
          <p:cNvSpPr/>
          <p:nvPr/>
        </p:nvSpPr>
        <p:spPr>
          <a:xfrm>
            <a:off x="548640" y="1883664"/>
            <a:ext cx="457200" cy="457200"/>
          </a:xfrm>
          <a:prstGeom prst="ellipse">
            <a:avLst/>
          </a:prstGeom>
          <a:solidFill>
            <a:schemeClr val="accent1"/>
          </a:solidFill>
          <a:ln/>
        </p:spPr>
      </p:sp>
      <p:sp>
        <p:nvSpPr>
          <p:cNvPr id="7" name="t31"/>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2"/>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3"/>
          <p:cNvSpPr/>
          <p:nvPr/>
        </p:nvSpPr>
        <p:spPr>
          <a:xfrm>
            <a:off x="548640" y="2487168"/>
            <a:ext cx="457200" cy="457200"/>
          </a:xfrm>
          <a:prstGeom prst="ellipse">
            <a:avLst/>
          </a:prstGeom>
          <a:solidFill>
            <a:schemeClr val="accent1"/>
          </a:solidFill>
          <a:ln/>
        </p:spPr>
      </p:sp>
      <p:sp>
        <p:nvSpPr>
          <p:cNvPr id="10" name="t34"/>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5"/>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36"/>
          <p:cNvSpPr/>
          <p:nvPr/>
        </p:nvSpPr>
        <p:spPr>
          <a:xfrm>
            <a:off x="548640" y="3090672"/>
            <a:ext cx="457200" cy="457200"/>
          </a:xfrm>
          <a:prstGeom prst="ellipse">
            <a:avLst/>
          </a:prstGeom>
          <a:solidFill>
            <a:schemeClr val="accent1"/>
          </a:solidFill>
          <a:ln/>
        </p:spPr>
      </p:sp>
      <p:sp>
        <p:nvSpPr>
          <p:cNvPr id="13" name="t37"/>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38"/>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39"/>
          <p:cNvSpPr/>
          <p:nvPr/>
        </p:nvSpPr>
        <p:spPr>
          <a:xfrm>
            <a:off x="548640" y="3694176"/>
            <a:ext cx="457200" cy="457200"/>
          </a:xfrm>
          <a:prstGeom prst="ellipse">
            <a:avLst/>
          </a:prstGeom>
          <a:solidFill>
            <a:schemeClr val="accent1"/>
          </a:solidFill>
          <a:ln/>
        </p:spPr>
      </p:sp>
      <p:sp>
        <p:nvSpPr>
          <p:cNvPr id="16" name="t40"/>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1"/>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2"/>
          <p:cNvSpPr/>
          <p:nvPr/>
        </p:nvSpPr>
        <p:spPr>
          <a:xfrm>
            <a:off x="548640" y="4297680"/>
            <a:ext cx="457200" cy="457200"/>
          </a:xfrm>
          <a:prstGeom prst="ellipse">
            <a:avLst/>
          </a:prstGeom>
          <a:solidFill>
            <a:schemeClr val="accent2"/>
          </a:solidFill>
          <a:ln/>
        </p:spPr>
      </p:sp>
      <p:sp>
        <p:nvSpPr>
          <p:cNvPr id="19" name="t43"/>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4"/>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5"/>
          <p:cNvSpPr/>
          <p:nvPr/>
        </p:nvSpPr>
        <p:spPr>
          <a:xfrm>
            <a:off x="548640" y="4901184"/>
            <a:ext cx="457200" cy="457200"/>
          </a:xfrm>
          <a:prstGeom prst="ellipse">
            <a:avLst/>
          </a:prstGeom>
          <a:solidFill>
            <a:schemeClr val="accent1"/>
          </a:solidFill>
          <a:ln/>
        </p:spPr>
      </p:sp>
      <p:sp>
        <p:nvSpPr>
          <p:cNvPr id="22" name="t46"/>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47"/>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49"/>
          <p:cNvSpPr txBox="1"/>
          <p:nvPr/>
        </p:nvSpPr>
        <p:spPr>
          <a:xfrm>
            <a:off x="6537960" y="1417320"/>
            <a:ext cx="4846320" cy="274320"/>
          </a:xfrm>
          <a:prstGeom prst="rect">
            <a:avLst/>
          </a:prstGeom>
          <a:noFill/>
          <a:ln/>
        </p:spPr>
        <p:txBody>
          <a:bodyPr wrap="square" lIns="0" tIns="0" rIns="0" bIns="0" rtlCol="0" anchor="ctr"/>
          <a:lstStyle/>
          <a:p>
            <a:pPr indent="0" marL="0">
              <a:buNone/>
            </a:pPr>
            <a:r>
              <a:rPr lang="en-US" sz="1500" b="1" dirty="0">
                <a:solidFill>
                  <a:schemeClr val="accent1"/>
                </a:solidFill>
              </a:rPr>
              <a:t>Control of zone v</a:t>
            </a:r>
            <a:endParaRPr lang="en-US" sz="1500" dirty="0"/>
          </a:p>
        </p:txBody>
      </p:sp>
      <p:pic>
        <p:nvPicPr>
          <p:cNvPr id="26" name="eq50" descr="/Users/seanbowman/Documents/MIT/Fall26/6.s974/repo/slides/eqs/control.png">    </p:cNvPr>
          <p:cNvPicPr>
            <a:picLocks noChangeAspect="1"/>
          </p:cNvPicPr>
          <p:nvPr/>
        </p:nvPicPr>
        <p:blipFill>
          <a:blip r:embed="rId1"/>
          <a:stretch>
            <a:fillRect/>
          </a:stretch>
        </p:blipFill>
        <p:spPr>
          <a:xfrm>
            <a:off x="6583680" y="1746504"/>
            <a:ext cx="4125087" cy="477317"/>
          </a:xfrm>
          <a:prstGeom prst="rect">
            <a:avLst/>
          </a:prstGeom>
        </p:spPr>
      </p:pic>
      <p:sp>
        <p:nvSpPr>
          <p:cNvPr id="27" name="t51"/>
          <p:cNvSpPr txBox="1"/>
          <p:nvPr/>
        </p:nvSpPr>
        <p:spPr>
          <a:xfrm>
            <a:off x="6537960" y="2296973"/>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Presence builds control slowly. Leaving lets it decay.</a:t>
            </a:r>
            <a:endParaRPr lang="en-US" sz="1200" dirty="0"/>
          </a:p>
        </p:txBody>
      </p:sp>
      <p:sp>
        <p:nvSpPr>
          <p:cNvPr id="28" name="t52"/>
          <p:cNvSpPr txBox="1"/>
          <p:nvPr/>
        </p:nvSpPr>
        <p:spPr>
          <a:xfrm>
            <a:off x="6537960" y="2735885"/>
            <a:ext cx="4846320" cy="274320"/>
          </a:xfrm>
          <a:prstGeom prst="rect">
            <a:avLst/>
          </a:prstGeom>
          <a:noFill/>
          <a:ln/>
        </p:spPr>
        <p:txBody>
          <a:bodyPr wrap="square" lIns="0" tIns="0" rIns="0" bIns="0" rtlCol="0" anchor="ctr"/>
          <a:lstStyle/>
          <a:p>
            <a:pPr indent="0" marL="0">
              <a:buNone/>
            </a:pPr>
            <a:r>
              <a:rPr lang="en-US" sz="1500" b="1" dirty="0">
                <a:solidFill>
                  <a:schemeClr val="accent2"/>
                </a:solidFill>
              </a:rPr>
              <a:t>Incident chance</a:t>
            </a:r>
            <a:endParaRPr lang="en-US" sz="1500" dirty="0"/>
          </a:p>
        </p:txBody>
      </p:sp>
      <p:pic>
        <p:nvPicPr>
          <p:cNvPr id="29" name="eq53" descr="/Users/seanbowman/Documents/MIT/Fall26/6.s974/repo/slides/eqs/hazard.png">    </p:cNvPr>
          <p:cNvPicPr>
            <a:picLocks noChangeAspect="1"/>
          </p:cNvPicPr>
          <p:nvPr/>
        </p:nvPicPr>
        <p:blipFill>
          <a:blip r:embed="rId2"/>
          <a:stretch>
            <a:fillRect/>
          </a:stretch>
        </p:blipFill>
        <p:spPr>
          <a:xfrm>
            <a:off x="6583680" y="3065069"/>
            <a:ext cx="4330827" cy="588416"/>
          </a:xfrm>
          <a:prstGeom prst="rect">
            <a:avLst/>
          </a:prstGeom>
        </p:spPr>
      </p:pic>
      <p:sp>
        <p:nvSpPr>
          <p:cNvPr id="30" name="t54"/>
          <p:cNvSpPr txBox="1"/>
          <p:nvPr/>
        </p:nvSpPr>
        <p:spPr>
          <a:xfrm>
            <a:off x="6537960" y="3726637"/>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Needs both sides present. Grows with assertion and with the escalation level ℓ.</a:t>
            </a:r>
            <a:endParaRPr lang="en-US" sz="1200" dirty="0"/>
          </a:p>
        </p:txBody>
      </p:sp>
      <p:sp>
        <p:nvSpPr>
          <p:cNvPr id="31" name="t55"/>
          <p:cNvSpPr txBox="1"/>
          <p:nvPr/>
        </p:nvSpPr>
        <p:spPr>
          <a:xfrm>
            <a:off x="6537960" y="4165549"/>
            <a:ext cx="4846320" cy="274320"/>
          </a:xfrm>
          <a:prstGeom prst="rect">
            <a:avLst/>
          </a:prstGeom>
          <a:noFill/>
          <a:ln/>
        </p:spPr>
        <p:txBody>
          <a:bodyPr wrap="square" lIns="0" tIns="0" rIns="0" bIns="0" rtlCol="0" anchor="ctr"/>
          <a:lstStyle/>
          <a:p>
            <a:pPr indent="0" marL="0">
              <a:buNone/>
            </a:pPr>
            <a:r>
              <a:rPr lang="en-US" sz="1500" b="1" dirty="0">
                <a:solidFill>
                  <a:schemeClr val="tx2"/>
                </a:solidFill>
              </a:rPr>
              <a:t>Stage payoff</a:t>
            </a:r>
            <a:endParaRPr lang="en-US" sz="1500" dirty="0"/>
          </a:p>
        </p:txBody>
      </p:sp>
      <p:pic>
        <p:nvPicPr>
          <p:cNvPr id="32" name="eq56" descr="/Users/seanbowman/Documents/MIT/Fall26/6.s974/repo/slides/eqs/stage.png">    </p:cNvPr>
          <p:cNvPicPr>
            <a:picLocks noChangeAspect="1"/>
          </p:cNvPicPr>
          <p:nvPr/>
        </p:nvPicPr>
        <p:blipFill>
          <a:blip r:embed="rId3"/>
          <a:stretch>
            <a:fillRect/>
          </a:stretch>
        </p:blipFill>
        <p:spPr>
          <a:xfrm>
            <a:off x="6583680" y="4494733"/>
            <a:ext cx="3904945" cy="485546"/>
          </a:xfrm>
          <a:prstGeom prst="rect">
            <a:avLst/>
          </a:prstGeom>
        </p:spPr>
      </p:pic>
      <p:sp>
        <p:nvSpPr>
          <p:cNvPr id="33" name="t57"/>
          <p:cNvSpPr txBox="1"/>
          <p:nvPr/>
        </p:nvSpPr>
        <p:spPr>
          <a:xfrm>
            <a:off x="6537960" y="5053432"/>
            <a:ext cx="4846320" cy="274320"/>
          </a:xfrm>
          <a:prstGeom prst="rect">
            <a:avLst/>
          </a:prstGeom>
          <a:noFill/>
          <a:ln/>
        </p:spPr>
        <p:txBody>
          <a:bodyPr wrap="square" lIns="0" tIns="0" rIns="0" bIns="0" rtlCol="0" anchor="ctr"/>
          <a:lstStyle/>
          <a:p>
            <a:pPr indent="0" marL="0">
              <a:buNone/>
            </a:pPr>
            <a:r>
              <a:rPr lang="en-US" sz="1200" dirty="0">
                <a:solidFill>
                  <a:schemeClr val="accent5"/>
                </a:solidFill>
              </a:rPr>
              <a:t>Control value minus fuel, tension and Blue's redesign cost. Both pay W = 200 at war.</a:t>
            </a:r>
            <a:endParaRPr lang="en-US" sz="1200" dirty="0"/>
          </a:p>
        </p:txBody>
      </p:sp>
      <p:sp>
        <p:nvSpPr>
          <p:cNvPr id="34" name="tk58"/>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35" name="t5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Formulation: state, moves, escalation and payoffs</a:t>
            </a:r>
            <a:endParaRPr lang="en-US" sz="2800" dirty="0"/>
          </a:p>
        </p:txBody>
      </p:sp>
      <p:sp>
        <p:nvSpPr>
          <p:cNvPr id="3" name="t60"/>
          <p:cNvSpPr txBox="1"/>
          <p:nvPr/>
        </p:nvSpPr>
        <p:spPr>
          <a:xfrm>
            <a:off x="548640" y="1280160"/>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State</a:t>
            </a:r>
            <a:endParaRPr lang="en-US" sz="1500" dirty="0"/>
          </a:p>
          <a:p>
            <a:pPr indent="0" marL="0">
              <a:buNone/>
            </a:pPr>
            <a:r>
              <a:rPr lang="en-US" sz="1100" dirty="0">
                <a:solidFill>
                  <a:schemeClr val="accent5"/>
                </a:solidFill>
              </a:rPr>
              <a:t>Ships by type and node, endurance, control, escalation level, sea state</a:t>
            </a:r>
            <a:endParaRPr lang="en-US" sz="1500" dirty="0"/>
          </a:p>
        </p:txBody>
      </p:sp>
      <p:pic>
        <p:nvPicPr>
          <p:cNvPr id="4" name="eq61" descr="/Users/seanbowman/Documents/MIT/Fall26/6.s974/repo/slides/eqs/state.png">    </p:cNvPr>
          <p:cNvPicPr>
            <a:picLocks noChangeAspect="1"/>
          </p:cNvPicPr>
          <p:nvPr/>
        </p:nvPicPr>
        <p:blipFill>
          <a:blip r:embed="rId1"/>
          <a:stretch>
            <a:fillRect/>
          </a:stretch>
        </p:blipFill>
        <p:spPr>
          <a:xfrm>
            <a:off x="3840480" y="1280160"/>
            <a:ext cx="7772400" cy="244697"/>
          </a:xfrm>
          <a:prstGeom prst="rect">
            <a:avLst/>
          </a:prstGeom>
        </p:spPr>
      </p:pic>
      <p:sp>
        <p:nvSpPr>
          <p:cNvPr id="5" name="fl62"/>
          <p:cNvSpPr/>
          <p:nvPr/>
        </p:nvSpPr>
        <p:spPr>
          <a:xfrm>
            <a:off x="548640" y="1819656"/>
            <a:ext cx="11064240" cy="0"/>
          </a:xfrm>
          <a:prstGeom prst="line">
            <a:avLst/>
          </a:prstGeom>
          <a:noFill/>
          <a:ln w="6350">
            <a:solidFill>
              <a:schemeClr val="accent6"/>
            </a:solidFill>
            <a:prstDash val="solid"/>
          </a:ln>
        </p:spPr>
      </p:sp>
      <p:sp>
        <p:nvSpPr>
          <p:cNvPr id="6" name="t63"/>
          <p:cNvSpPr txBox="1"/>
          <p:nvPr/>
        </p:nvSpPr>
        <p:spPr>
          <a:xfrm>
            <a:off x="548640" y="188366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Flow conservation</a:t>
            </a:r>
            <a:endParaRPr lang="en-US" sz="1500" dirty="0"/>
          </a:p>
          <a:p>
            <a:pPr indent="0" marL="0">
              <a:buNone/>
            </a:pPr>
            <a:r>
              <a:rPr lang="en-US" sz="1100" dirty="0">
                <a:solidFill>
                  <a:schemeClr val="accent5"/>
                </a:solidFill>
              </a:rPr>
              <a:t>No ships are added or removed</a:t>
            </a:r>
            <a:endParaRPr lang="en-US" sz="1500" dirty="0"/>
          </a:p>
        </p:txBody>
      </p:sp>
      <p:pic>
        <p:nvPicPr>
          <p:cNvPr id="7" name="eq64" descr="/Users/seanbowman/Documents/MIT/Fall26/6.s974/repo/slides/eqs/flow.png">    </p:cNvPr>
          <p:cNvPicPr>
            <a:picLocks noChangeAspect="1"/>
          </p:cNvPicPr>
          <p:nvPr/>
        </p:nvPicPr>
        <p:blipFill>
          <a:blip r:embed="rId2"/>
          <a:stretch>
            <a:fillRect/>
          </a:stretch>
        </p:blipFill>
        <p:spPr>
          <a:xfrm>
            <a:off x="3840480" y="1883664"/>
            <a:ext cx="3491484" cy="559079"/>
          </a:xfrm>
          <a:prstGeom prst="rect">
            <a:avLst/>
          </a:prstGeom>
        </p:spPr>
      </p:pic>
      <p:sp>
        <p:nvSpPr>
          <p:cNvPr id="8" name="fl65"/>
          <p:cNvSpPr/>
          <p:nvPr/>
        </p:nvSpPr>
        <p:spPr>
          <a:xfrm>
            <a:off x="548640" y="2470175"/>
            <a:ext cx="11064240" cy="0"/>
          </a:xfrm>
          <a:prstGeom prst="line">
            <a:avLst/>
          </a:prstGeom>
          <a:noFill/>
          <a:ln w="6350">
            <a:solidFill>
              <a:schemeClr val="accent6"/>
            </a:solidFill>
            <a:prstDash val="solid"/>
          </a:ln>
        </p:spPr>
      </p:sp>
      <p:sp>
        <p:nvSpPr>
          <p:cNvPr id="9" name="t66"/>
          <p:cNvSpPr txBox="1"/>
          <p:nvPr/>
        </p:nvSpPr>
        <p:spPr>
          <a:xfrm>
            <a:off x="548640" y="253418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Movement budget</a:t>
            </a:r>
            <a:endParaRPr lang="en-US" sz="1500" dirty="0"/>
          </a:p>
          <a:p>
            <a:pPr indent="0" marL="0">
              <a:buNone/>
            </a:pPr>
            <a:r>
              <a:rPr lang="en-US" sz="1100" dirty="0">
                <a:solidFill>
                  <a:schemeClr val="accent5"/>
                </a:solidFill>
              </a:rPr>
              <a:t>At most Fᵢ ship moves per period (8 Blue, 10 Red)</a:t>
            </a:r>
            <a:endParaRPr lang="en-US" sz="1500" dirty="0"/>
          </a:p>
        </p:txBody>
      </p:sp>
      <p:pic>
        <p:nvPicPr>
          <p:cNvPr id="10" name="eq67" descr="/Users/seanbowman/Documents/MIT/Fall26/6.s974/repo/slides/eqs/budget.png">    </p:cNvPr>
          <p:cNvPicPr>
            <a:picLocks noChangeAspect="1"/>
          </p:cNvPicPr>
          <p:nvPr/>
        </p:nvPicPr>
        <p:blipFill>
          <a:blip r:embed="rId3"/>
          <a:stretch>
            <a:fillRect/>
          </a:stretch>
        </p:blipFill>
        <p:spPr>
          <a:xfrm>
            <a:off x="3840480" y="2534183"/>
            <a:ext cx="1739113" cy="559079"/>
          </a:xfrm>
          <a:prstGeom prst="rect">
            <a:avLst/>
          </a:prstGeom>
        </p:spPr>
      </p:pic>
      <p:sp>
        <p:nvSpPr>
          <p:cNvPr id="11" name="fl68"/>
          <p:cNvSpPr/>
          <p:nvPr/>
        </p:nvSpPr>
        <p:spPr>
          <a:xfrm>
            <a:off x="548640" y="3120695"/>
            <a:ext cx="11064240" cy="0"/>
          </a:xfrm>
          <a:prstGeom prst="line">
            <a:avLst/>
          </a:prstGeom>
          <a:noFill/>
          <a:ln w="6350">
            <a:solidFill>
              <a:schemeClr val="accent6"/>
            </a:solidFill>
            <a:prstDash val="solid"/>
          </a:ln>
        </p:spPr>
      </p:sp>
      <p:sp>
        <p:nvSpPr>
          <p:cNvPr id="12" name="t69"/>
          <p:cNvSpPr txBox="1"/>
          <p:nvPr/>
        </p:nvSpPr>
        <p:spPr>
          <a:xfrm>
            <a:off x="548640" y="3184703"/>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Local strength</a:t>
            </a:r>
            <a:endParaRPr lang="en-US" sz="1500" dirty="0"/>
          </a:p>
          <a:p>
            <a:pPr indent="0" marL="0">
              <a:buNone/>
            </a:pPr>
            <a:r>
              <a:rPr lang="en-US" sz="1100" dirty="0">
                <a:solidFill>
                  <a:schemeClr val="accent5"/>
                </a:solidFill>
              </a:rPr>
              <a:t>Hulls weighted by type (CCG 0.6, 0.3 in rough seas), × α = 1.5 when asserting</a:t>
            </a:r>
            <a:endParaRPr lang="en-US" sz="1500" dirty="0"/>
          </a:p>
        </p:txBody>
      </p:sp>
      <p:pic>
        <p:nvPicPr>
          <p:cNvPr id="13" name="eq70" descr="/Users/seanbowman/Documents/MIT/Fall26/6.s974/repo/slides/eqs/strength.png">    </p:cNvPr>
          <p:cNvPicPr>
            <a:picLocks noChangeAspect="1"/>
          </p:cNvPicPr>
          <p:nvPr/>
        </p:nvPicPr>
        <p:blipFill>
          <a:blip r:embed="rId4"/>
          <a:stretch>
            <a:fillRect/>
          </a:stretch>
        </p:blipFill>
        <p:spPr>
          <a:xfrm>
            <a:off x="3840480" y="3184703"/>
            <a:ext cx="2457298" cy="536981"/>
          </a:xfrm>
          <a:prstGeom prst="rect">
            <a:avLst/>
          </a:prstGeom>
        </p:spPr>
      </p:pic>
      <p:sp>
        <p:nvSpPr>
          <p:cNvPr id="14" name="fl71"/>
          <p:cNvSpPr/>
          <p:nvPr/>
        </p:nvSpPr>
        <p:spPr>
          <a:xfrm>
            <a:off x="548640" y="3749116"/>
            <a:ext cx="11064240" cy="0"/>
          </a:xfrm>
          <a:prstGeom prst="line">
            <a:avLst/>
          </a:prstGeom>
          <a:noFill/>
          <a:ln w="6350">
            <a:solidFill>
              <a:schemeClr val="accent6"/>
            </a:solidFill>
            <a:prstDash val="solid"/>
          </a:ln>
        </p:spPr>
      </p:sp>
      <p:sp>
        <p:nvSpPr>
          <p:cNvPr id="15" name="t72"/>
          <p:cNvSpPr txBox="1"/>
          <p:nvPr/>
        </p:nvSpPr>
        <p:spPr>
          <a:xfrm>
            <a:off x="548640" y="3813124"/>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Escalation</a:t>
            </a:r>
            <a:endParaRPr lang="en-US" sz="1500" dirty="0"/>
          </a:p>
          <a:p>
            <a:pPr indent="0" marL="0">
              <a:buNone/>
            </a:pPr>
            <a:r>
              <a:rPr lang="en-US" sz="1100" dirty="0">
                <a:solidFill>
                  <a:schemeClr val="accent5"/>
                </a:solidFill>
              </a:rPr>
              <a:t>Nᵗ = incidents this period. War when ℓ reaches L = 5</a:t>
            </a:r>
            <a:endParaRPr lang="en-US" sz="1500" dirty="0"/>
          </a:p>
        </p:txBody>
      </p:sp>
      <p:pic>
        <p:nvPicPr>
          <p:cNvPr id="16" name="eq73" descr="/Users/seanbowman/Documents/MIT/Fall26/6.s974/repo/slides/eqs/escalation.png">    </p:cNvPr>
          <p:cNvPicPr>
            <a:picLocks noChangeAspect="1"/>
          </p:cNvPicPr>
          <p:nvPr/>
        </p:nvPicPr>
        <p:blipFill>
          <a:blip r:embed="rId5"/>
          <a:stretch>
            <a:fillRect/>
          </a:stretch>
        </p:blipFill>
        <p:spPr>
          <a:xfrm>
            <a:off x="3840480" y="3813124"/>
            <a:ext cx="4483456" cy="838048"/>
          </a:xfrm>
          <a:prstGeom prst="rect">
            <a:avLst/>
          </a:prstGeom>
        </p:spPr>
      </p:pic>
      <p:sp>
        <p:nvSpPr>
          <p:cNvPr id="17" name="fl74"/>
          <p:cNvSpPr/>
          <p:nvPr/>
        </p:nvSpPr>
        <p:spPr>
          <a:xfrm>
            <a:off x="548640" y="4678604"/>
            <a:ext cx="11064240" cy="0"/>
          </a:xfrm>
          <a:prstGeom prst="line">
            <a:avLst/>
          </a:prstGeom>
          <a:noFill/>
          <a:ln w="6350">
            <a:solidFill>
              <a:schemeClr val="accent6"/>
            </a:solidFill>
            <a:prstDash val="solid"/>
          </a:ln>
        </p:spPr>
      </p:sp>
      <p:sp>
        <p:nvSpPr>
          <p:cNvPr id="18" name="t75"/>
          <p:cNvSpPr txBox="1"/>
          <p:nvPr/>
        </p:nvSpPr>
        <p:spPr>
          <a:xfrm>
            <a:off x="548640" y="4742612"/>
            <a:ext cx="3017520" cy="548640"/>
          </a:xfrm>
          <a:prstGeom prst="rect">
            <a:avLst/>
          </a:prstGeom>
          <a:noFill/>
          <a:ln/>
        </p:spPr>
        <p:txBody>
          <a:bodyPr wrap="square" lIns="0" tIns="0" rIns="0" bIns="0" rtlCol="0" anchor="t"/>
          <a:lstStyle/>
          <a:p>
            <a:pPr indent="0" marL="0">
              <a:buNone/>
            </a:pPr>
            <a:r>
              <a:rPr lang="en-US" sz="1500" b="1" dirty="0">
                <a:solidFill>
                  <a:schemeClr val="accent1"/>
                </a:solidFill>
              </a:rPr>
              <a:t>Total payoff</a:t>
            </a:r>
            <a:endParaRPr lang="en-US" sz="1500" dirty="0"/>
          </a:p>
          <a:p>
            <a:pPr indent="0" marL="0">
              <a:buNone/>
            </a:pPr>
            <a:r>
              <a:rPr lang="en-US" sz="1100" dirty="0">
                <a:solidFill>
                  <a:schemeClr val="accent5"/>
                </a:solidFill>
              </a:rPr>
              <a:t>Discounted stage payoffs (δ = 0.98, T = 60), minus W = 200 for both sides at war</a:t>
            </a:r>
            <a:endParaRPr lang="en-US" sz="1500" dirty="0"/>
          </a:p>
        </p:txBody>
      </p:sp>
      <p:pic>
        <p:nvPicPr>
          <p:cNvPr id="19" name="eq76" descr="/Users/seanbowman/Documents/MIT/Fall26/6.s974/repo/slides/eqs/total.png">    </p:cNvPr>
          <p:cNvPicPr>
            <a:picLocks noChangeAspect="1"/>
          </p:cNvPicPr>
          <p:nvPr/>
        </p:nvPicPr>
        <p:blipFill>
          <a:blip r:embed="rId6"/>
          <a:stretch>
            <a:fillRect/>
          </a:stretch>
        </p:blipFill>
        <p:spPr>
          <a:xfrm>
            <a:off x="3840480" y="4742612"/>
            <a:ext cx="5210708" cy="629793"/>
          </a:xfrm>
          <a:prstGeom prst="rect">
            <a:avLst/>
          </a:prstGeom>
        </p:spPr>
      </p:pic>
      <p:sp>
        <p:nvSpPr>
          <p:cNvPr id="20" name="tk7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7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pay W at war, so the game is general-sum. Both prefer to avoid war.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7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8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8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8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8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8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8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8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8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8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8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9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9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9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9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9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9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best-response MIP with an escalation-risk budget</a:t>
            </a:r>
            <a:endParaRPr lang="en-US" sz="2800" dirty="0"/>
          </a:p>
        </p:txBody>
      </p:sp>
      <p:pic>
        <p:nvPicPr>
          <p:cNvPr id="3" name="eq96" descr="/Users/seanbowman/Documents/MIT/Fall26/6.s974/repo/slides/eqs/mip.png">    </p:cNvPr>
          <p:cNvPicPr>
            <a:picLocks noChangeAspect="1"/>
          </p:cNvPicPr>
          <p:nvPr/>
        </p:nvPicPr>
        <p:blipFill>
          <a:blip r:embed="rId1"/>
          <a:stretch>
            <a:fillRect/>
          </a:stretch>
        </p:blipFill>
        <p:spPr>
          <a:xfrm>
            <a:off x="548640" y="1325880"/>
            <a:ext cx="7530541" cy="3437382"/>
          </a:xfrm>
          <a:prstGeom prst="rect">
            <a:avLst/>
          </a:prstGeom>
        </p:spPr>
      </p:pic>
      <p:sp>
        <p:nvSpPr>
          <p:cNvPr id="4" name="t97"/>
          <p:cNvSpPr txBox="1"/>
          <p:nvPr/>
        </p:nvSpPr>
        <p:spPr>
          <a:xfrm>
            <a:off x="548640" y="4946142"/>
            <a:ext cx="7589520" cy="274320"/>
          </a:xfrm>
          <a:prstGeom prst="rect">
            <a:avLst/>
          </a:prstGeom>
          <a:noFill/>
          <a:ln/>
        </p:spPr>
        <p:txBody>
          <a:bodyPr wrap="square" lIns="0" tIns="0" rIns="0" bIns="0" rtlCol="0" anchor="ctr"/>
          <a:lstStyle/>
          <a:p>
            <a:pPr indent="0" marL="0">
              <a:buNone/>
            </a:pPr>
            <a:r>
              <a:rPr lang="en-US" sz="1300" b="1" dirty="0">
                <a:solidFill>
                  <a:schemeClr val="accent1"/>
                </a:solidFill>
              </a:rPr>
              <a:t>Value of an option (control gain minus incident cost)</a:t>
            </a:r>
            <a:endParaRPr lang="en-US" sz="1300" dirty="0"/>
          </a:p>
        </p:txBody>
      </p:sp>
      <p:pic>
        <p:nvPicPr>
          <p:cNvPr id="5" name="eq98" descr="/Users/seanbowman/Documents/MIT/Fall26/6.s974/repo/slides/eqs/option.png">    </p:cNvPr>
          <p:cNvPicPr>
            <a:picLocks noChangeAspect="1"/>
          </p:cNvPicPr>
          <p:nvPr/>
        </p:nvPicPr>
        <p:blipFill>
          <a:blip r:embed="rId2"/>
          <a:stretch>
            <a:fillRect/>
          </a:stretch>
        </p:blipFill>
        <p:spPr>
          <a:xfrm>
            <a:off x="548640" y="5266182"/>
            <a:ext cx="4937760" cy="413309"/>
          </a:xfrm>
          <a:prstGeom prst="rect">
            <a:avLst/>
          </a:prstGeom>
        </p:spPr>
      </p:pic>
      <p:sp>
        <p:nvSpPr>
          <p:cNvPr id="6" name="t99"/>
          <p:cNvSpPr txBox="1"/>
          <p:nvPr/>
        </p:nvSpPr>
        <p:spPr>
          <a:xfrm>
            <a:off x="8412480" y="1325880"/>
            <a:ext cx="3200400" cy="420624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chemeClr val="tx1"/>
                </a:solidFill>
              </a:rPr>
              <a:t>Variables. </a:t>
            </a:r>
            <a:pPr indent="0" marL="0">
              <a:buNone/>
            </a:pPr>
            <a:r>
              <a:rPr lang="en-US" sz="1300" dirty="0">
                <a:solidFill>
                  <a:schemeClr val="tx1"/>
                </a:solidFill>
              </a:rPr>
              <a:t>y = 1 sends free ship j to node w. b = 1 picks option (n, p) for zone v, meaning hull counts n and posture p.</a:t>
            </a:r>
            <a:endParaRPr lang="en-US" sz="1300" dirty="0"/>
          </a:p>
          <a:p>
            <a:pPr marL="342900" indent="-342900">
              <a:spcAft>
                <a:spcPts val="600"/>
              </a:spcAft>
              <a:buSzPct val="100000"/>
              <a:buChar char="•"/>
            </a:pPr>
            <a:r>
              <a:rPr lang="en-US" sz="1300" b="1" dirty="0">
                <a:solidFill>
                  <a:schemeClr val="tx1"/>
                </a:solidFill>
              </a:rPr>
              <a:t>Why options. </a:t>
            </a:r>
            <a:pPr indent="0" marL="0">
              <a:buNone/>
            </a:pPr>
            <a:r>
              <a:rPr lang="en-US" sz="1300" dirty="0">
                <a:solidFill>
                  <a:schemeClr val="tx1"/>
                </a:solidFill>
              </a:rPr>
              <a:t>Control φ and incident risk ρ are nonlinear in ship counts, so each option's value and risk are computed in advance. The program stays linear.</a:t>
            </a:r>
            <a:endParaRPr lang="en-US" sz="1300" dirty="0"/>
          </a:p>
          <a:p>
            <a:pPr marL="342900" indent="-342900">
              <a:spcAft>
                <a:spcPts val="600"/>
              </a:spcAft>
              <a:buSzPct val="100000"/>
              <a:buChar char="•"/>
            </a:pPr>
            <a:r>
              <a:rPr lang="en-US" sz="1300" b="1" dirty="0">
                <a:solidFill>
                  <a:schemeClr val="accent2"/>
                </a:solidFill>
              </a:rPr>
              <a:t>Risk budget. </a:t>
            </a:r>
            <a:pPr indent="0" marL="0">
              <a:buNone/>
            </a:pPr>
            <a:r>
              <a:rPr lang="en-US" sz="1300" dirty="0">
                <a:solidFill>
                  <a:schemeClr val="tx1"/>
                </a:solidFill>
              </a:rPr>
              <a:t>Expected incidents ≤ ε, shrinking to zero as ℓ nears war. ε = 0.05 / 0.15 / 0.40 is conservative / moderate / aggressive.</a:t>
            </a:r>
            <a:endParaRPr lang="en-US" sz="1300" dirty="0"/>
          </a:p>
          <a:p>
            <a:pPr marL="342900" indent="-342900">
              <a:spcAft>
                <a:spcPts val="600"/>
              </a:spcAft>
              <a:buSzPct val="100000"/>
              <a:buChar char="•"/>
            </a:pPr>
            <a:r>
              <a:rPr lang="en-US" sz="1300" b="1" dirty="0">
                <a:solidFill>
                  <a:schemeClr val="tx1"/>
                </a:solidFill>
              </a:rPr>
              <a:t>Slack ξ </a:t>
            </a:r>
            <a:pPr indent="0" marL="0">
              <a:buNone/>
            </a:pPr>
            <a:r>
              <a:rPr lang="en-US" sz="1300" dirty="0">
                <a:solidFill>
                  <a:schemeClr val="tx1"/>
                </a:solidFill>
              </a:rPr>
              <a:t>covers unavoidable risk from forced returns, at a penalty of 1000.</a:t>
            </a:r>
            <a:endParaRPr lang="en-US" sz="1300" dirty="0"/>
          </a:p>
        </p:txBody>
      </p:sp>
      <p:sp>
        <p:nvSpPr>
          <p:cNvPr id="7"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risk budget ε defines the feasible region. It is how the proposal's commander types enter the model.</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10"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A9B8CC"/>
                      </a:solidFill>
                      <a:prstDash val="solid"/>
                      <a:round/>
                      <a:headEnd type="none" w="med" len="med"/>
                      <a:tailEnd type="none" w="med" len="med"/>
                    </a:lnL>
                    <a:lnR w="9525" cap="flat" cmpd="sng" algn="ctr">
                      <a:solidFill>
                        <a:srgbClr val="A9B8CC"/>
                      </a:solidFill>
                      <a:prstDash val="solid"/>
                      <a:round/>
                      <a:headEnd type="none" w="med" len="med"/>
                      <a:tailEnd type="none" w="med" len="med"/>
                    </a:lnR>
                    <a:lnT w="9525" cap="flat" cmpd="sng" algn="ctr">
                      <a:solidFill>
                        <a:srgbClr val="A9B8CC"/>
                      </a:solidFill>
                      <a:prstDash val="solid"/>
                      <a:round/>
                      <a:headEnd type="none" w="med" len="med"/>
                      <a:tailEnd type="none" w="med" len="med"/>
                    </a:lnT>
                    <a:lnB w="9525" cap="flat" cmpd="sng" algn="ctr">
                      <a:solidFill>
                        <a:srgbClr val="A9B8CC"/>
                      </a:solidFill>
                      <a:prstDash val="solid"/>
                      <a:round/>
                      <a:headEnd type="none" w="med" len="med"/>
                      <a:tailEnd type="none" w="med" len="med"/>
                    </a:lnB>
                  </a:tcPr>
                </a:tc>
              </a:tr>
            </a:tbl>
          </a:graphicData>
        </a:graphic>
      </p:graphicFrame>
      <p:sp>
        <p:nvSpPr>
          <p:cNvPr id="4" name="t103"/>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104"/>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10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10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107"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108"/>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rgbClr val="E8A33D"/>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Program demo</a:t>
            </a: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109"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3"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A9B8CC"/>
                      </a:solidFill>
                      <a:prstDash val="solid"/>
                      <a:round/>
                      <a:headEnd type="none" w="med" len="med"/>
                      <a:tailEnd type="none" w="med" len="med"/>
                    </a:lnL>
                    <a:lnR w="6350" cap="flat" cmpd="sng" algn="ctr">
                      <a:solidFill>
                        <a:srgbClr val="A9B8CC"/>
                      </a:solidFill>
                      <a:prstDash val="solid"/>
                      <a:round/>
                      <a:headEnd type="none" w="med" len="med"/>
                      <a:tailEnd type="none" w="med" len="med"/>
                    </a:lnR>
                    <a:lnT w="6350" cap="flat" cmpd="sng" algn="ctr">
                      <a:solidFill>
                        <a:srgbClr val="A9B8CC"/>
                      </a:solidFill>
                      <a:prstDash val="solid"/>
                      <a:round/>
                      <a:headEnd type="none" w="med" len="med"/>
                      <a:tailEnd type="none" w="med" len="med"/>
                    </a:lnT>
                    <a:lnB w="6350" cap="flat" cmpd="sng" algn="ctr">
                      <a:solidFill>
                        <a:srgbClr val="A9B8CC"/>
                      </a:solidFill>
                      <a:prstDash val="solid"/>
                      <a:round/>
                      <a:headEnd type="none" w="med" len="med"/>
                      <a:tailEnd type="none" w="med" len="med"/>
                    </a:lnB>
                  </a:tcPr>
                </a:tc>
              </a:tr>
            </a:tbl>
          </a:graphicData>
        </a:graphic>
      </p:graphicFrame>
      <p:sp>
        <p:nvSpPr>
          <p:cNvPr id="5" name="t111"/>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Gold bold = the only equilibrium.</a:t>
            </a:r>
            <a:endParaRPr lang="en-US" sz="1200" dirty="0"/>
          </a:p>
        </p:txBody>
      </p:sp>
      <p:sp>
        <p:nvSpPr>
          <p:cNvPr id="6" name="t112"/>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113"/>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14"/>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116"/>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117"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118"/>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120"/>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12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12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123"/>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124"/>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125"/>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126"/>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127"/>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128"/>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129"/>
          <p:cNvSpPr/>
          <p:nvPr/>
        </p:nvSpPr>
        <p:spPr>
          <a:xfrm>
            <a:off x="548640" y="1691640"/>
            <a:ext cx="2560320" cy="73152"/>
          </a:xfrm>
          <a:prstGeom prst="rect">
            <a:avLst/>
          </a:prstGeom>
          <a:solidFill>
            <a:schemeClr val="accent1"/>
          </a:solidFill>
          <a:ln w="12700">
            <a:solidFill>
              <a:schemeClr val="accent1"/>
            </a:solidFill>
            <a:prstDash val="solid"/>
          </a:ln>
        </p:spPr>
      </p:sp>
      <p:sp>
        <p:nvSpPr>
          <p:cNvPr id="4" name="t130"/>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131"/>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32"/>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33"/>
          <p:cNvSpPr/>
          <p:nvPr/>
        </p:nvSpPr>
        <p:spPr>
          <a:xfrm>
            <a:off x="3337560" y="1691640"/>
            <a:ext cx="2560320" cy="73152"/>
          </a:xfrm>
          <a:prstGeom prst="rect">
            <a:avLst/>
          </a:prstGeom>
          <a:solidFill>
            <a:schemeClr val="accent1"/>
          </a:solidFill>
          <a:ln w="12700">
            <a:solidFill>
              <a:schemeClr val="accent1"/>
            </a:solidFill>
            <a:prstDash val="solid"/>
          </a:ln>
        </p:spPr>
      </p:sp>
      <p:sp>
        <p:nvSpPr>
          <p:cNvPr id="8" name="t134"/>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35"/>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36"/>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37"/>
          <p:cNvSpPr/>
          <p:nvPr/>
        </p:nvSpPr>
        <p:spPr>
          <a:xfrm>
            <a:off x="6126480" y="1691640"/>
            <a:ext cx="2560320" cy="73152"/>
          </a:xfrm>
          <a:prstGeom prst="rect">
            <a:avLst/>
          </a:prstGeom>
          <a:solidFill>
            <a:schemeClr val="accent1"/>
          </a:solidFill>
          <a:ln w="12700">
            <a:solidFill>
              <a:schemeClr val="accent1"/>
            </a:solidFill>
            <a:prstDash val="solid"/>
          </a:ln>
        </p:spPr>
      </p:sp>
      <p:sp>
        <p:nvSpPr>
          <p:cNvPr id="12" name="t138"/>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39"/>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40"/>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41"/>
          <p:cNvSpPr/>
          <p:nvPr/>
        </p:nvSpPr>
        <p:spPr>
          <a:xfrm>
            <a:off x="8915400" y="1691640"/>
            <a:ext cx="2560320" cy="73152"/>
          </a:xfrm>
          <a:prstGeom prst="rect">
            <a:avLst/>
          </a:prstGeom>
          <a:solidFill>
            <a:schemeClr val="accent1"/>
          </a:solidFill>
          <a:ln w="12700">
            <a:solidFill>
              <a:schemeClr val="accent1"/>
            </a:solidFill>
            <a:prstDash val="solid"/>
          </a:ln>
        </p:spPr>
      </p:sp>
      <p:sp>
        <p:nvSpPr>
          <p:cNvPr id="16" name="t142"/>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43"/>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44"/>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4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4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Navy and Gold">
      <a:dk1>
        <a:srgbClr val="1A2233"/>
      </a:dk1>
      <a:lt1>
        <a:srgbClr val="FFFFFF"/>
      </a:lt1>
      <a:dk2>
        <a:srgbClr val="0B1F3A"/>
      </a:dk2>
      <a:lt2>
        <a:srgbClr val="F6F1E2"/>
      </a:lt2>
      <a:accent1>
        <a:srgbClr val="1D3E72"/>
      </a:accent1>
      <a:accent2>
        <a:srgbClr val="A97C14"/>
      </a:accent2>
      <a:accent3>
        <a:srgbClr val="D4AF37"/>
      </a:accent3>
      <a:accent4>
        <a:srgbClr val="B8901E"/>
      </a:accent4>
      <a:accent5>
        <a:srgbClr val="5E6B7D"/>
      </a:accent5>
      <a:accent6>
        <a:srgbClr val="A9B8CC"/>
      </a:accent6>
      <a:hlink>
        <a:srgbClr val="1D3E72"/>
      </a:hlink>
      <a:folHlink>
        <a:srgbClr val="5E6B7D"/>
      </a:folHlink>
    </a:clrScheme>
    <a:fontScheme name="Office">
      <a:majorFont>
        <a:latin typeface="Franklin Gothic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2026-10-27T03:35:27Z</dcterms:created>
  <dcterms:modified xsi:type="dcterms:W3CDTF">2026-10-27T03:35:27Z</dcterms:modified>
</cp:coreProperties>
</file>