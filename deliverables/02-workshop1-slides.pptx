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04f4568-4b56-e1e9-78b6-3c4dcd990b17}">
          <p14:sldIdLst>
            <p14:sldId id="256"/>
            <p14:sldId id="257"/>
            <p14:sldId id="258"/>
          </p14:sldIdLst>
        </p14:section>
        <p14:section name="Model" id="{007fe24e-155e-18c5-1309-8f4c4c098d56}">
          <p14:sldIdLst>
            <p14:sldId id="259"/>
            <p14:sldId id="260"/>
          </p14:sldIdLst>
        </p14:section>
        <p14:section name="Results" id="{ef96127b-ef48-7e84-474c-1b5453aca6e8}">
          <p14:sldIdLst>
            <p14:sldId id="261"/>
            <p14:sldId id="262"/>
            <p14:sldId id="263"/>
            <p14:sldId id="264"/>
            <p14:sldId id="265"/>
            <p14:sldId id="266"/>
          </p14:sldIdLst>
        </p14:section>
        <p14:section name="Next steps" id="{ae22a284-6ae3-c38b-34df-0cf5b9033e44}">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each side caps the incident risk it accepts per period; how much control does more risk buy, how much likelier does war become, and what cap does each side pick when the other is picking too? RQ2: does a side that plans with game theory beat one that follows simple rules, and can both sides stay at patrol over many periods, because asserting once would end the truce and push both into riskier play from then on? RQ3, from Prof. Sapsis's comment: does the best plan or Blue redesign in normal weather stay best across calm, typhoon and extreme weather scenarios, on average and in the worst scenario? The table maps each piece of Deliverable 1 feedback to what we changed. The main one: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Left: each turn a player solves a mixed-integer program (MIP) to pick moves, with a cap on expected incidents, epsilon. This answers the feedback that Q1 is a feasible region. Middle: for equilibrium analysis we shrink each side to 14 templates and solve the 14-by-14 game exactly. Right: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each side only chooses patrol or assert. Read the table: asserting against a patroller pays a little, but if both assert, both lose more than 11. So the best reply is to do the opposite of the other side. Two fixes: a correlated equilibrium, which is what a mediator or hotline can implement, never recommends both asserting; and in the repeated game, grim trigger (both patrol; after any assertion, both switch to the mixed equilibrium for good)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Blue loosens its risk budget while Red stays moderate. Control rises fast up to about 0.15, then flattens, while war risk keeps rising. Right: both sides choose a budget. Aggressive is the best reply to anything, for both, so the only equilibrium is aggressive-aggressive, with the highest war rate, 34%.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within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Left: the policy ranking does not change across weather; the top two plans stay on top. Bad weather slightly helps Blue here, because rough seas weaken Red's coast-guard hulls. Right: of the three redesigns, the crisis hotline is best on average and in the worst case, and cuts war about four times. Caveat: we gave it no cost yet, and it also helps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values are assumptions, policies look one turn ahead, the war rate depends heavily on a few parameters, and the hotline result is partly built in. A sensitivity sweep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follows the remaining course modules. First, Bayesian beliefs, weather scenarios tied to the calendar with odds from climatology data, and the three Red attacks already coded; we also decide whether to keep the theater-wide movement budget, which stands in for operational requirements and station-keeping. Then learning agents, once taught: does a learning Red exploit predictable Blue play? Then redesigns under attack and long typhoons, with a cost for the hotline. Final report December 8.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 descr="/home/claude/6.S974-Wargaming-Term-Project/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2"/>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3"/>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shadowing, close maneuvering, querying and warning; for the U.S. also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4"/>
          <p:cNvSpPr/>
          <p:nvPr/>
        </p:nvSpPr>
        <p:spPr>
          <a:xfrm>
            <a:off x="548640" y="1325880"/>
            <a:ext cx="731520" cy="731520"/>
          </a:xfrm>
          <a:prstGeom prst="ellipse">
            <a:avLst/>
          </a:prstGeom>
          <a:solidFill>
            <a:schemeClr val="accent1"/>
          </a:solidFill>
          <a:ln/>
        </p:spPr>
      </p:sp>
      <p:sp>
        <p:nvSpPr>
          <p:cNvPr id="4" name="t5"/>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6"/>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7"/>
          <p:cNvSpPr/>
          <p:nvPr/>
        </p:nvSpPr>
        <p:spPr>
          <a:xfrm>
            <a:off x="548640" y="2788920"/>
            <a:ext cx="731520" cy="731520"/>
          </a:xfrm>
          <a:prstGeom prst="ellipse">
            <a:avLst/>
          </a:prstGeom>
          <a:solidFill>
            <a:schemeClr val="accent1"/>
          </a:solidFill>
          <a:ln/>
        </p:spPr>
      </p:sp>
      <p:sp>
        <p:nvSpPr>
          <p:cNvPr id="7" name="t8"/>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9"/>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planning with game theory (best responses, equilibrium or maximin plans) beat simple rules or random moves? Can both sides stay at patrol over many periods, because asserting once would end the truce and push both into riskier play from then on?</a:t>
            </a:r>
            <a:endParaRPr lang="en-US" sz="1600" dirty="0"/>
          </a:p>
        </p:txBody>
      </p:sp>
      <p:sp>
        <p:nvSpPr>
          <p:cNvPr id="9" name="c10"/>
          <p:cNvSpPr/>
          <p:nvPr/>
        </p:nvSpPr>
        <p:spPr>
          <a:xfrm>
            <a:off x="548640" y="4251960"/>
            <a:ext cx="731520" cy="731520"/>
          </a:xfrm>
          <a:prstGeom prst="ellipse">
            <a:avLst/>
          </a:prstGeom>
          <a:solidFill>
            <a:schemeClr val="accent1"/>
          </a:solidFill>
          <a:ln/>
        </p:spPr>
      </p:sp>
      <p:sp>
        <p:nvSpPr>
          <p:cNvPr id="10" name="t11"/>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12"/>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4"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Analytical results; 77 setups × 200 simulated games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14"/>
          <p:cNvSpPr/>
          <p:nvPr/>
        </p:nvSpPr>
        <p:spPr>
          <a:xfrm>
            <a:off x="548640" y="1280160"/>
            <a:ext cx="457200" cy="457200"/>
          </a:xfrm>
          <a:prstGeom prst="ellipse">
            <a:avLst/>
          </a:prstGeom>
          <a:solidFill>
            <a:schemeClr val="accent4"/>
          </a:solidFill>
          <a:ln/>
        </p:spPr>
      </p:sp>
      <p:sp>
        <p:nvSpPr>
          <p:cNvPr id="4" name="t15"/>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16"/>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17"/>
          <p:cNvSpPr/>
          <p:nvPr/>
        </p:nvSpPr>
        <p:spPr>
          <a:xfrm>
            <a:off x="548640" y="1883664"/>
            <a:ext cx="457200" cy="457200"/>
          </a:xfrm>
          <a:prstGeom prst="ellipse">
            <a:avLst/>
          </a:prstGeom>
          <a:solidFill>
            <a:schemeClr val="accent1"/>
          </a:solidFill>
          <a:ln/>
        </p:spPr>
      </p:sp>
      <p:sp>
        <p:nvSpPr>
          <p:cNvPr id="7" name="t18"/>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19"/>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20"/>
          <p:cNvSpPr/>
          <p:nvPr/>
        </p:nvSpPr>
        <p:spPr>
          <a:xfrm>
            <a:off x="548640" y="2487168"/>
            <a:ext cx="457200" cy="457200"/>
          </a:xfrm>
          <a:prstGeom prst="ellipse">
            <a:avLst/>
          </a:prstGeom>
          <a:solidFill>
            <a:schemeClr val="accent1"/>
          </a:solidFill>
          <a:ln/>
        </p:spPr>
      </p:sp>
      <p:sp>
        <p:nvSpPr>
          <p:cNvPr id="10" name="t21"/>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22"/>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23"/>
          <p:cNvSpPr/>
          <p:nvPr/>
        </p:nvSpPr>
        <p:spPr>
          <a:xfrm>
            <a:off x="548640" y="3090672"/>
            <a:ext cx="457200" cy="457200"/>
          </a:xfrm>
          <a:prstGeom prst="ellipse">
            <a:avLst/>
          </a:prstGeom>
          <a:solidFill>
            <a:schemeClr val="accent1"/>
          </a:solidFill>
          <a:ln/>
        </p:spPr>
      </p:sp>
      <p:sp>
        <p:nvSpPr>
          <p:cNvPr id="13" name="t24"/>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25"/>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26"/>
          <p:cNvSpPr/>
          <p:nvPr/>
        </p:nvSpPr>
        <p:spPr>
          <a:xfrm>
            <a:off x="548640" y="3694176"/>
            <a:ext cx="457200" cy="457200"/>
          </a:xfrm>
          <a:prstGeom prst="ellipse">
            <a:avLst/>
          </a:prstGeom>
          <a:solidFill>
            <a:schemeClr val="accent1"/>
          </a:solidFill>
          <a:ln/>
        </p:spPr>
      </p:sp>
      <p:sp>
        <p:nvSpPr>
          <p:cNvPr id="16" name="t27"/>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28"/>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29"/>
          <p:cNvSpPr/>
          <p:nvPr/>
        </p:nvSpPr>
        <p:spPr>
          <a:xfrm>
            <a:off x="548640" y="4297680"/>
            <a:ext cx="457200" cy="457200"/>
          </a:xfrm>
          <a:prstGeom prst="ellipse">
            <a:avLst/>
          </a:prstGeom>
          <a:solidFill>
            <a:schemeClr val="accent2"/>
          </a:solidFill>
          <a:ln/>
        </p:spPr>
      </p:sp>
      <p:sp>
        <p:nvSpPr>
          <p:cNvPr id="19" name="t30"/>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31"/>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escalation level moves</a:t>
            </a:r>
            <a:endParaRPr lang="en-US" sz="1600" dirty="0"/>
          </a:p>
        </p:txBody>
      </p:sp>
      <p:sp>
        <p:nvSpPr>
          <p:cNvPr id="21" name="st32"/>
          <p:cNvSpPr/>
          <p:nvPr/>
        </p:nvSpPr>
        <p:spPr>
          <a:xfrm>
            <a:off x="548640" y="4901184"/>
            <a:ext cx="457200" cy="457200"/>
          </a:xfrm>
          <a:prstGeom prst="ellipse">
            <a:avLst/>
          </a:prstGeom>
          <a:solidFill>
            <a:schemeClr val="accent1"/>
          </a:solidFill>
          <a:ln/>
        </p:spPr>
      </p:sp>
      <p:sp>
        <p:nvSpPr>
          <p:cNvPr id="22" name="t33"/>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34"/>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stop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36"/>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(1 − λ)·c + λ·φ,  λ = 0.3,   φ = (S_B − S_R) / (S_B + S_R + κ)</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g = Σ V·c − γ·moves − η·ℓ − ζ_D,   minus W = 200 at war</a:t>
            </a:r>
            <a:endParaRPr lang="en-US" sz="1400" dirty="0"/>
          </a:p>
          <a:p>
            <a:pPr indent="0" marL="0">
              <a:buNone/>
            </a:pPr>
            <a:r>
              <a:rPr lang="en-US" sz="1300" dirty="0">
                <a:solidFill>
                  <a:schemeClr val="accent5"/>
                </a:solidFill>
              </a:rPr>
              <a:t>Value of control minus fuel, tension and Blue's redesign cost ζ_D. War hurts both sides, so the game is not zero-sum.</a:t>
            </a:r>
            <a:endParaRPr lang="en-US" sz="1400" dirty="0"/>
          </a:p>
        </p:txBody>
      </p:sp>
      <p:sp>
        <p:nvSpPr>
          <p:cNvPr id="26" name="tk3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3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3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4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4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4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4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4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4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4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4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how to split ships North / Center / South, and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4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dominance, Nash equilibrium, maximin LP, correlated-equilibrium LP</a:t>
            </a:r>
            <a:endParaRPr lang="en-US" sz="1300" dirty="0"/>
          </a:p>
        </p:txBody>
      </p:sp>
      <p:sp>
        <p:nvSpPr>
          <p:cNvPr id="13" name="cd4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5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5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5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5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7"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5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5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with grim trigger, mutual patrolling is a subgame perfect equilibrium for any discount factor above 0.18. Ours is 0.98.</a:t>
            </a:r>
            <a:endParaRPr lang="en-US" sz="1700" dirty="0"/>
          </a:p>
        </p:txBody>
      </p:sp>
      <p:sp>
        <p:nvSpPr>
          <p:cNvPr id="6" name="tk5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6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61" descr="/home/claude/6.S974-Wargaming-Term-Project/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6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63" descr="/home/claude/6.S974-Wargaming-Term-Project/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9"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6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payoffs (Blue, Red) and war rate. Red bold = the only equilibrium.</a:t>
            </a:r>
            <a:endParaRPr lang="en-US" sz="1200" dirty="0"/>
          </a:p>
        </p:txBody>
      </p:sp>
      <p:sp>
        <p:nvSpPr>
          <p:cNvPr id="6" name="t6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6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6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choose aggressive, giving the highest war rate (34%):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7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71" descr="/home/claude/6.S974-Wargaming-Term-Project/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7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7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(normal weather): D0 20%, D1 28%, D2 23%, D3 5%. The hotline was given no cost yet.</a:t>
            </a:r>
            <a:endParaRPr lang="en-US" sz="1300" dirty="0"/>
          </a:p>
        </p:txBody>
      </p:sp>
      <p:sp>
        <p:nvSpPr>
          <p:cNvPr id="7" name="tk7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7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The crisis hotline is the best design and cuts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7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7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7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A crisis hotline is a joint gain under every weather scenario</a:t>
            </a:r>
            <a:endParaRPr lang="en-US" sz="1600" dirty="0"/>
          </a:p>
        </p:txBody>
      </p:sp>
      <p:sp>
        <p:nvSpPr>
          <p:cNvPr id="6" name="cv8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8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8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The hotline has no cost yet, so part of its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l"/>
          <p:cNvSpPr/>
          <p:nvPr/>
        </p:nvSpPr>
        <p:spPr>
          <a:xfrm>
            <a:off x="914400" y="1920240"/>
            <a:ext cx="10332720" cy="0"/>
          </a:xfrm>
          <a:prstGeom prst="line">
            <a:avLst/>
          </a:prstGeom>
          <a:noFill/>
          <a:ln w="38100">
            <a:solidFill>
              <a:schemeClr val="accent6"/>
            </a:solidFill>
            <a:prstDash val="solid"/>
          </a:ln>
        </p:spPr>
      </p:sp>
      <p:sp>
        <p:nvSpPr>
          <p:cNvPr id="4" name="tp84"/>
          <p:cNvSpPr/>
          <p:nvPr/>
        </p:nvSpPr>
        <p:spPr>
          <a:xfrm>
            <a:off x="731520" y="1691640"/>
            <a:ext cx="457200" cy="457200"/>
          </a:xfrm>
          <a:prstGeom prst="ellipse">
            <a:avLst/>
          </a:prstGeom>
          <a:solidFill>
            <a:schemeClr val="accent1"/>
          </a:solidFill>
          <a:ln/>
        </p:spPr>
      </p:sp>
      <p:sp>
        <p:nvSpPr>
          <p:cNvPr id="5" name="t85"/>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3</a:t>
            </a:r>
            <a:endParaRPr lang="en-US" sz="1600" dirty="0"/>
          </a:p>
        </p:txBody>
      </p:sp>
      <p:sp>
        <p:nvSpPr>
          <p:cNvPr id="6" name="t86"/>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and attacks</a:t>
            </a:r>
            <a:endParaRPr lang="en-US" sz="1800" dirty="0"/>
          </a:p>
        </p:txBody>
      </p:sp>
      <p:sp>
        <p:nvSpPr>
          <p:cNvPr id="7" name="t87"/>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about enemy positions; weather tied to the calendar (typhoon season, winter monsoon) with odds from climatology data; test the three coded Red attacks (blockade, jamming, false contacts); decide whether to keep the movement budget or drop it</a:t>
            </a:r>
            <a:endParaRPr lang="en-US" sz="1500" dirty="0"/>
          </a:p>
        </p:txBody>
      </p:sp>
      <p:sp>
        <p:nvSpPr>
          <p:cNvPr id="8" name="tp88"/>
          <p:cNvSpPr/>
          <p:nvPr/>
        </p:nvSpPr>
        <p:spPr>
          <a:xfrm>
            <a:off x="3520440" y="1691640"/>
            <a:ext cx="457200" cy="457200"/>
          </a:xfrm>
          <a:prstGeom prst="ellipse">
            <a:avLst/>
          </a:prstGeom>
          <a:solidFill>
            <a:schemeClr val="accent1"/>
          </a:solidFill>
          <a:ln/>
        </p:spPr>
      </p:sp>
      <p:sp>
        <p:nvSpPr>
          <p:cNvPr id="9" name="t89"/>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17</a:t>
            </a:r>
            <a:endParaRPr lang="en-US" sz="1600" dirty="0"/>
          </a:p>
        </p:txBody>
      </p:sp>
      <p:sp>
        <p:nvSpPr>
          <p:cNvPr id="10" name="t90"/>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a:t>
            </a:r>
            <a:endParaRPr lang="en-US" sz="1800" dirty="0"/>
          </a:p>
        </p:txBody>
      </p:sp>
      <p:sp>
        <p:nvSpPr>
          <p:cNvPr id="11" name="t91"/>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Red agents that learn from experience: do they exploit predictable Blue play? An attacker that moves after seeing Blue</a:t>
            </a:r>
            <a:endParaRPr lang="en-US" sz="1500" dirty="0"/>
          </a:p>
        </p:txBody>
      </p:sp>
      <p:sp>
        <p:nvSpPr>
          <p:cNvPr id="12" name="tp92"/>
          <p:cNvSpPr/>
          <p:nvPr/>
        </p:nvSpPr>
        <p:spPr>
          <a:xfrm>
            <a:off x="6309360" y="1691640"/>
            <a:ext cx="457200" cy="457200"/>
          </a:xfrm>
          <a:prstGeom prst="ellipse">
            <a:avLst/>
          </a:prstGeom>
          <a:solidFill>
            <a:schemeClr val="accent1"/>
          </a:solidFill>
          <a:ln/>
        </p:spPr>
      </p:sp>
      <p:sp>
        <p:nvSpPr>
          <p:cNvPr id="13" name="t93"/>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1</a:t>
            </a:r>
            <a:endParaRPr lang="en-US" sz="1600" dirty="0"/>
          </a:p>
        </p:txBody>
      </p:sp>
      <p:sp>
        <p:nvSpPr>
          <p:cNvPr id="14" name="t94"/>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Redesign</a:t>
            </a:r>
            <a:endParaRPr lang="en-US" sz="1800" dirty="0"/>
          </a:p>
        </p:txBody>
      </p:sp>
      <p:sp>
        <p:nvSpPr>
          <p:cNvPr id="15" name="t95"/>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Designs and combinations under attacks, persistent weather and a rare long typhoon; hotline as a mediator</a:t>
            </a:r>
            <a:endParaRPr lang="en-US" sz="1500" dirty="0"/>
          </a:p>
        </p:txBody>
      </p:sp>
      <p:sp>
        <p:nvSpPr>
          <p:cNvPr id="16" name="tp96"/>
          <p:cNvSpPr/>
          <p:nvPr/>
        </p:nvSpPr>
        <p:spPr>
          <a:xfrm>
            <a:off x="9098280" y="1691640"/>
            <a:ext cx="457200" cy="457200"/>
          </a:xfrm>
          <a:prstGeom prst="ellipse">
            <a:avLst/>
          </a:prstGeom>
          <a:solidFill>
            <a:schemeClr val="accent2"/>
          </a:solidFill>
          <a:ln/>
        </p:spPr>
      </p:sp>
      <p:sp>
        <p:nvSpPr>
          <p:cNvPr id="17" name="t97"/>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8</a:t>
            </a:r>
            <a:endParaRPr lang="en-US" sz="1600" dirty="0"/>
          </a:p>
        </p:txBody>
      </p:sp>
      <p:sp>
        <p:nvSpPr>
          <p:cNvPr id="18" name="t98"/>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Report</a:t>
            </a:r>
            <a:endParaRPr lang="en-US" sz="1800" dirty="0"/>
          </a:p>
        </p:txBody>
      </p:sp>
      <p:sp>
        <p:nvSpPr>
          <p:cNvPr id="19" name="t99"/>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Final report and presentation</a:t>
            </a:r>
            <a:endParaRPr lang="en-US" sz="1500" dirty="0"/>
          </a:p>
        </p:txBody>
      </p:sp>
      <p:sp>
        <p:nvSpPr>
          <p:cNvPr id="20"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Next: learning, attacks and defenses, and resilient design, in that order.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2026-10-26T22:28:01Z</dcterms:created>
  <dcterms:modified xsi:type="dcterms:W3CDTF">2026-10-26T22:28:01Z</dcterms:modified>
</cp:coreProperties>
</file>