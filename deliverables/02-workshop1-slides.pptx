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d943e11-28f3-a7a0-daf9-6f332cc9e2ef}">
          <p14:sldIdLst>
            <p14:sldId id="256"/>
            <p14:sldId id="257"/>
            <p14:sldId id="258"/>
            <p14:sldId id="259"/>
          </p14:sldIdLst>
        </p14:section>
        <p14:section name="Model" id="{d7b41c09-5649-16f1-c14b-08ba2e03d35d}">
          <p14:sldIdLst>
            <p14:sldId id="260"/>
            <p14:sldId id="261"/>
          </p14:sldIdLst>
        </p14:section>
        <p14:section name="Results" id="{71154c76-f399-c5ce-e552-fdb92830e052}">
          <p14:sldIdLst>
            <p14:sldId id="262"/>
            <p14:sldId id="263"/>
            <p14:sldId id="264"/>
            <p14:sldId id="265"/>
            <p14:sldId id="266"/>
            <p14:sldId id="267"/>
          </p14:sldIdLst>
        </p14:section>
        <p14:section name="Next steps" id="{52cfb7bc-7fac-cf48-2c15-5619c4ddc974}">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5E6B7D"/>
            </a:solidFill>
            <a:effectLst/>
          </c:spPr>
          <c:invertIfNegative val="0"/>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dPt>
            <c:idx val="0"/>
            <c:invertIfNegative val="0"/>
            <c:bubble3D val="0"/>
            <c:spPr>
              <a:solidFill>
                <a:srgbClr val="5E6B7D"/>
              </a:solidFill>
              <a:effectLst/>
            </c:spPr>
          </c:dPt>
          <c:dPt>
            <c:idx val="1"/>
            <c:invertIfNegative val="0"/>
            <c:bubble3D val="0"/>
            <c:spPr>
              <a:solidFill>
                <a:srgbClr val="5E6B7D"/>
              </a:solidFill>
              <a:effectLst/>
            </c:spPr>
          </c:dPt>
          <c:dPt>
            <c:idx val="2"/>
            <c:invertIfNegative val="0"/>
            <c:bubble3D val="0"/>
            <c:spPr>
              <a:solidFill>
                <a:srgbClr val="5E6B7D"/>
              </a:solidFill>
              <a:effectLst/>
            </c:spPr>
          </c:dPt>
          <c:dPt>
            <c:idx val="3"/>
            <c:invertIfNegative val="0"/>
            <c:bubble3D val="0"/>
            <c:spPr>
              <a:solidFill>
                <a:srgbClr val="1D3E72"/>
              </a:solidFill>
              <a:effectLst/>
            </c:spPr>
          </c:dPt>
          <c:dPt>
            <c:idx val="4"/>
            <c:invertIfNegative val="0"/>
            <c:bubble3D val="0"/>
            <c:spPr>
              <a:solidFill>
                <a:srgbClr val="1D3E72"/>
              </a:solidFill>
              <a:effectLst/>
            </c:spPr>
          </c:dPt>
          <c:dPt>
            <c:idx val="5"/>
            <c:invertIfNegative val="0"/>
            <c:bubble3D val="0"/>
            <c:spPr>
              <a:solidFill>
                <a:srgbClr val="B8901E"/>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D3E72"/>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A97C14"/>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we built this. China presses its maritime claims below the threshold of war, with coast guard and militia hulls backed by navy ships, and the U.S. answers with presence and freedom-of-navigation patrols. Incidents, not shots, drive escalation (Helmus 2024; Green 2017). That contest is hard to study directly. Each side's best move depends on the other's, the risk of war is shared, and real encounters cannot be rerun. Existing models each capture a piece. Wasser and colleagues built a structured gray-zone game, Shieh and colleagues a randomized patrol model, Washburn network interdiction, and Schelling the idea of escalation as shared risk. We combine allocation, evolving control and shared escalation risk in one general-sum game with computational rules, so we can compare strategies and designs across thousands of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does better than one that follows simple rules, and whether both sides can keep patrolling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Sensitivity analysis on V, h, W and mu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the model. Bayesian beliefs, multi-period best response, sensitivity analysis on V, h, W and mu, calendar-based weather from real data, and a movement budget reformulated with considerations for oilers. Then learning. Does a Red agent that learns from repeated play converge, drift toward restraint, or exploit rule-based Blue? Then attacks and defenses. A coast guard blockade at Scarborough and Second Thomas Shoal, jamming, and false contacts are already coded, and we will add a Red attacker that reacts to Blue's posture and test randomized patrols, D1 and D2 as defenses. Last, the designs and their combinations under attack and a long typhoon, with a cost for D3.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5669280" cy="21945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731520" y="4343400"/>
            <a:ext cx="5669280" cy="128016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1F3A"/>
          </a:solidFill>
          <a:ln/>
        </p:spPr>
      </p:sp>
      <p:sp>
        <p:nvSpPr>
          <p:cNvPr id="3" name="Shape 1"/>
          <p:cNvSpPr/>
          <p:nvPr/>
        </p:nvSpPr>
        <p:spPr>
          <a:xfrm>
            <a:off x="0" y="128016"/>
            <a:ext cx="12191695" cy="36576"/>
          </a:xfrm>
          <a:prstGeom prst="rect">
            <a:avLst/>
          </a:prstGeom>
          <a:solidFill>
            <a:srgbClr val="D4AF37"/>
          </a:solidFill>
          <a:ln/>
        </p:spPr>
      </p:sp>
      <p:sp>
        <p:nvSpPr>
          <p:cNvPr id="4" name="Shape 2"/>
          <p:cNvSpPr/>
          <p:nvPr/>
        </p:nvSpPr>
        <p:spPr>
          <a:xfrm>
            <a:off x="5593385" y="1069848"/>
            <a:ext cx="1005840" cy="45720"/>
          </a:xfrm>
          <a:prstGeom prst="rect">
            <a:avLst/>
          </a:prstGeom>
          <a:solidFill>
            <a:srgbClr val="D4AF37"/>
          </a:solidFill>
          <a:ln/>
        </p:spPr>
      </p:sp>
      <p:sp>
        <p:nvSpPr>
          <p:cNvPr id="5" name="Text 3"/>
          <p:cNvSpPr/>
          <p:nvPr>
            <p:ph idx="103"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g1" descr="/Users/seanbowman/Documents/MIT/Fall26/6.s974/repo/slides/assets/title_ddg.jpg">    </p:cNvPr>
          <p:cNvPicPr>
            <a:picLocks noChangeAspect="1"/>
          </p:cNvPicPr>
          <p:nvPr/>
        </p:nvPicPr>
        <p:blipFill>
          <a:blip r:embed="rId1"/>
          <a:stretch>
            <a:fillRect/>
          </a:stretch>
        </p:blipFill>
        <p:spPr>
          <a:xfrm>
            <a:off x="4572000" y="0"/>
            <a:ext cx="7619695" cy="6858000"/>
          </a:xfrm>
          <a:prstGeom prst="rect">
            <a:avLst/>
          </a:prstGeom>
        </p:spPr>
      </p:pic>
      <p:sp>
        <p:nvSpPr>
          <p:cNvPr id="3" name="gold2"/>
          <p:cNvSpPr/>
          <p:nvPr/>
        </p:nvSpPr>
        <p:spPr>
          <a:xfrm>
            <a:off x="731520" y="4069080"/>
            <a:ext cx="1463040" cy="64008"/>
          </a:xfrm>
          <a:prstGeom prst="rect">
            <a:avLst/>
          </a:prstGeom>
          <a:solidFill>
            <a:schemeClr val="accent3"/>
          </a:solidFill>
          <a:ln w="12700">
            <a:solidFill>
              <a:schemeClr val="accent3"/>
            </a:solidFill>
            <a:prstDash val="solid"/>
          </a:ln>
        </p:spPr>
      </p:sp>
      <p:sp>
        <p:nvSpPr>
          <p:cNvPr id="4" name="t3"/>
          <p:cNvSpPr txBox="1"/>
          <p:nvPr/>
        </p:nvSpPr>
        <p:spPr>
          <a:xfrm>
            <a:off x="10607040" y="6510528"/>
            <a:ext cx="1371600" cy="228600"/>
          </a:xfrm>
          <a:prstGeom prst="rect">
            <a:avLst/>
          </a:prstGeom>
          <a:noFill/>
          <a:ln/>
        </p:spPr>
        <p:txBody>
          <a:bodyPr wrap="square" lIns="0" tIns="0" rIns="0" bIns="0" rtlCol="0" anchor="ctr"/>
          <a:lstStyle/>
          <a:p>
            <a:pPr algn="r" indent="0" marL="0">
              <a:buNone/>
            </a:pPr>
            <a:r>
              <a:rPr lang="en-US" sz="900" dirty="0">
                <a:solidFill>
                  <a:schemeClr val="bg1"/>
                </a:solidFill>
              </a:rPr>
              <a:t>U.S. Navy photo</a:t>
            </a:r>
            <a:endParaRPr lang="en-US" sz="900" dirty="0"/>
          </a:p>
        </p:txBody>
      </p:sp>
      <p:sp>
        <p:nvSpPr>
          <p:cNvPr id="5" name="Text 0"/>
          <p:cNvSpPr/>
          <p:nvPr>
            <p:ph idx="100" type="title" hasCustomPrompt="1"/>
          </p:nvPr>
        </p:nvSpPr>
        <p:spPr>
          <a:xfrm>
            <a:off x="731520" y="1737360"/>
            <a:ext cx="5669280" cy="2194560"/>
          </a:xfrm>
          <a:prstGeom prst="rect">
            <a:avLst/>
          </a:prstGeom>
          <a:noFill/>
          <a:ln/>
        </p:spPr>
        <p:txBody>
          <a:bodyPr wrap="square" rtlCol="0" anchor="b"/>
          <a:lstStyle/>
          <a:p>
            <a:pPr algn="l" indent="0" marL="0">
              <a:buNone/>
            </a:pPr>
            <a:r>
              <a:rPr lang="en-US" sz="3800" b="1" dirty="0">
                <a:solidFill>
                  <a:schemeClr val="bg1"/>
                </a:solidFill>
              </a:rPr>
              <a:t>Gray-Zone Maritime Control in the First Island Chain</a:t>
            </a:r>
            <a:endParaRPr lang="en-US" sz="3800" dirty="0"/>
          </a:p>
        </p:txBody>
      </p:sp>
      <p:sp>
        <p:nvSpPr>
          <p:cNvPr id="6" name="Text 0"/>
          <p:cNvSpPr/>
          <p:nvPr>
            <p:ph idx="101" type="body" hasCustomPrompt="1"/>
          </p:nvPr>
        </p:nvSpPr>
        <p:spPr>
          <a:xfrm>
            <a:off x="731520" y="4343400"/>
            <a:ext cx="5669280" cy="1280160"/>
          </a:xfrm>
          <a:prstGeom prst="rect">
            <a:avLst/>
          </a:prstGeom>
          <a:noFill/>
          <a:ln/>
        </p:spPr>
        <p:txBody>
          <a:bodyPr wrap="square" rtlCol="0" anchor="t"/>
          <a:lstStyle/>
          <a:p>
            <a:pPr algn="l" indent="0" marL="0">
              <a:buNone/>
            </a:pPr>
            <a:r>
              <a:rPr lang="en-US" sz="1800" dirty="0">
                <a:solidFill>
                  <a:schemeClr val="accent3"/>
                </a:solidFill>
              </a:rPr>
              <a:t>A networked escalation game  |  Workshop 1</a:t>
            </a:r>
            <a:endParaRPr lang="en-US" sz="1800" dirty="0"/>
          </a:p>
          <a:p>
            <a:pPr algn="l" indent="0" marL="0">
              <a:buNone/>
            </a:pPr>
            <a:r>
              <a:rPr lang="en-US" sz="1800" dirty="0">
                <a:solidFill>
                  <a:schemeClr val="accent3"/>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Background: why we built this wargame</a:t>
            </a:r>
            <a:endParaRPr lang="en-US" sz="2800" dirty="0"/>
          </a:p>
        </p:txBody>
      </p:sp>
      <p:sp>
        <p:nvSpPr>
          <p:cNvPr id="3" name="wb4"/>
          <p:cNvSpPr/>
          <p:nvPr/>
        </p:nvSpPr>
        <p:spPr>
          <a:xfrm>
            <a:off x="548640" y="1325880"/>
            <a:ext cx="2560320" cy="73152"/>
          </a:xfrm>
          <a:prstGeom prst="rect">
            <a:avLst/>
          </a:prstGeom>
          <a:solidFill>
            <a:schemeClr val="accent1"/>
          </a:solidFill>
          <a:ln w="12700">
            <a:solidFill>
              <a:schemeClr val="accent1"/>
            </a:solidFill>
            <a:prstDash val="solid"/>
          </a:ln>
        </p:spPr>
      </p:sp>
      <p:sp>
        <p:nvSpPr>
          <p:cNvPr id="4" name="t5"/>
          <p:cNvSpPr txBox="1"/>
          <p:nvPr/>
        </p:nvSpPr>
        <p:spPr>
          <a:xfrm>
            <a:off x="54864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The competition</a:t>
            </a:r>
            <a:endParaRPr lang="en-US" sz="1800" dirty="0"/>
          </a:p>
        </p:txBody>
      </p:sp>
      <p:sp>
        <p:nvSpPr>
          <p:cNvPr id="5" name="t6"/>
          <p:cNvSpPr txBox="1"/>
          <p:nvPr/>
        </p:nvSpPr>
        <p:spPr>
          <a:xfrm>
            <a:off x="54864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China presses its claims with persistent coast guard and militia presence backed by navy ships, while avoiding a conventional military response. The U.S. answers with routine presence and freedom-of-navigation patrols. Incidents, not shots, drive escalation.</a:t>
            </a:r>
            <a:endParaRPr lang="en-US" sz="1500" dirty="0"/>
          </a:p>
        </p:txBody>
      </p:sp>
      <p:sp>
        <p:nvSpPr>
          <p:cNvPr id="6" name="wb7"/>
          <p:cNvSpPr/>
          <p:nvPr/>
        </p:nvSpPr>
        <p:spPr>
          <a:xfrm>
            <a:off x="3337560" y="1325880"/>
            <a:ext cx="2560320" cy="73152"/>
          </a:xfrm>
          <a:prstGeom prst="rect">
            <a:avLst/>
          </a:prstGeom>
          <a:solidFill>
            <a:schemeClr val="accent1"/>
          </a:solidFill>
          <a:ln w="12700">
            <a:solidFill>
              <a:schemeClr val="accent1"/>
            </a:solidFill>
            <a:prstDash val="solid"/>
          </a:ln>
        </p:spPr>
      </p:sp>
      <p:sp>
        <p:nvSpPr>
          <p:cNvPr id="7" name="t8"/>
          <p:cNvSpPr txBox="1"/>
          <p:nvPr/>
        </p:nvSpPr>
        <p:spPr>
          <a:xfrm>
            <a:off x="333756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Why it is hard to study</a:t>
            </a:r>
            <a:endParaRPr lang="en-US" sz="1800" dirty="0"/>
          </a:p>
        </p:txBody>
      </p:sp>
      <p:sp>
        <p:nvSpPr>
          <p:cNvPr id="8" name="t9"/>
          <p:cNvSpPr txBox="1"/>
          <p:nvPr/>
        </p:nvSpPr>
        <p:spPr>
          <a:xfrm>
            <a:off x="333756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Each side's best move depends on the other's, and the risk of war is shared. Real encounters cannot be rerun or varied on purpose. A wargame lets us test strategies and force designs without real risk.</a:t>
            </a:r>
            <a:endParaRPr lang="en-US" sz="1500" dirty="0"/>
          </a:p>
        </p:txBody>
      </p:sp>
      <p:sp>
        <p:nvSpPr>
          <p:cNvPr id="9" name="wb10"/>
          <p:cNvSpPr/>
          <p:nvPr/>
        </p:nvSpPr>
        <p:spPr>
          <a:xfrm>
            <a:off x="6126480" y="1325880"/>
            <a:ext cx="2560320" cy="73152"/>
          </a:xfrm>
          <a:prstGeom prst="rect">
            <a:avLst/>
          </a:prstGeom>
          <a:solidFill>
            <a:schemeClr val="accent1"/>
          </a:solidFill>
          <a:ln w="12700">
            <a:solidFill>
              <a:schemeClr val="accent1"/>
            </a:solidFill>
            <a:prstDash val="solid"/>
          </a:ln>
        </p:spPr>
      </p:sp>
      <p:sp>
        <p:nvSpPr>
          <p:cNvPr id="10" name="t11"/>
          <p:cNvSpPr txBox="1"/>
          <p:nvPr/>
        </p:nvSpPr>
        <p:spPr>
          <a:xfrm>
            <a:off x="612648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models exist</a:t>
            </a:r>
            <a:endParaRPr lang="en-US" sz="1800" dirty="0"/>
          </a:p>
        </p:txBody>
      </p:sp>
      <p:sp>
        <p:nvSpPr>
          <p:cNvPr id="11" name="t12"/>
          <p:cNvSpPr txBox="1"/>
          <p:nvPr/>
        </p:nvSpPr>
        <p:spPr>
          <a:xfrm>
            <a:off x="612648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A structured gray-zone game with probabilistic adjudication (Wasser 2019). Randomized Coast Guard patrols (Shieh 2012). Zero-sum network interdiction (Washburn 1995). Escalation as a shared risk (Schelling 1966).</a:t>
            </a:r>
            <a:endParaRPr lang="en-US" sz="1500" dirty="0"/>
          </a:p>
        </p:txBody>
      </p:sp>
      <p:sp>
        <p:nvSpPr>
          <p:cNvPr id="12" name="wb13"/>
          <p:cNvSpPr/>
          <p:nvPr/>
        </p:nvSpPr>
        <p:spPr>
          <a:xfrm>
            <a:off x="8915400" y="1325880"/>
            <a:ext cx="2560320" cy="73152"/>
          </a:xfrm>
          <a:prstGeom prst="rect">
            <a:avLst/>
          </a:prstGeom>
          <a:solidFill>
            <a:schemeClr val="accent2"/>
          </a:solidFill>
          <a:ln w="12700">
            <a:solidFill>
              <a:schemeClr val="accent2"/>
            </a:solidFill>
            <a:prstDash val="solid"/>
          </a:ln>
        </p:spPr>
      </p:sp>
      <p:sp>
        <p:nvSpPr>
          <p:cNvPr id="13" name="t14"/>
          <p:cNvSpPr txBox="1"/>
          <p:nvPr/>
        </p:nvSpPr>
        <p:spPr>
          <a:xfrm>
            <a:off x="891540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we add</a:t>
            </a:r>
            <a:endParaRPr lang="en-US" sz="1800" dirty="0"/>
          </a:p>
        </p:txBody>
      </p:sp>
      <p:sp>
        <p:nvSpPr>
          <p:cNvPr id="14" name="t15"/>
          <p:cNvSpPr txBox="1"/>
          <p:nvPr/>
        </p:nvSpPr>
        <p:spPr>
          <a:xfrm>
            <a:off x="891540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Maritime allocation, evolving control and shared escalation risk in one general-sum game. The rules are computational, so we can compare strategies and designs across thousands of games.</a:t>
            </a:r>
            <a:endParaRPr lang="en-US" sz="1500" dirty="0"/>
          </a:p>
        </p:txBody>
      </p:sp>
      <p:sp>
        <p:nvSpPr>
          <p:cNvPr id="15" name="tk16"/>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6" name="t17"/>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existing model captures part of this contest. Our game combines them and runs thousands of times.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8" descr="/Users/seanbowman/Documents/MIT/Fall26/6.s974/repo/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19"/>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20"/>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21"/>
          <p:cNvSpPr/>
          <p:nvPr/>
        </p:nvSpPr>
        <p:spPr>
          <a:xfrm>
            <a:off x="548640" y="1325880"/>
            <a:ext cx="731520" cy="731520"/>
          </a:xfrm>
          <a:prstGeom prst="ellipse">
            <a:avLst/>
          </a:prstGeom>
          <a:solidFill>
            <a:schemeClr val="accent1"/>
          </a:solidFill>
          <a:ln/>
        </p:spPr>
      </p:sp>
      <p:sp>
        <p:nvSpPr>
          <p:cNvPr id="4" name="t2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23"/>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24"/>
          <p:cNvSpPr/>
          <p:nvPr/>
        </p:nvSpPr>
        <p:spPr>
          <a:xfrm>
            <a:off x="548640" y="2788920"/>
            <a:ext cx="731520" cy="731520"/>
          </a:xfrm>
          <a:prstGeom prst="ellipse">
            <a:avLst/>
          </a:prstGeom>
          <a:solidFill>
            <a:schemeClr val="accent1"/>
          </a:solidFill>
          <a:ln/>
        </p:spPr>
      </p:sp>
      <p:sp>
        <p:nvSpPr>
          <p:cNvPr id="7" name="t25"/>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26"/>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a side that plans with game theory (best responses, equilibrium or maximin plans) do better than one that follows simple rules or moves at random? Can both sides keep patrolling over many periods because asserting once would end the truce and push both into riskier play from then on?</a:t>
            </a:r>
            <a:endParaRPr lang="en-US" sz="1600" dirty="0"/>
          </a:p>
        </p:txBody>
      </p:sp>
      <p:sp>
        <p:nvSpPr>
          <p:cNvPr id="9" name="c27"/>
          <p:cNvSpPr/>
          <p:nvPr/>
        </p:nvSpPr>
        <p:spPr>
          <a:xfrm>
            <a:off x="548640" y="4251960"/>
            <a:ext cx="731520" cy="731520"/>
          </a:xfrm>
          <a:prstGeom prst="ellipse">
            <a:avLst/>
          </a:prstGeom>
          <a:solidFill>
            <a:schemeClr val="accent1"/>
          </a:solidFill>
          <a:ln/>
        </p:spPr>
      </p:sp>
      <p:sp>
        <p:nvSpPr>
          <p:cNvPr id="10" name="t28"/>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29"/>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5"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31"/>
          <p:cNvSpPr/>
          <p:nvPr/>
        </p:nvSpPr>
        <p:spPr>
          <a:xfrm>
            <a:off x="548640" y="1280160"/>
            <a:ext cx="457200" cy="457200"/>
          </a:xfrm>
          <a:prstGeom prst="ellipse">
            <a:avLst/>
          </a:prstGeom>
          <a:solidFill>
            <a:schemeClr val="accent4"/>
          </a:solidFill>
          <a:ln/>
        </p:spPr>
      </p:sp>
      <p:sp>
        <p:nvSpPr>
          <p:cNvPr id="4" name="t32"/>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33"/>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34"/>
          <p:cNvSpPr/>
          <p:nvPr/>
        </p:nvSpPr>
        <p:spPr>
          <a:xfrm>
            <a:off x="548640" y="1883664"/>
            <a:ext cx="457200" cy="457200"/>
          </a:xfrm>
          <a:prstGeom prst="ellipse">
            <a:avLst/>
          </a:prstGeom>
          <a:solidFill>
            <a:schemeClr val="accent1"/>
          </a:solidFill>
          <a:ln/>
        </p:spPr>
      </p:sp>
      <p:sp>
        <p:nvSpPr>
          <p:cNvPr id="7" name="t35"/>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36"/>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37"/>
          <p:cNvSpPr/>
          <p:nvPr/>
        </p:nvSpPr>
        <p:spPr>
          <a:xfrm>
            <a:off x="548640" y="2487168"/>
            <a:ext cx="457200" cy="457200"/>
          </a:xfrm>
          <a:prstGeom prst="ellipse">
            <a:avLst/>
          </a:prstGeom>
          <a:solidFill>
            <a:schemeClr val="accent1"/>
          </a:solidFill>
          <a:ln/>
        </p:spPr>
      </p:sp>
      <p:sp>
        <p:nvSpPr>
          <p:cNvPr id="10" name="t38"/>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39"/>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40"/>
          <p:cNvSpPr/>
          <p:nvPr/>
        </p:nvSpPr>
        <p:spPr>
          <a:xfrm>
            <a:off x="548640" y="3090672"/>
            <a:ext cx="457200" cy="457200"/>
          </a:xfrm>
          <a:prstGeom prst="ellipse">
            <a:avLst/>
          </a:prstGeom>
          <a:solidFill>
            <a:schemeClr val="accent1"/>
          </a:solidFill>
          <a:ln/>
        </p:spPr>
      </p:sp>
      <p:sp>
        <p:nvSpPr>
          <p:cNvPr id="13" name="t41"/>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42"/>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43"/>
          <p:cNvSpPr/>
          <p:nvPr/>
        </p:nvSpPr>
        <p:spPr>
          <a:xfrm>
            <a:off x="548640" y="3694176"/>
            <a:ext cx="457200" cy="457200"/>
          </a:xfrm>
          <a:prstGeom prst="ellipse">
            <a:avLst/>
          </a:prstGeom>
          <a:solidFill>
            <a:schemeClr val="accent1"/>
          </a:solidFill>
          <a:ln/>
        </p:spPr>
      </p:sp>
      <p:sp>
        <p:nvSpPr>
          <p:cNvPr id="16" name="t44"/>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45"/>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46"/>
          <p:cNvSpPr/>
          <p:nvPr/>
        </p:nvSpPr>
        <p:spPr>
          <a:xfrm>
            <a:off x="548640" y="4297680"/>
            <a:ext cx="457200" cy="457200"/>
          </a:xfrm>
          <a:prstGeom prst="ellipse">
            <a:avLst/>
          </a:prstGeom>
          <a:solidFill>
            <a:schemeClr val="accent2"/>
          </a:solidFill>
          <a:ln/>
        </p:spPr>
      </p:sp>
      <p:sp>
        <p:nvSpPr>
          <p:cNvPr id="19" name="t47"/>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48"/>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49"/>
          <p:cNvSpPr/>
          <p:nvPr/>
        </p:nvSpPr>
        <p:spPr>
          <a:xfrm>
            <a:off x="548640" y="4901184"/>
            <a:ext cx="457200" cy="457200"/>
          </a:xfrm>
          <a:prstGeom prst="ellipse">
            <a:avLst/>
          </a:prstGeom>
          <a:solidFill>
            <a:schemeClr val="accent1"/>
          </a:solidFill>
          <a:ln/>
        </p:spPr>
      </p:sp>
      <p:sp>
        <p:nvSpPr>
          <p:cNvPr id="22" name="t50"/>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51"/>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53"/>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56"/>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57"/>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58"/>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59"/>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60"/>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61"/>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62"/>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63"/>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64"/>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65"/>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66"/>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67"/>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68"/>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69"/>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70"/>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71"/>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72"/>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8"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bl>
          </a:graphicData>
        </a:graphic>
      </p:graphicFrame>
      <p:sp>
        <p:nvSpPr>
          <p:cNvPr id="4" name="t74"/>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75"/>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 and payoffs (−1.30, −6.02).</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76"/>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77"/>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78" descr="/Users/seanbowman/Documents/MIT/Fall26/6.s974/repo/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79"/>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rgbClr val="E8A33D"/>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80" descr="/Users/seanbowman/Documents/MIT/Fall26/6.s974/repo/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10"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5" name="t82"/>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Each side picks ε. Payoffs (Blue, Red) and war rate. Gold bold = the only equilibrium.</a:t>
            </a:r>
            <a:endParaRPr lang="en-US" sz="1200" dirty="0"/>
          </a:p>
        </p:txBody>
      </p:sp>
      <p:sp>
        <p:nvSpPr>
          <p:cNvPr id="6" name="t83"/>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8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8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choose aggressive (−151, 39), yet both do better at moderate (−144, 101).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87"/>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88" descr="/Users/seanbowman/Documents/MIT/Fall26/6.s974/repo/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89"/>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91"/>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92"/>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93"/>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94"/>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95"/>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96"/>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97"/>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98"/>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99"/>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p100"/>
          <p:cNvSpPr/>
          <p:nvPr/>
        </p:nvSpPr>
        <p:spPr>
          <a:xfrm>
            <a:off x="731520" y="1691640"/>
            <a:ext cx="457200" cy="457200"/>
          </a:xfrm>
          <a:prstGeom prst="ellipse">
            <a:avLst/>
          </a:prstGeom>
          <a:solidFill>
            <a:schemeClr val="accent1"/>
          </a:solidFill>
          <a:ln/>
        </p:spPr>
      </p:sp>
      <p:sp>
        <p:nvSpPr>
          <p:cNvPr id="4" name="t101"/>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Model</a:t>
            </a:r>
            <a:endParaRPr lang="en-US" sz="1600" dirty="0"/>
          </a:p>
        </p:txBody>
      </p:sp>
      <p:sp>
        <p:nvSpPr>
          <p:cNvPr id="5" name="t102"/>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weather, budget</a:t>
            </a:r>
            <a:endParaRPr lang="en-US" sz="1800" dirty="0"/>
          </a:p>
        </p:txBody>
      </p:sp>
      <p:sp>
        <p:nvSpPr>
          <p:cNvPr id="6" name="t103"/>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and multi-period best response. Sensitivity analysis on V, h, W and μ. Calendar-based weather from real data. Reformulate the movement budget Fᵢ with considerations for oilers.</a:t>
            </a:r>
            <a:endParaRPr lang="en-US" sz="1500" dirty="0"/>
          </a:p>
        </p:txBody>
      </p:sp>
      <p:sp>
        <p:nvSpPr>
          <p:cNvPr id="7" name="tp104"/>
          <p:cNvSpPr/>
          <p:nvPr/>
        </p:nvSpPr>
        <p:spPr>
          <a:xfrm>
            <a:off x="3520440" y="1691640"/>
            <a:ext cx="457200" cy="457200"/>
          </a:xfrm>
          <a:prstGeom prst="ellipse">
            <a:avLst/>
          </a:prstGeom>
          <a:solidFill>
            <a:schemeClr val="accent1"/>
          </a:solidFill>
          <a:ln/>
        </p:spPr>
      </p:sp>
      <p:sp>
        <p:nvSpPr>
          <p:cNvPr id="8" name="t105"/>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Learning</a:t>
            </a:r>
            <a:endParaRPr lang="en-US" sz="1600" dirty="0"/>
          </a:p>
        </p:txBody>
      </p:sp>
      <p:sp>
        <p:nvSpPr>
          <p:cNvPr id="9" name="t106"/>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 agents</a:t>
            </a:r>
            <a:endParaRPr lang="en-US" sz="1800" dirty="0"/>
          </a:p>
        </p:txBody>
      </p:sp>
      <p:sp>
        <p:nvSpPr>
          <p:cNvPr id="10" name="t107"/>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A Red agent that learns from repeated play, and other learning methods. Do they converge, drift toward restraint, and exploit rule-based Blue?</a:t>
            </a:r>
            <a:endParaRPr lang="en-US" sz="1500" dirty="0"/>
          </a:p>
        </p:txBody>
      </p:sp>
      <p:sp>
        <p:nvSpPr>
          <p:cNvPr id="11" name="tp108"/>
          <p:cNvSpPr/>
          <p:nvPr/>
        </p:nvSpPr>
        <p:spPr>
          <a:xfrm>
            <a:off x="6309360" y="1691640"/>
            <a:ext cx="457200" cy="457200"/>
          </a:xfrm>
          <a:prstGeom prst="ellipse">
            <a:avLst/>
          </a:prstGeom>
          <a:solidFill>
            <a:schemeClr val="accent1"/>
          </a:solidFill>
          <a:ln/>
        </p:spPr>
      </p:sp>
      <p:sp>
        <p:nvSpPr>
          <p:cNvPr id="12" name="t109"/>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Attacks</a:t>
            </a:r>
            <a:endParaRPr lang="en-US" sz="1600" dirty="0"/>
          </a:p>
        </p:txBody>
      </p:sp>
      <p:sp>
        <p:nvSpPr>
          <p:cNvPr id="13" name="t110"/>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Attacks and defenses</a:t>
            </a:r>
            <a:endParaRPr lang="en-US" sz="1800" dirty="0"/>
          </a:p>
        </p:txBody>
      </p:sp>
      <p:sp>
        <p:nvSpPr>
          <p:cNvPr id="14" name="t111"/>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Coast guard blockade at SCB and STS, jamming that halves Blue's detection in one region, and false contacts. A Red attacker that reacts to Blue's posture. Randomized patrols, D1 and D2 as defenses.</a:t>
            </a:r>
            <a:endParaRPr lang="en-US" sz="1500" dirty="0"/>
          </a:p>
        </p:txBody>
      </p:sp>
      <p:sp>
        <p:nvSpPr>
          <p:cNvPr id="15" name="tp112"/>
          <p:cNvSpPr/>
          <p:nvPr/>
        </p:nvSpPr>
        <p:spPr>
          <a:xfrm>
            <a:off x="9098280" y="1691640"/>
            <a:ext cx="457200" cy="457200"/>
          </a:xfrm>
          <a:prstGeom prst="ellipse">
            <a:avLst/>
          </a:prstGeom>
          <a:solidFill>
            <a:schemeClr val="accent1"/>
          </a:solidFill>
          <a:ln/>
        </p:spPr>
      </p:sp>
      <p:sp>
        <p:nvSpPr>
          <p:cNvPr id="16" name="t113"/>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Designs</a:t>
            </a:r>
            <a:endParaRPr lang="en-US" sz="1600" dirty="0"/>
          </a:p>
        </p:txBody>
      </p:sp>
      <p:sp>
        <p:nvSpPr>
          <p:cNvPr id="17" name="t114"/>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Resilient designs</a:t>
            </a:r>
            <a:endParaRPr lang="en-US" sz="1800" dirty="0"/>
          </a:p>
        </p:txBody>
      </p:sp>
      <p:sp>
        <p:nvSpPr>
          <p:cNvPr id="18" name="t115"/>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D0 to D3 and combinations under attack and a long typhoon. A cost for D3.</a:t>
            </a:r>
            <a:endParaRPr lang="en-US" sz="1500" dirty="0"/>
          </a:p>
        </p:txBody>
      </p:sp>
      <p:sp>
        <p:nvSpPr>
          <p:cNvPr id="19" name="tk116"/>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0" name="t117"/>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Workshop 2 adds better beliefs and weather, learning agents, attacks and defenses, and costed designs.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Navy and Gold">
      <a:dk1>
        <a:srgbClr val="1A2233"/>
      </a:dk1>
      <a:lt1>
        <a:srgbClr val="FFFFFF"/>
      </a:lt1>
      <a:dk2>
        <a:srgbClr val="0B1F3A"/>
      </a:dk2>
      <a:lt2>
        <a:srgbClr val="F6F1E2"/>
      </a:lt2>
      <a:accent1>
        <a:srgbClr val="1D3E72"/>
      </a:accent1>
      <a:accent2>
        <a:srgbClr val="A97C14"/>
      </a:accent2>
      <a:accent3>
        <a:srgbClr val="D4AF37"/>
      </a:accent3>
      <a:accent4>
        <a:srgbClr val="B8901E"/>
      </a:accent4>
      <a:accent5>
        <a:srgbClr val="5E6B7D"/>
      </a:accent5>
      <a:accent6>
        <a:srgbClr val="A9B8CC"/>
      </a:accent6>
      <a:hlink>
        <a:srgbClr val="1D3E72"/>
      </a:hlink>
      <a:folHlink>
        <a:srgbClr val="5E6B7D"/>
      </a:folHlink>
    </a:clrScheme>
    <a:fontScheme name="Office">
      <a:majorFont>
        <a:latin typeface="Franklin Gothic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2026-10-27T03:00:21Z</dcterms:created>
  <dcterms:modified xsi:type="dcterms:W3CDTF">2026-10-27T03:00:21Z</dcterms:modified>
</cp:coreProperties>
</file>